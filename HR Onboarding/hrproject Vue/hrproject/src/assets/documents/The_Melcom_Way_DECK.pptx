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7" r:id="rId3"/>
    <p:sldId id="302" r:id="rId4"/>
    <p:sldId id="308" r:id="rId5"/>
    <p:sldId id="309" r:id="rId6"/>
    <p:sldId id="290" r:id="rId7"/>
    <p:sldId id="304" r:id="rId8"/>
    <p:sldId id="293" r:id="rId9"/>
    <p:sldId id="258" r:id="rId10"/>
    <p:sldId id="259" r:id="rId11"/>
    <p:sldId id="260" r:id="rId12"/>
    <p:sldId id="261" r:id="rId13"/>
    <p:sldId id="278" r:id="rId14"/>
    <p:sldId id="310" r:id="rId15"/>
    <p:sldId id="264" r:id="rId16"/>
    <p:sldId id="296" r:id="rId17"/>
    <p:sldId id="265" r:id="rId18"/>
    <p:sldId id="298" r:id="rId19"/>
    <p:sldId id="311" r:id="rId20"/>
    <p:sldId id="267" r:id="rId21"/>
    <p:sldId id="299"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FF7F15-2256-ACAC-919F-36D0A7E2D02F}" v="339" dt="2025-04-22T11:49:29.009"/>
    <p1510:client id="{A5A5AA4A-4314-A7B7-96D1-720D40B9C45D}" v="37" dt="2025-04-22T11:10:00.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4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9ADB11-2B7F-430D-A69C-9BFC13C4E70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494FBF2-6ACB-4961-9925-29323C02D865}">
      <dgm:prSet custT="1"/>
      <dgm:spPr/>
      <dgm:t>
        <a:bodyPr/>
        <a:lstStyle/>
        <a:p>
          <a:pPr>
            <a:lnSpc>
              <a:spcPct val="100000"/>
            </a:lnSpc>
          </a:pPr>
          <a:r>
            <a:rPr lang="en-US" sz="1200" b="1" i="1" dirty="0">
              <a:latin typeface="+mj-lt"/>
            </a:rPr>
            <a:t>36 years of Retail experience in Ghana </a:t>
          </a:r>
          <a:r>
            <a:rPr lang="en-US" sz="1200" dirty="0">
              <a:latin typeface="+mj-lt"/>
            </a:rPr>
            <a:t>– “The </a:t>
          </a:r>
          <a:r>
            <a:rPr lang="en-US" sz="1200" dirty="0" err="1">
              <a:latin typeface="+mj-lt"/>
            </a:rPr>
            <a:t>largestorganized</a:t>
          </a:r>
          <a:r>
            <a:rPr lang="en-US" sz="1200" dirty="0">
              <a:latin typeface="+mj-lt"/>
            </a:rPr>
            <a:t> home grown retail entity”, Truly where GHANASHOPS.</a:t>
          </a:r>
        </a:p>
      </dgm:t>
    </dgm:pt>
    <dgm:pt modelId="{A8C56DF9-FD2D-4889-8885-7FE79A23C7B1}" type="parTrans" cxnId="{8E6CDF1A-C501-4F7B-B009-F0B51490BCFB}">
      <dgm:prSet/>
      <dgm:spPr/>
      <dgm:t>
        <a:bodyPr/>
        <a:lstStyle/>
        <a:p>
          <a:endParaRPr lang="en-US"/>
        </a:p>
      </dgm:t>
    </dgm:pt>
    <dgm:pt modelId="{CF1CB63B-8A7D-4BE4-A4D5-CF1C94CAD92C}" type="sibTrans" cxnId="{8E6CDF1A-C501-4F7B-B009-F0B51490BCFB}">
      <dgm:prSet/>
      <dgm:spPr/>
      <dgm:t>
        <a:bodyPr/>
        <a:lstStyle/>
        <a:p>
          <a:endParaRPr lang="en-US"/>
        </a:p>
      </dgm:t>
    </dgm:pt>
    <dgm:pt modelId="{95C968FD-D381-41A7-8AB2-7E30C1001695}">
      <dgm:prSet custT="1"/>
      <dgm:spPr/>
      <dgm:t>
        <a:bodyPr/>
        <a:lstStyle/>
        <a:p>
          <a:pPr>
            <a:lnSpc>
              <a:spcPct val="100000"/>
            </a:lnSpc>
          </a:pPr>
          <a:r>
            <a:rPr lang="en-US" sz="1200" b="1" i="1" dirty="0">
              <a:latin typeface="+mj-lt"/>
            </a:rPr>
            <a:t>We know the customers </a:t>
          </a:r>
          <a:r>
            <a:rPr lang="en-US" sz="1200" i="1" dirty="0">
              <a:latin typeface="+mj-lt"/>
            </a:rPr>
            <a:t>better </a:t>
          </a:r>
          <a:r>
            <a:rPr lang="en-US" sz="1200" dirty="0">
              <a:latin typeface="+mj-lt"/>
            </a:rPr>
            <a:t>than anyone else does.</a:t>
          </a:r>
        </a:p>
      </dgm:t>
    </dgm:pt>
    <dgm:pt modelId="{8D4CA1BB-8B6A-41B7-AAB9-73BC2F76B4C0}" type="parTrans" cxnId="{29A8381A-3101-4827-A0E0-924317ED6004}">
      <dgm:prSet/>
      <dgm:spPr/>
      <dgm:t>
        <a:bodyPr/>
        <a:lstStyle/>
        <a:p>
          <a:endParaRPr lang="en-US"/>
        </a:p>
      </dgm:t>
    </dgm:pt>
    <dgm:pt modelId="{8E8E5785-564F-4787-8FA2-67B0319E6C84}" type="sibTrans" cxnId="{29A8381A-3101-4827-A0E0-924317ED6004}">
      <dgm:prSet/>
      <dgm:spPr/>
      <dgm:t>
        <a:bodyPr/>
        <a:lstStyle/>
        <a:p>
          <a:endParaRPr lang="en-US"/>
        </a:p>
      </dgm:t>
    </dgm:pt>
    <dgm:pt modelId="{69EA0E87-6E37-4679-B16A-1EB760AF52AD}">
      <dgm:prSet custT="1"/>
      <dgm:spPr/>
      <dgm:t>
        <a:bodyPr/>
        <a:lstStyle/>
        <a:p>
          <a:pPr>
            <a:lnSpc>
              <a:spcPct val="100000"/>
            </a:lnSpc>
          </a:pPr>
          <a:r>
            <a:rPr lang="en-US" sz="1200" b="1" i="1" dirty="0">
              <a:latin typeface="+mj-lt"/>
            </a:rPr>
            <a:t>Expanse / Network </a:t>
          </a:r>
          <a:r>
            <a:rPr lang="en-US" sz="1200" dirty="0">
              <a:latin typeface="+mj-lt"/>
            </a:rPr>
            <a:t>– 80 + multi format retail stores </a:t>
          </a:r>
        </a:p>
      </dgm:t>
    </dgm:pt>
    <dgm:pt modelId="{324F4DF2-FD4F-4B41-8AF7-BB6AFD3F9CF9}" type="parTrans" cxnId="{8B7E457D-A626-41FB-BC52-E712AAF01FE9}">
      <dgm:prSet/>
      <dgm:spPr/>
      <dgm:t>
        <a:bodyPr/>
        <a:lstStyle/>
        <a:p>
          <a:endParaRPr lang="en-US"/>
        </a:p>
      </dgm:t>
    </dgm:pt>
    <dgm:pt modelId="{8F0173AD-7F1A-4DA9-9112-6F146F44AB42}" type="sibTrans" cxnId="{8B7E457D-A626-41FB-BC52-E712AAF01FE9}">
      <dgm:prSet/>
      <dgm:spPr/>
      <dgm:t>
        <a:bodyPr/>
        <a:lstStyle/>
        <a:p>
          <a:endParaRPr lang="en-US"/>
        </a:p>
      </dgm:t>
    </dgm:pt>
    <dgm:pt modelId="{EFD6DBF3-7FFF-4184-ADC5-FC623686E9A8}">
      <dgm:prSet custT="1"/>
      <dgm:spPr/>
      <dgm:t>
        <a:bodyPr/>
        <a:lstStyle/>
        <a:p>
          <a:pPr>
            <a:lnSpc>
              <a:spcPct val="100000"/>
            </a:lnSpc>
          </a:pPr>
          <a:r>
            <a:rPr lang="en-US" sz="1200" b="1" i="1" dirty="0">
              <a:latin typeface="+mj-lt"/>
            </a:rPr>
            <a:t>The Value chain </a:t>
          </a:r>
          <a:r>
            <a:rPr lang="en-US" sz="1200" dirty="0">
              <a:latin typeface="+mj-lt"/>
            </a:rPr>
            <a:t>– Sourcing , Warehousing, Logistics &amp; Sales(Retail Wholesale &amp; Online ) all under the same roof.</a:t>
          </a:r>
        </a:p>
      </dgm:t>
    </dgm:pt>
    <dgm:pt modelId="{DFF68DCA-2923-494C-BE8F-24A5A76CC177}" type="parTrans" cxnId="{0EB1C479-49AE-49F0-9924-48FC34C309B6}">
      <dgm:prSet/>
      <dgm:spPr/>
      <dgm:t>
        <a:bodyPr/>
        <a:lstStyle/>
        <a:p>
          <a:endParaRPr lang="en-US"/>
        </a:p>
      </dgm:t>
    </dgm:pt>
    <dgm:pt modelId="{17E5AF45-0871-4142-AF9F-54923675D781}" type="sibTrans" cxnId="{0EB1C479-49AE-49F0-9924-48FC34C309B6}">
      <dgm:prSet/>
      <dgm:spPr/>
      <dgm:t>
        <a:bodyPr/>
        <a:lstStyle/>
        <a:p>
          <a:endParaRPr lang="en-US"/>
        </a:p>
      </dgm:t>
    </dgm:pt>
    <dgm:pt modelId="{B412F41D-7AF4-4131-82ED-1E466080053E}">
      <dgm:prSet custT="1"/>
      <dgm:spPr/>
      <dgm:t>
        <a:bodyPr/>
        <a:lstStyle/>
        <a:p>
          <a:pPr>
            <a:lnSpc>
              <a:spcPct val="100000"/>
            </a:lnSpc>
          </a:pPr>
          <a:r>
            <a:rPr lang="en-US" sz="1200" b="1" i="1" dirty="0">
              <a:latin typeface="+mj-lt"/>
            </a:rPr>
            <a:t>Brick to Click </a:t>
          </a:r>
          <a:r>
            <a:rPr lang="en-US" sz="1200" dirty="0">
              <a:latin typeface="+mj-lt"/>
            </a:rPr>
            <a:t>– 2</a:t>
          </a:r>
          <a:r>
            <a:rPr lang="en-US" sz="1200" baseline="30000" dirty="0">
              <a:latin typeface="+mj-lt"/>
            </a:rPr>
            <a:t>ND</a:t>
          </a:r>
          <a:r>
            <a:rPr lang="en-US" sz="1200" dirty="0">
              <a:latin typeface="+mj-lt"/>
            </a:rPr>
            <a:t> largest Ecommerce platform with MAU </a:t>
          </a:r>
          <a:r>
            <a:rPr lang="en-US" sz="1200" dirty="0" err="1">
              <a:latin typeface="+mj-lt"/>
            </a:rPr>
            <a:t>inexcess</a:t>
          </a:r>
          <a:r>
            <a:rPr lang="en-US" sz="1200" dirty="0">
              <a:latin typeface="+mj-lt"/>
            </a:rPr>
            <a:t> of 200,000.</a:t>
          </a:r>
        </a:p>
      </dgm:t>
    </dgm:pt>
    <dgm:pt modelId="{D30C0188-9B7C-4C35-95F7-F320B5F28B24}" type="parTrans" cxnId="{BE149AD2-14F3-43DE-94DA-3C220770536F}">
      <dgm:prSet/>
      <dgm:spPr/>
      <dgm:t>
        <a:bodyPr/>
        <a:lstStyle/>
        <a:p>
          <a:endParaRPr lang="en-US"/>
        </a:p>
      </dgm:t>
    </dgm:pt>
    <dgm:pt modelId="{2301F72E-760A-4EF0-9FE2-03B24D419883}" type="sibTrans" cxnId="{BE149AD2-14F3-43DE-94DA-3C220770536F}">
      <dgm:prSet/>
      <dgm:spPr/>
      <dgm:t>
        <a:bodyPr/>
        <a:lstStyle/>
        <a:p>
          <a:endParaRPr lang="en-US"/>
        </a:p>
      </dgm:t>
    </dgm:pt>
    <dgm:pt modelId="{25BFB52B-EB9C-4361-841B-D783FEF2E794}">
      <dgm:prSet custT="1"/>
      <dgm:spPr/>
      <dgm:t>
        <a:bodyPr/>
        <a:lstStyle/>
        <a:p>
          <a:pPr>
            <a:lnSpc>
              <a:spcPct val="100000"/>
            </a:lnSpc>
          </a:pPr>
          <a:r>
            <a:rPr lang="en-US" sz="1200" b="1" i="1" dirty="0">
              <a:latin typeface="+mj-lt"/>
            </a:rPr>
            <a:t>Loyal Customer Base </a:t>
          </a:r>
          <a:r>
            <a:rPr lang="en-US" sz="1200" dirty="0">
              <a:latin typeface="+mj-lt"/>
            </a:rPr>
            <a:t>– The Supersaver Club - the </a:t>
          </a:r>
          <a:r>
            <a:rPr lang="en-US" sz="1200" dirty="0" err="1">
              <a:latin typeface="+mj-lt"/>
            </a:rPr>
            <a:t>largestRetail</a:t>
          </a:r>
          <a:r>
            <a:rPr lang="en-US" sz="1200" dirty="0">
              <a:latin typeface="+mj-lt"/>
            </a:rPr>
            <a:t> Loyalty program in the region with 1 million members. </a:t>
          </a:r>
        </a:p>
      </dgm:t>
    </dgm:pt>
    <dgm:pt modelId="{D1214BA6-723C-470A-B002-BC31D35429D6}" type="parTrans" cxnId="{8BA243F5-74A8-4B2B-96E6-127D9B4530E4}">
      <dgm:prSet/>
      <dgm:spPr/>
      <dgm:t>
        <a:bodyPr/>
        <a:lstStyle/>
        <a:p>
          <a:endParaRPr lang="en-US"/>
        </a:p>
      </dgm:t>
    </dgm:pt>
    <dgm:pt modelId="{AD79A223-F0BE-4B2E-92DF-FAD727FCF4A7}" type="sibTrans" cxnId="{8BA243F5-74A8-4B2B-96E6-127D9B4530E4}">
      <dgm:prSet/>
      <dgm:spPr/>
      <dgm:t>
        <a:bodyPr/>
        <a:lstStyle/>
        <a:p>
          <a:endParaRPr lang="en-US"/>
        </a:p>
      </dgm:t>
    </dgm:pt>
    <dgm:pt modelId="{556C1503-A89D-43EE-A498-DC03E1333A26}" type="pres">
      <dgm:prSet presAssocID="{649ADB11-2B7F-430D-A69C-9BFC13C4E705}" presName="root" presStyleCnt="0">
        <dgm:presLayoutVars>
          <dgm:dir/>
          <dgm:resizeHandles val="exact"/>
        </dgm:presLayoutVars>
      </dgm:prSet>
      <dgm:spPr/>
    </dgm:pt>
    <dgm:pt modelId="{F093F671-40E7-4CCA-A34C-A2EC255844A5}" type="pres">
      <dgm:prSet presAssocID="{9494FBF2-6ACB-4961-9925-29323C02D865}" presName="compNode" presStyleCnt="0"/>
      <dgm:spPr/>
    </dgm:pt>
    <dgm:pt modelId="{F5AFCF27-4261-4DB5-9C6E-EF2C52B61167}" type="pres">
      <dgm:prSet presAssocID="{9494FBF2-6ACB-4961-9925-29323C02D865}"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arm scene"/>
        </a:ext>
      </dgm:extLst>
    </dgm:pt>
    <dgm:pt modelId="{C8677646-7B3C-44B6-9258-59C2D2E1BB2B}" type="pres">
      <dgm:prSet presAssocID="{9494FBF2-6ACB-4961-9925-29323C02D865}" presName="spaceRect" presStyleCnt="0"/>
      <dgm:spPr/>
    </dgm:pt>
    <dgm:pt modelId="{8733F175-9024-4548-90C9-A47D6CAAFAC9}" type="pres">
      <dgm:prSet presAssocID="{9494FBF2-6ACB-4961-9925-29323C02D865}" presName="textRect" presStyleLbl="revTx" presStyleIdx="0" presStyleCnt="6">
        <dgm:presLayoutVars>
          <dgm:chMax val="1"/>
          <dgm:chPref val="1"/>
        </dgm:presLayoutVars>
      </dgm:prSet>
      <dgm:spPr/>
    </dgm:pt>
    <dgm:pt modelId="{4D76F143-5365-4C0D-9B48-542BAFD60F09}" type="pres">
      <dgm:prSet presAssocID="{CF1CB63B-8A7D-4BE4-A4D5-CF1C94CAD92C}" presName="sibTrans" presStyleCnt="0"/>
      <dgm:spPr/>
    </dgm:pt>
    <dgm:pt modelId="{AC41ADDF-332F-4A98-B55F-2D924E6FC7C4}" type="pres">
      <dgm:prSet presAssocID="{95C968FD-D381-41A7-8AB2-7E30C1001695}" presName="compNode" presStyleCnt="0"/>
      <dgm:spPr/>
    </dgm:pt>
    <dgm:pt modelId="{41DB5773-DFF4-4605-8B04-60DC19390204}" type="pres">
      <dgm:prSet presAssocID="{95C968FD-D381-41A7-8AB2-7E30C100169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udience"/>
        </a:ext>
      </dgm:extLst>
    </dgm:pt>
    <dgm:pt modelId="{87BFCDE7-82BD-49F9-898C-F294189D8358}" type="pres">
      <dgm:prSet presAssocID="{95C968FD-D381-41A7-8AB2-7E30C1001695}" presName="spaceRect" presStyleCnt="0"/>
      <dgm:spPr/>
    </dgm:pt>
    <dgm:pt modelId="{DB875EC6-3824-451F-B355-519305AF2B2D}" type="pres">
      <dgm:prSet presAssocID="{95C968FD-D381-41A7-8AB2-7E30C1001695}" presName="textRect" presStyleLbl="revTx" presStyleIdx="1" presStyleCnt="6">
        <dgm:presLayoutVars>
          <dgm:chMax val="1"/>
          <dgm:chPref val="1"/>
        </dgm:presLayoutVars>
      </dgm:prSet>
      <dgm:spPr/>
    </dgm:pt>
    <dgm:pt modelId="{B0E392E9-67D3-43A2-8E91-04C6D6A761C3}" type="pres">
      <dgm:prSet presAssocID="{8E8E5785-564F-4787-8FA2-67B0319E6C84}" presName="sibTrans" presStyleCnt="0"/>
      <dgm:spPr/>
    </dgm:pt>
    <dgm:pt modelId="{BAC0D66A-4FF7-42B9-B356-AB3AE3C73BF3}" type="pres">
      <dgm:prSet presAssocID="{69EA0E87-6E37-4679-B16A-1EB760AF52AD}" presName="compNode" presStyleCnt="0"/>
      <dgm:spPr/>
    </dgm:pt>
    <dgm:pt modelId="{22A40447-E374-4995-8154-850AA9BC9E84}" type="pres">
      <dgm:prSet presAssocID="{69EA0E87-6E37-4679-B16A-1EB760AF52A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nternet"/>
        </a:ext>
      </dgm:extLst>
    </dgm:pt>
    <dgm:pt modelId="{66E13A4E-5EFD-4907-B4A7-354B409FC1DD}" type="pres">
      <dgm:prSet presAssocID="{69EA0E87-6E37-4679-B16A-1EB760AF52AD}" presName="spaceRect" presStyleCnt="0"/>
      <dgm:spPr/>
    </dgm:pt>
    <dgm:pt modelId="{73E317A6-8DF3-44DA-B42A-DAC282B80D75}" type="pres">
      <dgm:prSet presAssocID="{69EA0E87-6E37-4679-B16A-1EB760AF52AD}" presName="textRect" presStyleLbl="revTx" presStyleIdx="2" presStyleCnt="6">
        <dgm:presLayoutVars>
          <dgm:chMax val="1"/>
          <dgm:chPref val="1"/>
        </dgm:presLayoutVars>
      </dgm:prSet>
      <dgm:spPr/>
    </dgm:pt>
    <dgm:pt modelId="{6DD30104-1AE7-4FEC-A724-093BF62E45C8}" type="pres">
      <dgm:prSet presAssocID="{8F0173AD-7F1A-4DA9-9112-6F146F44AB42}" presName="sibTrans" presStyleCnt="0"/>
      <dgm:spPr/>
    </dgm:pt>
    <dgm:pt modelId="{E4C35629-D60B-4612-BBCC-6DA94B57EF30}" type="pres">
      <dgm:prSet presAssocID="{EFD6DBF3-7FFF-4184-ADC5-FC623686E9A8}" presName="compNode" presStyleCnt="0"/>
      <dgm:spPr/>
    </dgm:pt>
    <dgm:pt modelId="{188C94D6-9612-4F72-A84B-662389CD803F}" type="pres">
      <dgm:prSet presAssocID="{EFD6DBF3-7FFF-4184-ADC5-FC623686E9A8}"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Japanese Dolls"/>
        </a:ext>
      </dgm:extLst>
    </dgm:pt>
    <dgm:pt modelId="{3E28F6E6-6A96-4928-A88B-2D1991EB4898}" type="pres">
      <dgm:prSet presAssocID="{EFD6DBF3-7FFF-4184-ADC5-FC623686E9A8}" presName="spaceRect" presStyleCnt="0"/>
      <dgm:spPr/>
    </dgm:pt>
    <dgm:pt modelId="{311C373F-B2F5-4D36-BCD5-998E264D60B1}" type="pres">
      <dgm:prSet presAssocID="{EFD6DBF3-7FFF-4184-ADC5-FC623686E9A8}" presName="textRect" presStyleLbl="revTx" presStyleIdx="3" presStyleCnt="6">
        <dgm:presLayoutVars>
          <dgm:chMax val="1"/>
          <dgm:chPref val="1"/>
        </dgm:presLayoutVars>
      </dgm:prSet>
      <dgm:spPr/>
    </dgm:pt>
    <dgm:pt modelId="{D9E5E46E-8DFA-4B03-963F-12DF1804A51D}" type="pres">
      <dgm:prSet presAssocID="{17E5AF45-0871-4142-AF9F-54923675D781}" presName="sibTrans" presStyleCnt="0"/>
      <dgm:spPr/>
    </dgm:pt>
    <dgm:pt modelId="{528B3093-0E4D-46F7-9EEA-1A674024D8C9}" type="pres">
      <dgm:prSet presAssocID="{B412F41D-7AF4-4131-82ED-1E466080053E}" presName="compNode" presStyleCnt="0"/>
      <dgm:spPr/>
    </dgm:pt>
    <dgm:pt modelId="{1BC2A308-DC7B-49FA-BBD6-A85FDEDE6F8D}" type="pres">
      <dgm:prSet presAssocID="{B412F41D-7AF4-4131-82ED-1E466080053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Kiosk"/>
        </a:ext>
      </dgm:extLst>
    </dgm:pt>
    <dgm:pt modelId="{97032877-877E-4E41-A150-48FE8FCB6394}" type="pres">
      <dgm:prSet presAssocID="{B412F41D-7AF4-4131-82ED-1E466080053E}" presName="spaceRect" presStyleCnt="0"/>
      <dgm:spPr/>
    </dgm:pt>
    <dgm:pt modelId="{407F6B43-9699-45FF-991E-BD92629F3755}" type="pres">
      <dgm:prSet presAssocID="{B412F41D-7AF4-4131-82ED-1E466080053E}" presName="textRect" presStyleLbl="revTx" presStyleIdx="4" presStyleCnt="6">
        <dgm:presLayoutVars>
          <dgm:chMax val="1"/>
          <dgm:chPref val="1"/>
        </dgm:presLayoutVars>
      </dgm:prSet>
      <dgm:spPr/>
    </dgm:pt>
    <dgm:pt modelId="{8198924A-9C71-489B-86EC-38FCD708FA78}" type="pres">
      <dgm:prSet presAssocID="{2301F72E-760A-4EF0-9FE2-03B24D419883}" presName="sibTrans" presStyleCnt="0"/>
      <dgm:spPr/>
    </dgm:pt>
    <dgm:pt modelId="{98389494-5DBC-40EC-BAC6-DBB14B287591}" type="pres">
      <dgm:prSet presAssocID="{25BFB52B-EB9C-4361-841B-D783FEF2E794}" presName="compNode" presStyleCnt="0"/>
      <dgm:spPr/>
    </dgm:pt>
    <dgm:pt modelId="{3D40B035-CF20-4951-B981-1C15AD1361A1}" type="pres">
      <dgm:prSet presAssocID="{25BFB52B-EB9C-4361-841B-D783FEF2E794}"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Share With Person"/>
        </a:ext>
      </dgm:extLst>
    </dgm:pt>
    <dgm:pt modelId="{687B3CF5-E2A9-4BB8-A769-6B8198AA9FB3}" type="pres">
      <dgm:prSet presAssocID="{25BFB52B-EB9C-4361-841B-D783FEF2E794}" presName="spaceRect" presStyleCnt="0"/>
      <dgm:spPr/>
    </dgm:pt>
    <dgm:pt modelId="{0D447817-DADB-4FF5-837F-D81B4A13662C}" type="pres">
      <dgm:prSet presAssocID="{25BFB52B-EB9C-4361-841B-D783FEF2E794}" presName="textRect" presStyleLbl="revTx" presStyleIdx="5" presStyleCnt="6" custLinFactNeighborX="-10149" custLinFactNeighborY="-3734">
        <dgm:presLayoutVars>
          <dgm:chMax val="1"/>
          <dgm:chPref val="1"/>
        </dgm:presLayoutVars>
      </dgm:prSet>
      <dgm:spPr/>
    </dgm:pt>
  </dgm:ptLst>
  <dgm:cxnLst>
    <dgm:cxn modelId="{17951F12-1D50-4F10-B2CC-271A3CDE8DDC}" type="presOf" srcId="{B412F41D-7AF4-4131-82ED-1E466080053E}" destId="{407F6B43-9699-45FF-991E-BD92629F3755}" srcOrd="0" destOrd="0" presId="urn:microsoft.com/office/officeart/2018/2/layout/IconLabelList"/>
    <dgm:cxn modelId="{29A8381A-3101-4827-A0E0-924317ED6004}" srcId="{649ADB11-2B7F-430D-A69C-9BFC13C4E705}" destId="{95C968FD-D381-41A7-8AB2-7E30C1001695}" srcOrd="1" destOrd="0" parTransId="{8D4CA1BB-8B6A-41B7-AAB9-73BC2F76B4C0}" sibTransId="{8E8E5785-564F-4787-8FA2-67B0319E6C84}"/>
    <dgm:cxn modelId="{8E6CDF1A-C501-4F7B-B009-F0B51490BCFB}" srcId="{649ADB11-2B7F-430D-A69C-9BFC13C4E705}" destId="{9494FBF2-6ACB-4961-9925-29323C02D865}" srcOrd="0" destOrd="0" parTransId="{A8C56DF9-FD2D-4889-8885-7FE79A23C7B1}" sibTransId="{CF1CB63B-8A7D-4BE4-A4D5-CF1C94CAD92C}"/>
    <dgm:cxn modelId="{47057A60-E2EB-48D5-822E-16BD542073F9}" type="presOf" srcId="{95C968FD-D381-41A7-8AB2-7E30C1001695}" destId="{DB875EC6-3824-451F-B355-519305AF2B2D}" srcOrd="0" destOrd="0" presId="urn:microsoft.com/office/officeart/2018/2/layout/IconLabelList"/>
    <dgm:cxn modelId="{0EB1C479-49AE-49F0-9924-48FC34C309B6}" srcId="{649ADB11-2B7F-430D-A69C-9BFC13C4E705}" destId="{EFD6DBF3-7FFF-4184-ADC5-FC623686E9A8}" srcOrd="3" destOrd="0" parTransId="{DFF68DCA-2923-494C-BE8F-24A5A76CC177}" sibTransId="{17E5AF45-0871-4142-AF9F-54923675D781}"/>
    <dgm:cxn modelId="{8B7E457D-A626-41FB-BC52-E712AAF01FE9}" srcId="{649ADB11-2B7F-430D-A69C-9BFC13C4E705}" destId="{69EA0E87-6E37-4679-B16A-1EB760AF52AD}" srcOrd="2" destOrd="0" parTransId="{324F4DF2-FD4F-4B41-8AF7-BB6AFD3F9CF9}" sibTransId="{8F0173AD-7F1A-4DA9-9112-6F146F44AB42}"/>
    <dgm:cxn modelId="{31FBDB88-1C05-404F-9963-59B354A5BEF7}" type="presOf" srcId="{EFD6DBF3-7FFF-4184-ADC5-FC623686E9A8}" destId="{311C373F-B2F5-4D36-BCD5-998E264D60B1}" srcOrd="0" destOrd="0" presId="urn:microsoft.com/office/officeart/2018/2/layout/IconLabelList"/>
    <dgm:cxn modelId="{A4736B8A-5149-4385-9CFF-9031AEAE8FE5}" type="presOf" srcId="{69EA0E87-6E37-4679-B16A-1EB760AF52AD}" destId="{73E317A6-8DF3-44DA-B42A-DAC282B80D75}" srcOrd="0" destOrd="0" presId="urn:microsoft.com/office/officeart/2018/2/layout/IconLabelList"/>
    <dgm:cxn modelId="{D166AE97-4CE4-42AC-A1C0-B4376FDBEAAB}" type="presOf" srcId="{9494FBF2-6ACB-4961-9925-29323C02D865}" destId="{8733F175-9024-4548-90C9-A47D6CAAFAC9}" srcOrd="0" destOrd="0" presId="urn:microsoft.com/office/officeart/2018/2/layout/IconLabelList"/>
    <dgm:cxn modelId="{BE149AD2-14F3-43DE-94DA-3C220770536F}" srcId="{649ADB11-2B7F-430D-A69C-9BFC13C4E705}" destId="{B412F41D-7AF4-4131-82ED-1E466080053E}" srcOrd="4" destOrd="0" parTransId="{D30C0188-9B7C-4C35-95F7-F320B5F28B24}" sibTransId="{2301F72E-760A-4EF0-9FE2-03B24D419883}"/>
    <dgm:cxn modelId="{A1507CE2-AAF1-40D3-B615-E5BA001B4D20}" type="presOf" srcId="{649ADB11-2B7F-430D-A69C-9BFC13C4E705}" destId="{556C1503-A89D-43EE-A498-DC03E1333A26}" srcOrd="0" destOrd="0" presId="urn:microsoft.com/office/officeart/2018/2/layout/IconLabelList"/>
    <dgm:cxn modelId="{EEB971EF-8244-4197-A852-BDF0BD1AC2E7}" type="presOf" srcId="{25BFB52B-EB9C-4361-841B-D783FEF2E794}" destId="{0D447817-DADB-4FF5-837F-D81B4A13662C}" srcOrd="0" destOrd="0" presId="urn:microsoft.com/office/officeart/2018/2/layout/IconLabelList"/>
    <dgm:cxn modelId="{8BA243F5-74A8-4B2B-96E6-127D9B4530E4}" srcId="{649ADB11-2B7F-430D-A69C-9BFC13C4E705}" destId="{25BFB52B-EB9C-4361-841B-D783FEF2E794}" srcOrd="5" destOrd="0" parTransId="{D1214BA6-723C-470A-B002-BC31D35429D6}" sibTransId="{AD79A223-F0BE-4B2E-92DF-FAD727FCF4A7}"/>
    <dgm:cxn modelId="{D0C4F95D-F90A-4A0C-B92B-96D5648B77CF}" type="presParOf" srcId="{556C1503-A89D-43EE-A498-DC03E1333A26}" destId="{F093F671-40E7-4CCA-A34C-A2EC255844A5}" srcOrd="0" destOrd="0" presId="urn:microsoft.com/office/officeart/2018/2/layout/IconLabelList"/>
    <dgm:cxn modelId="{2CC1D6CC-9F4A-45B8-8D72-0AA37D028AC3}" type="presParOf" srcId="{F093F671-40E7-4CCA-A34C-A2EC255844A5}" destId="{F5AFCF27-4261-4DB5-9C6E-EF2C52B61167}" srcOrd="0" destOrd="0" presId="urn:microsoft.com/office/officeart/2018/2/layout/IconLabelList"/>
    <dgm:cxn modelId="{39280C9E-D684-46BB-8ABC-7BC03178D6AE}" type="presParOf" srcId="{F093F671-40E7-4CCA-A34C-A2EC255844A5}" destId="{C8677646-7B3C-44B6-9258-59C2D2E1BB2B}" srcOrd="1" destOrd="0" presId="urn:microsoft.com/office/officeart/2018/2/layout/IconLabelList"/>
    <dgm:cxn modelId="{F48950D0-5765-421D-9886-A017452B4A8E}" type="presParOf" srcId="{F093F671-40E7-4CCA-A34C-A2EC255844A5}" destId="{8733F175-9024-4548-90C9-A47D6CAAFAC9}" srcOrd="2" destOrd="0" presId="urn:microsoft.com/office/officeart/2018/2/layout/IconLabelList"/>
    <dgm:cxn modelId="{13A06361-B2C8-4EB8-870A-BF7BA00E1BB5}" type="presParOf" srcId="{556C1503-A89D-43EE-A498-DC03E1333A26}" destId="{4D76F143-5365-4C0D-9B48-542BAFD60F09}" srcOrd="1" destOrd="0" presId="urn:microsoft.com/office/officeart/2018/2/layout/IconLabelList"/>
    <dgm:cxn modelId="{0AF5D210-AFC7-44FE-B1DC-69018A6AA451}" type="presParOf" srcId="{556C1503-A89D-43EE-A498-DC03E1333A26}" destId="{AC41ADDF-332F-4A98-B55F-2D924E6FC7C4}" srcOrd="2" destOrd="0" presId="urn:microsoft.com/office/officeart/2018/2/layout/IconLabelList"/>
    <dgm:cxn modelId="{E06C59AD-0EDE-4FF8-AF02-5811B2FE61D5}" type="presParOf" srcId="{AC41ADDF-332F-4A98-B55F-2D924E6FC7C4}" destId="{41DB5773-DFF4-4605-8B04-60DC19390204}" srcOrd="0" destOrd="0" presId="urn:microsoft.com/office/officeart/2018/2/layout/IconLabelList"/>
    <dgm:cxn modelId="{DC8D91ED-3397-48A5-A0E5-23004DB20389}" type="presParOf" srcId="{AC41ADDF-332F-4A98-B55F-2D924E6FC7C4}" destId="{87BFCDE7-82BD-49F9-898C-F294189D8358}" srcOrd="1" destOrd="0" presId="urn:microsoft.com/office/officeart/2018/2/layout/IconLabelList"/>
    <dgm:cxn modelId="{65B15531-B5F1-4171-9D2A-5B383D816359}" type="presParOf" srcId="{AC41ADDF-332F-4A98-B55F-2D924E6FC7C4}" destId="{DB875EC6-3824-451F-B355-519305AF2B2D}" srcOrd="2" destOrd="0" presId="urn:microsoft.com/office/officeart/2018/2/layout/IconLabelList"/>
    <dgm:cxn modelId="{ACF6DA2F-AD11-4E10-B4F0-2803DFAE1160}" type="presParOf" srcId="{556C1503-A89D-43EE-A498-DC03E1333A26}" destId="{B0E392E9-67D3-43A2-8E91-04C6D6A761C3}" srcOrd="3" destOrd="0" presId="urn:microsoft.com/office/officeart/2018/2/layout/IconLabelList"/>
    <dgm:cxn modelId="{2166F61B-DCEF-412C-AB26-4F8327256CCF}" type="presParOf" srcId="{556C1503-A89D-43EE-A498-DC03E1333A26}" destId="{BAC0D66A-4FF7-42B9-B356-AB3AE3C73BF3}" srcOrd="4" destOrd="0" presId="urn:microsoft.com/office/officeart/2018/2/layout/IconLabelList"/>
    <dgm:cxn modelId="{24F9C7D9-1119-47A5-B8A1-650D7D731C82}" type="presParOf" srcId="{BAC0D66A-4FF7-42B9-B356-AB3AE3C73BF3}" destId="{22A40447-E374-4995-8154-850AA9BC9E84}" srcOrd="0" destOrd="0" presId="urn:microsoft.com/office/officeart/2018/2/layout/IconLabelList"/>
    <dgm:cxn modelId="{0674DC1B-E1D1-4953-94C9-45E7DDC9A2E1}" type="presParOf" srcId="{BAC0D66A-4FF7-42B9-B356-AB3AE3C73BF3}" destId="{66E13A4E-5EFD-4907-B4A7-354B409FC1DD}" srcOrd="1" destOrd="0" presId="urn:microsoft.com/office/officeart/2018/2/layout/IconLabelList"/>
    <dgm:cxn modelId="{39905730-E68C-4634-84E7-B5392CE8FAD4}" type="presParOf" srcId="{BAC0D66A-4FF7-42B9-B356-AB3AE3C73BF3}" destId="{73E317A6-8DF3-44DA-B42A-DAC282B80D75}" srcOrd="2" destOrd="0" presId="urn:microsoft.com/office/officeart/2018/2/layout/IconLabelList"/>
    <dgm:cxn modelId="{805151EF-61C1-4290-B26B-121139BDB23C}" type="presParOf" srcId="{556C1503-A89D-43EE-A498-DC03E1333A26}" destId="{6DD30104-1AE7-4FEC-A724-093BF62E45C8}" srcOrd="5" destOrd="0" presId="urn:microsoft.com/office/officeart/2018/2/layout/IconLabelList"/>
    <dgm:cxn modelId="{C2C62198-7CBD-402B-83DD-83122EDA32C0}" type="presParOf" srcId="{556C1503-A89D-43EE-A498-DC03E1333A26}" destId="{E4C35629-D60B-4612-BBCC-6DA94B57EF30}" srcOrd="6" destOrd="0" presId="urn:microsoft.com/office/officeart/2018/2/layout/IconLabelList"/>
    <dgm:cxn modelId="{9A6ABDDC-FFD5-4922-B8BA-F876A5E46B13}" type="presParOf" srcId="{E4C35629-D60B-4612-BBCC-6DA94B57EF30}" destId="{188C94D6-9612-4F72-A84B-662389CD803F}" srcOrd="0" destOrd="0" presId="urn:microsoft.com/office/officeart/2018/2/layout/IconLabelList"/>
    <dgm:cxn modelId="{908A4DE6-4E12-4864-A497-32DC4CBD02FA}" type="presParOf" srcId="{E4C35629-D60B-4612-BBCC-6DA94B57EF30}" destId="{3E28F6E6-6A96-4928-A88B-2D1991EB4898}" srcOrd="1" destOrd="0" presId="urn:microsoft.com/office/officeart/2018/2/layout/IconLabelList"/>
    <dgm:cxn modelId="{C8BF40F9-8704-4DE2-9094-B34BBB065155}" type="presParOf" srcId="{E4C35629-D60B-4612-BBCC-6DA94B57EF30}" destId="{311C373F-B2F5-4D36-BCD5-998E264D60B1}" srcOrd="2" destOrd="0" presId="urn:microsoft.com/office/officeart/2018/2/layout/IconLabelList"/>
    <dgm:cxn modelId="{8FC888C5-12CA-40C3-95CE-45C7834F12B1}" type="presParOf" srcId="{556C1503-A89D-43EE-A498-DC03E1333A26}" destId="{D9E5E46E-8DFA-4B03-963F-12DF1804A51D}" srcOrd="7" destOrd="0" presId="urn:microsoft.com/office/officeart/2018/2/layout/IconLabelList"/>
    <dgm:cxn modelId="{F642C05B-CDB1-48CD-80A5-44DC75799D71}" type="presParOf" srcId="{556C1503-A89D-43EE-A498-DC03E1333A26}" destId="{528B3093-0E4D-46F7-9EEA-1A674024D8C9}" srcOrd="8" destOrd="0" presId="urn:microsoft.com/office/officeart/2018/2/layout/IconLabelList"/>
    <dgm:cxn modelId="{54DBA094-E1AC-4A89-8FB4-97906CA416C5}" type="presParOf" srcId="{528B3093-0E4D-46F7-9EEA-1A674024D8C9}" destId="{1BC2A308-DC7B-49FA-BBD6-A85FDEDE6F8D}" srcOrd="0" destOrd="0" presId="urn:microsoft.com/office/officeart/2018/2/layout/IconLabelList"/>
    <dgm:cxn modelId="{39AB9EE6-5FFF-4B3C-B0C3-2868CD7041BE}" type="presParOf" srcId="{528B3093-0E4D-46F7-9EEA-1A674024D8C9}" destId="{97032877-877E-4E41-A150-48FE8FCB6394}" srcOrd="1" destOrd="0" presId="urn:microsoft.com/office/officeart/2018/2/layout/IconLabelList"/>
    <dgm:cxn modelId="{7EB007C1-695C-4D1E-9CCB-EEF95F759F69}" type="presParOf" srcId="{528B3093-0E4D-46F7-9EEA-1A674024D8C9}" destId="{407F6B43-9699-45FF-991E-BD92629F3755}" srcOrd="2" destOrd="0" presId="urn:microsoft.com/office/officeart/2018/2/layout/IconLabelList"/>
    <dgm:cxn modelId="{E2675671-A182-479F-81BE-B67E765162DF}" type="presParOf" srcId="{556C1503-A89D-43EE-A498-DC03E1333A26}" destId="{8198924A-9C71-489B-86EC-38FCD708FA78}" srcOrd="9" destOrd="0" presId="urn:microsoft.com/office/officeart/2018/2/layout/IconLabelList"/>
    <dgm:cxn modelId="{90103489-0ED8-41BE-A647-308F4284B956}" type="presParOf" srcId="{556C1503-A89D-43EE-A498-DC03E1333A26}" destId="{98389494-5DBC-40EC-BAC6-DBB14B287591}" srcOrd="10" destOrd="0" presId="urn:microsoft.com/office/officeart/2018/2/layout/IconLabelList"/>
    <dgm:cxn modelId="{D0174BC7-570D-4B55-962A-44839E3089FC}" type="presParOf" srcId="{98389494-5DBC-40EC-BAC6-DBB14B287591}" destId="{3D40B035-CF20-4951-B981-1C15AD1361A1}" srcOrd="0" destOrd="0" presId="urn:microsoft.com/office/officeart/2018/2/layout/IconLabelList"/>
    <dgm:cxn modelId="{BB9F77AD-4482-4D35-8E2C-1318A9033992}" type="presParOf" srcId="{98389494-5DBC-40EC-BAC6-DBB14B287591}" destId="{687B3CF5-E2A9-4BB8-A769-6B8198AA9FB3}" srcOrd="1" destOrd="0" presId="urn:microsoft.com/office/officeart/2018/2/layout/IconLabelList"/>
    <dgm:cxn modelId="{1C32F301-A844-4D03-9CD1-6E20009CB6CF}" type="presParOf" srcId="{98389494-5DBC-40EC-BAC6-DBB14B287591}" destId="{0D447817-DADB-4FF5-837F-D81B4A13662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CE7BAF-D335-4616-A2EC-D548E7011E21}" type="doc">
      <dgm:prSet loTypeId="urn:microsoft.com/office/officeart/2005/8/layout/radial6" loCatId="cycle" qsTypeId="urn:microsoft.com/office/officeart/2005/8/quickstyle/simple5" qsCatId="simple" csTypeId="urn:microsoft.com/office/officeart/2005/8/colors/colorful2" csCatId="colorful" phldr="1"/>
      <dgm:spPr/>
      <dgm:t>
        <a:bodyPr/>
        <a:lstStyle/>
        <a:p>
          <a:endParaRPr lang="en-US"/>
        </a:p>
      </dgm:t>
    </dgm:pt>
    <dgm:pt modelId="{AE2E394E-6F2E-4B24-9462-A348AF019020}">
      <dgm:prSet phldrT="[Text]"/>
      <dgm:spPr/>
      <dgm:t>
        <a:bodyPr/>
        <a:lstStyle/>
        <a:p>
          <a:r>
            <a:rPr lang="en-US" b="1" i="1" dirty="0">
              <a:latin typeface="+mj-lt"/>
            </a:rPr>
            <a:t>Melcom Connect </a:t>
          </a:r>
        </a:p>
      </dgm:t>
    </dgm:pt>
    <dgm:pt modelId="{4D2BABE2-7638-4AA2-BAE8-B73BDDEC73DC}" type="parTrans" cxnId="{CE751126-07E3-42A5-BB37-1991D216A497}">
      <dgm:prSet/>
      <dgm:spPr/>
      <dgm:t>
        <a:bodyPr/>
        <a:lstStyle/>
        <a:p>
          <a:endParaRPr lang="en-US"/>
        </a:p>
      </dgm:t>
    </dgm:pt>
    <dgm:pt modelId="{685179B0-5D36-4364-A79E-8E765BE28401}" type="sibTrans" cxnId="{CE751126-07E3-42A5-BB37-1991D216A497}">
      <dgm:prSet/>
      <dgm:spPr/>
      <dgm:t>
        <a:bodyPr/>
        <a:lstStyle/>
        <a:p>
          <a:endParaRPr lang="en-US"/>
        </a:p>
      </dgm:t>
    </dgm:pt>
    <dgm:pt modelId="{9D3743D6-AB5C-4DB1-B513-482DA4B39A85}">
      <dgm:prSet phldrT="[Text]"/>
      <dgm:spPr/>
      <dgm:t>
        <a:bodyPr/>
        <a:lstStyle/>
        <a:p>
          <a:r>
            <a:rPr lang="en-US" dirty="0">
              <a:latin typeface="+mj-lt"/>
            </a:rPr>
            <a:t>B2B- GT</a:t>
          </a:r>
        </a:p>
      </dgm:t>
    </dgm:pt>
    <dgm:pt modelId="{98E869B2-4356-46BC-8293-3D5EC52D7CBE}" type="parTrans" cxnId="{8FB937AB-4D51-4147-970B-28615E62FEE0}">
      <dgm:prSet/>
      <dgm:spPr/>
      <dgm:t>
        <a:bodyPr/>
        <a:lstStyle/>
        <a:p>
          <a:endParaRPr lang="en-US"/>
        </a:p>
      </dgm:t>
    </dgm:pt>
    <dgm:pt modelId="{E04CEAD7-8842-46EA-9C1A-5AD54195BB85}" type="sibTrans" cxnId="{8FB937AB-4D51-4147-970B-28615E62FEE0}">
      <dgm:prSet/>
      <dgm:spPr/>
      <dgm:t>
        <a:bodyPr/>
        <a:lstStyle/>
        <a:p>
          <a:endParaRPr lang="en-US"/>
        </a:p>
      </dgm:t>
    </dgm:pt>
    <dgm:pt modelId="{606EAE40-7110-4115-9543-2A192F9B8FB1}">
      <dgm:prSet phldrT="[Text]"/>
      <dgm:spPr/>
      <dgm:t>
        <a:bodyPr/>
        <a:lstStyle/>
        <a:p>
          <a:r>
            <a:rPr lang="en-US" dirty="0">
              <a:latin typeface="+mj-lt"/>
            </a:rPr>
            <a:t>Electronic &amp; Mobile Commerce </a:t>
          </a:r>
        </a:p>
      </dgm:t>
    </dgm:pt>
    <dgm:pt modelId="{0C5FC708-9874-4FEC-A213-35A261C104AA}" type="parTrans" cxnId="{33155D54-6E96-4AC4-AF53-21C93D8848DB}">
      <dgm:prSet/>
      <dgm:spPr/>
      <dgm:t>
        <a:bodyPr/>
        <a:lstStyle/>
        <a:p>
          <a:endParaRPr lang="en-US"/>
        </a:p>
      </dgm:t>
    </dgm:pt>
    <dgm:pt modelId="{5AAB4203-A8BC-4378-B375-D822121AED5E}" type="sibTrans" cxnId="{33155D54-6E96-4AC4-AF53-21C93D8848DB}">
      <dgm:prSet/>
      <dgm:spPr/>
      <dgm:t>
        <a:bodyPr/>
        <a:lstStyle/>
        <a:p>
          <a:endParaRPr lang="en-US"/>
        </a:p>
      </dgm:t>
    </dgm:pt>
    <dgm:pt modelId="{E39DE8A4-E5A9-4D59-9D0C-52BC9FFBC91E}">
      <dgm:prSet phldrT="[Text]"/>
      <dgm:spPr/>
      <dgm:t>
        <a:bodyPr/>
        <a:lstStyle/>
        <a:p>
          <a:r>
            <a:rPr lang="en-US" dirty="0">
              <a:latin typeface="+mj-lt"/>
            </a:rPr>
            <a:t>Social Media </a:t>
          </a:r>
        </a:p>
      </dgm:t>
    </dgm:pt>
    <dgm:pt modelId="{4E4855D9-4ECA-4103-B0A0-8135CF565C36}" type="parTrans" cxnId="{6861FB2C-2293-4EB6-8784-AEAEEA40EBA3}">
      <dgm:prSet/>
      <dgm:spPr/>
      <dgm:t>
        <a:bodyPr/>
        <a:lstStyle/>
        <a:p>
          <a:endParaRPr lang="en-US"/>
        </a:p>
      </dgm:t>
    </dgm:pt>
    <dgm:pt modelId="{2F891CE7-8329-43EC-BD7D-D1204433E3F6}" type="sibTrans" cxnId="{6861FB2C-2293-4EB6-8784-AEAEEA40EBA3}">
      <dgm:prSet/>
      <dgm:spPr/>
      <dgm:t>
        <a:bodyPr/>
        <a:lstStyle/>
        <a:p>
          <a:endParaRPr lang="en-US"/>
        </a:p>
      </dgm:t>
    </dgm:pt>
    <dgm:pt modelId="{436ED9DE-7AA7-4EE1-9992-EDEDDDF2EFF2}">
      <dgm:prSet phldrT="[Text]"/>
      <dgm:spPr/>
      <dgm:t>
        <a:bodyPr/>
        <a:lstStyle/>
        <a:p>
          <a:r>
            <a:rPr lang="en-US" dirty="0">
              <a:latin typeface="+mj-lt"/>
            </a:rPr>
            <a:t>Brick &amp; Mortar</a:t>
          </a:r>
        </a:p>
      </dgm:t>
    </dgm:pt>
    <dgm:pt modelId="{44C703EA-3B18-4EE6-81C0-E3DCA3F4A096}" type="parTrans" cxnId="{135F5F9C-4480-46E1-AA94-5A4558464CB5}">
      <dgm:prSet/>
      <dgm:spPr/>
      <dgm:t>
        <a:bodyPr/>
        <a:lstStyle/>
        <a:p>
          <a:endParaRPr lang="en-US"/>
        </a:p>
      </dgm:t>
    </dgm:pt>
    <dgm:pt modelId="{3E8505CE-D471-41DC-8883-DF1BCABCDB2E}" type="sibTrans" cxnId="{135F5F9C-4480-46E1-AA94-5A4558464CB5}">
      <dgm:prSet/>
      <dgm:spPr/>
      <dgm:t>
        <a:bodyPr/>
        <a:lstStyle/>
        <a:p>
          <a:endParaRPr lang="en-US"/>
        </a:p>
      </dgm:t>
    </dgm:pt>
    <dgm:pt modelId="{2FBFD88C-A903-47EF-9642-B8DA613AD9C2}" type="pres">
      <dgm:prSet presAssocID="{0ECE7BAF-D335-4616-A2EC-D548E7011E21}" presName="Name0" presStyleCnt="0">
        <dgm:presLayoutVars>
          <dgm:chMax val="1"/>
          <dgm:dir/>
          <dgm:animLvl val="ctr"/>
          <dgm:resizeHandles val="exact"/>
        </dgm:presLayoutVars>
      </dgm:prSet>
      <dgm:spPr/>
    </dgm:pt>
    <dgm:pt modelId="{A3361DFF-22A1-4B06-A380-4C94A47FBBF1}" type="pres">
      <dgm:prSet presAssocID="{AE2E394E-6F2E-4B24-9462-A348AF019020}" presName="centerShape" presStyleLbl="node0" presStyleIdx="0" presStyleCnt="1"/>
      <dgm:spPr/>
    </dgm:pt>
    <dgm:pt modelId="{6707B033-2895-439B-B6E2-1CB81B8929B0}" type="pres">
      <dgm:prSet presAssocID="{9D3743D6-AB5C-4DB1-B513-482DA4B39A85}" presName="node" presStyleLbl="node1" presStyleIdx="0" presStyleCnt="4">
        <dgm:presLayoutVars>
          <dgm:bulletEnabled val="1"/>
        </dgm:presLayoutVars>
      </dgm:prSet>
      <dgm:spPr/>
    </dgm:pt>
    <dgm:pt modelId="{A637E7D6-EF7E-4D35-803D-A8DCC0392A0F}" type="pres">
      <dgm:prSet presAssocID="{9D3743D6-AB5C-4DB1-B513-482DA4B39A85}" presName="dummy" presStyleCnt="0"/>
      <dgm:spPr/>
    </dgm:pt>
    <dgm:pt modelId="{E3D94C57-4C81-45C3-87DD-5FF9028EF6D1}" type="pres">
      <dgm:prSet presAssocID="{E04CEAD7-8842-46EA-9C1A-5AD54195BB85}" presName="sibTrans" presStyleLbl="sibTrans2D1" presStyleIdx="0" presStyleCnt="4"/>
      <dgm:spPr/>
    </dgm:pt>
    <dgm:pt modelId="{146886DF-651B-4633-8987-CFCE96E40A4F}" type="pres">
      <dgm:prSet presAssocID="{606EAE40-7110-4115-9543-2A192F9B8FB1}" presName="node" presStyleLbl="node1" presStyleIdx="1" presStyleCnt="4">
        <dgm:presLayoutVars>
          <dgm:bulletEnabled val="1"/>
        </dgm:presLayoutVars>
      </dgm:prSet>
      <dgm:spPr/>
    </dgm:pt>
    <dgm:pt modelId="{9A5C25D2-9D44-4CA6-B015-4E907A94E053}" type="pres">
      <dgm:prSet presAssocID="{606EAE40-7110-4115-9543-2A192F9B8FB1}" presName="dummy" presStyleCnt="0"/>
      <dgm:spPr/>
    </dgm:pt>
    <dgm:pt modelId="{1029368D-808A-4698-92C1-0C1E00C64221}" type="pres">
      <dgm:prSet presAssocID="{5AAB4203-A8BC-4378-B375-D822121AED5E}" presName="sibTrans" presStyleLbl="sibTrans2D1" presStyleIdx="1" presStyleCnt="4"/>
      <dgm:spPr/>
    </dgm:pt>
    <dgm:pt modelId="{BE5225ED-B852-473A-8CEC-27C6C36E17CF}" type="pres">
      <dgm:prSet presAssocID="{E39DE8A4-E5A9-4D59-9D0C-52BC9FFBC91E}" presName="node" presStyleLbl="node1" presStyleIdx="2" presStyleCnt="4">
        <dgm:presLayoutVars>
          <dgm:bulletEnabled val="1"/>
        </dgm:presLayoutVars>
      </dgm:prSet>
      <dgm:spPr/>
    </dgm:pt>
    <dgm:pt modelId="{3B2A613B-BDC3-4048-AD2E-DB790D35DB2C}" type="pres">
      <dgm:prSet presAssocID="{E39DE8A4-E5A9-4D59-9D0C-52BC9FFBC91E}" presName="dummy" presStyleCnt="0"/>
      <dgm:spPr/>
    </dgm:pt>
    <dgm:pt modelId="{615D4CDE-2A25-4E20-B425-1BC0EC634819}" type="pres">
      <dgm:prSet presAssocID="{2F891CE7-8329-43EC-BD7D-D1204433E3F6}" presName="sibTrans" presStyleLbl="sibTrans2D1" presStyleIdx="2" presStyleCnt="4"/>
      <dgm:spPr/>
    </dgm:pt>
    <dgm:pt modelId="{E6DBD4E3-AE70-40BE-9A1E-56B5F3C4C604}" type="pres">
      <dgm:prSet presAssocID="{436ED9DE-7AA7-4EE1-9992-EDEDDDF2EFF2}" presName="node" presStyleLbl="node1" presStyleIdx="3" presStyleCnt="4">
        <dgm:presLayoutVars>
          <dgm:bulletEnabled val="1"/>
        </dgm:presLayoutVars>
      </dgm:prSet>
      <dgm:spPr/>
    </dgm:pt>
    <dgm:pt modelId="{6F96EE20-73C8-4177-A752-1419DC8CFD84}" type="pres">
      <dgm:prSet presAssocID="{436ED9DE-7AA7-4EE1-9992-EDEDDDF2EFF2}" presName="dummy" presStyleCnt="0"/>
      <dgm:spPr/>
    </dgm:pt>
    <dgm:pt modelId="{52A57102-18EF-4E09-BBDE-98998DE31DBE}" type="pres">
      <dgm:prSet presAssocID="{3E8505CE-D471-41DC-8883-DF1BCABCDB2E}" presName="sibTrans" presStyleLbl="sibTrans2D1" presStyleIdx="3" presStyleCnt="4"/>
      <dgm:spPr/>
    </dgm:pt>
  </dgm:ptLst>
  <dgm:cxnLst>
    <dgm:cxn modelId="{567EFA02-0BE5-4D01-83D8-99DB49ED2183}" type="presOf" srcId="{2F891CE7-8329-43EC-BD7D-D1204433E3F6}" destId="{615D4CDE-2A25-4E20-B425-1BC0EC634819}" srcOrd="0" destOrd="0" presId="urn:microsoft.com/office/officeart/2005/8/layout/radial6"/>
    <dgm:cxn modelId="{CE751126-07E3-42A5-BB37-1991D216A497}" srcId="{0ECE7BAF-D335-4616-A2EC-D548E7011E21}" destId="{AE2E394E-6F2E-4B24-9462-A348AF019020}" srcOrd="0" destOrd="0" parTransId="{4D2BABE2-7638-4AA2-BAE8-B73BDDEC73DC}" sibTransId="{685179B0-5D36-4364-A79E-8E765BE28401}"/>
    <dgm:cxn modelId="{6861FB2C-2293-4EB6-8784-AEAEEA40EBA3}" srcId="{AE2E394E-6F2E-4B24-9462-A348AF019020}" destId="{E39DE8A4-E5A9-4D59-9D0C-52BC9FFBC91E}" srcOrd="2" destOrd="0" parTransId="{4E4855D9-4ECA-4103-B0A0-8135CF565C36}" sibTransId="{2F891CE7-8329-43EC-BD7D-D1204433E3F6}"/>
    <dgm:cxn modelId="{F6E12834-EC8A-4298-87DE-181162B4C2ED}" type="presOf" srcId="{606EAE40-7110-4115-9543-2A192F9B8FB1}" destId="{146886DF-651B-4633-8987-CFCE96E40A4F}" srcOrd="0" destOrd="0" presId="urn:microsoft.com/office/officeart/2005/8/layout/radial6"/>
    <dgm:cxn modelId="{E05B643E-8F52-407F-9C04-CA7A6550166E}" type="presOf" srcId="{E04CEAD7-8842-46EA-9C1A-5AD54195BB85}" destId="{E3D94C57-4C81-45C3-87DD-5FF9028EF6D1}" srcOrd="0" destOrd="0" presId="urn:microsoft.com/office/officeart/2005/8/layout/radial6"/>
    <dgm:cxn modelId="{334A445D-76E0-4C36-B9A5-86E990BF96D4}" type="presOf" srcId="{5AAB4203-A8BC-4378-B375-D822121AED5E}" destId="{1029368D-808A-4698-92C1-0C1E00C64221}" srcOrd="0" destOrd="0" presId="urn:microsoft.com/office/officeart/2005/8/layout/radial6"/>
    <dgm:cxn modelId="{33155D54-6E96-4AC4-AF53-21C93D8848DB}" srcId="{AE2E394E-6F2E-4B24-9462-A348AF019020}" destId="{606EAE40-7110-4115-9543-2A192F9B8FB1}" srcOrd="1" destOrd="0" parTransId="{0C5FC708-9874-4FEC-A213-35A261C104AA}" sibTransId="{5AAB4203-A8BC-4378-B375-D822121AED5E}"/>
    <dgm:cxn modelId="{78040D7B-6E5F-492A-8124-A5326221164B}" type="presOf" srcId="{436ED9DE-7AA7-4EE1-9992-EDEDDDF2EFF2}" destId="{E6DBD4E3-AE70-40BE-9A1E-56B5F3C4C604}" srcOrd="0" destOrd="0" presId="urn:microsoft.com/office/officeart/2005/8/layout/radial6"/>
    <dgm:cxn modelId="{757EEE83-0A20-4E80-A059-2091E42C42A3}" type="presOf" srcId="{3E8505CE-D471-41DC-8883-DF1BCABCDB2E}" destId="{52A57102-18EF-4E09-BBDE-98998DE31DBE}" srcOrd="0" destOrd="0" presId="urn:microsoft.com/office/officeart/2005/8/layout/radial6"/>
    <dgm:cxn modelId="{135F5F9C-4480-46E1-AA94-5A4558464CB5}" srcId="{AE2E394E-6F2E-4B24-9462-A348AF019020}" destId="{436ED9DE-7AA7-4EE1-9992-EDEDDDF2EFF2}" srcOrd="3" destOrd="0" parTransId="{44C703EA-3B18-4EE6-81C0-E3DCA3F4A096}" sibTransId="{3E8505CE-D471-41DC-8883-DF1BCABCDB2E}"/>
    <dgm:cxn modelId="{8FABB19C-DC66-455F-9F41-A531AC18B837}" type="presOf" srcId="{E39DE8A4-E5A9-4D59-9D0C-52BC9FFBC91E}" destId="{BE5225ED-B852-473A-8CEC-27C6C36E17CF}" srcOrd="0" destOrd="0" presId="urn:microsoft.com/office/officeart/2005/8/layout/radial6"/>
    <dgm:cxn modelId="{8FB937AB-4D51-4147-970B-28615E62FEE0}" srcId="{AE2E394E-6F2E-4B24-9462-A348AF019020}" destId="{9D3743D6-AB5C-4DB1-B513-482DA4B39A85}" srcOrd="0" destOrd="0" parTransId="{98E869B2-4356-46BC-8293-3D5EC52D7CBE}" sibTransId="{E04CEAD7-8842-46EA-9C1A-5AD54195BB85}"/>
    <dgm:cxn modelId="{0C7A66C1-4395-430B-A0B1-D91AD18A676A}" type="presOf" srcId="{0ECE7BAF-D335-4616-A2EC-D548E7011E21}" destId="{2FBFD88C-A903-47EF-9642-B8DA613AD9C2}" srcOrd="0" destOrd="0" presId="urn:microsoft.com/office/officeart/2005/8/layout/radial6"/>
    <dgm:cxn modelId="{BDA2F6C3-DD3B-4B6B-9155-943C6661D2E1}" type="presOf" srcId="{9D3743D6-AB5C-4DB1-B513-482DA4B39A85}" destId="{6707B033-2895-439B-B6E2-1CB81B8929B0}" srcOrd="0" destOrd="0" presId="urn:microsoft.com/office/officeart/2005/8/layout/radial6"/>
    <dgm:cxn modelId="{6F3E2AEA-30A1-4E19-BFA1-5583BEDF479C}" type="presOf" srcId="{AE2E394E-6F2E-4B24-9462-A348AF019020}" destId="{A3361DFF-22A1-4B06-A380-4C94A47FBBF1}" srcOrd="0" destOrd="0" presId="urn:microsoft.com/office/officeart/2005/8/layout/radial6"/>
    <dgm:cxn modelId="{04376F61-6CDE-4905-B059-8B34F2BBA68F}" type="presParOf" srcId="{2FBFD88C-A903-47EF-9642-B8DA613AD9C2}" destId="{A3361DFF-22A1-4B06-A380-4C94A47FBBF1}" srcOrd="0" destOrd="0" presId="urn:microsoft.com/office/officeart/2005/8/layout/radial6"/>
    <dgm:cxn modelId="{D6BFDAF2-8D66-4B0F-AED6-FA7EB1DC9FEA}" type="presParOf" srcId="{2FBFD88C-A903-47EF-9642-B8DA613AD9C2}" destId="{6707B033-2895-439B-B6E2-1CB81B8929B0}" srcOrd="1" destOrd="0" presId="urn:microsoft.com/office/officeart/2005/8/layout/radial6"/>
    <dgm:cxn modelId="{DA9132B7-715F-4807-BC96-0DE25B3930EA}" type="presParOf" srcId="{2FBFD88C-A903-47EF-9642-B8DA613AD9C2}" destId="{A637E7D6-EF7E-4D35-803D-A8DCC0392A0F}" srcOrd="2" destOrd="0" presId="urn:microsoft.com/office/officeart/2005/8/layout/radial6"/>
    <dgm:cxn modelId="{94BF48EE-58DC-444F-884E-DF9094904CF8}" type="presParOf" srcId="{2FBFD88C-A903-47EF-9642-B8DA613AD9C2}" destId="{E3D94C57-4C81-45C3-87DD-5FF9028EF6D1}" srcOrd="3" destOrd="0" presId="urn:microsoft.com/office/officeart/2005/8/layout/radial6"/>
    <dgm:cxn modelId="{69233B7A-31B4-4825-AF6A-03FCFBD486B8}" type="presParOf" srcId="{2FBFD88C-A903-47EF-9642-B8DA613AD9C2}" destId="{146886DF-651B-4633-8987-CFCE96E40A4F}" srcOrd="4" destOrd="0" presId="urn:microsoft.com/office/officeart/2005/8/layout/radial6"/>
    <dgm:cxn modelId="{DF0222DF-D258-4FD0-BE5C-E57C039C23E2}" type="presParOf" srcId="{2FBFD88C-A903-47EF-9642-B8DA613AD9C2}" destId="{9A5C25D2-9D44-4CA6-B015-4E907A94E053}" srcOrd="5" destOrd="0" presId="urn:microsoft.com/office/officeart/2005/8/layout/radial6"/>
    <dgm:cxn modelId="{6B61A4B1-1E64-4AFC-B1BE-F54C76E5A734}" type="presParOf" srcId="{2FBFD88C-A903-47EF-9642-B8DA613AD9C2}" destId="{1029368D-808A-4698-92C1-0C1E00C64221}" srcOrd="6" destOrd="0" presId="urn:microsoft.com/office/officeart/2005/8/layout/radial6"/>
    <dgm:cxn modelId="{3B818C22-DFB8-4519-ADB2-08A96ECFAD4B}" type="presParOf" srcId="{2FBFD88C-A903-47EF-9642-B8DA613AD9C2}" destId="{BE5225ED-B852-473A-8CEC-27C6C36E17CF}" srcOrd="7" destOrd="0" presId="urn:microsoft.com/office/officeart/2005/8/layout/radial6"/>
    <dgm:cxn modelId="{627EC16A-1316-41C2-8398-45E8B6009B79}" type="presParOf" srcId="{2FBFD88C-A903-47EF-9642-B8DA613AD9C2}" destId="{3B2A613B-BDC3-4048-AD2E-DB790D35DB2C}" srcOrd="8" destOrd="0" presId="urn:microsoft.com/office/officeart/2005/8/layout/radial6"/>
    <dgm:cxn modelId="{026BC96E-BCBA-4751-BA90-F93D098C546E}" type="presParOf" srcId="{2FBFD88C-A903-47EF-9642-B8DA613AD9C2}" destId="{615D4CDE-2A25-4E20-B425-1BC0EC634819}" srcOrd="9" destOrd="0" presId="urn:microsoft.com/office/officeart/2005/8/layout/radial6"/>
    <dgm:cxn modelId="{B5E31455-B26D-4FA2-88A3-763693EEEFEB}" type="presParOf" srcId="{2FBFD88C-A903-47EF-9642-B8DA613AD9C2}" destId="{E6DBD4E3-AE70-40BE-9A1E-56B5F3C4C604}" srcOrd="10" destOrd="0" presId="urn:microsoft.com/office/officeart/2005/8/layout/radial6"/>
    <dgm:cxn modelId="{EEE33FA5-29E8-41C9-BD21-E68C4F9A8949}" type="presParOf" srcId="{2FBFD88C-A903-47EF-9642-B8DA613AD9C2}" destId="{6F96EE20-73C8-4177-A752-1419DC8CFD84}" srcOrd="11" destOrd="0" presId="urn:microsoft.com/office/officeart/2005/8/layout/radial6"/>
    <dgm:cxn modelId="{53E76484-05CB-413F-BFEB-70ABC96195EF}" type="presParOf" srcId="{2FBFD88C-A903-47EF-9642-B8DA613AD9C2}" destId="{52A57102-18EF-4E09-BBDE-98998DE31DBE}"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DC51C0-C81C-497A-8B06-B5B34AF339CC}" type="doc">
      <dgm:prSet loTypeId="urn:microsoft.com/office/officeart/2017/3/layout/DropPinTimeline" loCatId="timeline" qsTypeId="urn:microsoft.com/office/officeart/2005/8/quickstyle/simple1" qsCatId="simple" csTypeId="urn:microsoft.com/office/officeart/2005/8/colors/accent1_2" csCatId="accent1" phldr="1"/>
      <dgm:spPr/>
    </dgm:pt>
    <dgm:pt modelId="{40A5D459-E48C-411C-AA79-4BC087F110BD}">
      <dgm:prSet phldrT="[Text]" phldr="0" custT="1"/>
      <dgm:spPr/>
      <dgm:t>
        <a:bodyPr/>
        <a:lstStyle/>
        <a:p>
          <a:pPr>
            <a:defRPr b="1"/>
          </a:pPr>
          <a:r>
            <a:rPr lang="en-US" sz="1600" dirty="0">
              <a:latin typeface="+mj-lt"/>
            </a:rPr>
            <a:t> An E-Commerce platform</a:t>
          </a:r>
        </a:p>
      </dgm:t>
    </dgm:pt>
    <dgm:pt modelId="{22C7A0AE-021D-426A-9977-9040F0BA56F6}" type="parTrans" cxnId="{6BEFB9D4-5BCB-4148-B94C-8F0BDBC86C1E}">
      <dgm:prSet/>
      <dgm:spPr/>
      <dgm:t>
        <a:bodyPr/>
        <a:lstStyle/>
        <a:p>
          <a:endParaRPr lang="en-US"/>
        </a:p>
      </dgm:t>
    </dgm:pt>
    <dgm:pt modelId="{B20BEE5F-3392-40FC-9809-8F3A6B998A87}" type="sibTrans" cxnId="{6BEFB9D4-5BCB-4148-B94C-8F0BDBC86C1E}">
      <dgm:prSet/>
      <dgm:spPr/>
      <dgm:t>
        <a:bodyPr/>
        <a:lstStyle/>
        <a:p>
          <a:endParaRPr lang="en-US"/>
        </a:p>
      </dgm:t>
    </dgm:pt>
    <dgm:pt modelId="{2CE75997-778B-418B-AA7A-07230FC30D80}">
      <dgm:prSet phldr="0" custT="1"/>
      <dgm:spPr/>
      <dgm:t>
        <a:bodyPr/>
        <a:lstStyle/>
        <a:p>
          <a:pPr>
            <a:defRPr b="1"/>
          </a:pPr>
          <a:r>
            <a:rPr lang="en-US" sz="1600" dirty="0">
              <a:latin typeface="+mj-lt"/>
            </a:rPr>
            <a:t>60+ Melcom retail stores </a:t>
          </a:r>
        </a:p>
      </dgm:t>
    </dgm:pt>
    <dgm:pt modelId="{3F7FEE0A-D048-4515-BA32-B74CF25EDA6F}" type="parTrans" cxnId="{F535E8CF-6EE6-4BEC-A4F4-EE8FF425268C}">
      <dgm:prSet/>
      <dgm:spPr/>
      <dgm:t>
        <a:bodyPr/>
        <a:lstStyle/>
        <a:p>
          <a:endParaRPr lang="en-US"/>
        </a:p>
      </dgm:t>
    </dgm:pt>
    <dgm:pt modelId="{1F20BF9F-4090-48C2-92D4-BBD120836B10}" type="sibTrans" cxnId="{F535E8CF-6EE6-4BEC-A4F4-EE8FF425268C}">
      <dgm:prSet/>
      <dgm:spPr/>
      <dgm:t>
        <a:bodyPr/>
        <a:lstStyle/>
        <a:p>
          <a:endParaRPr lang="en-US"/>
        </a:p>
      </dgm:t>
    </dgm:pt>
    <dgm:pt modelId="{0E7382A7-12A5-4F2D-ACFA-C39093CB8ACC}">
      <dgm:prSet phldr="0" custT="1"/>
      <dgm:spPr/>
      <dgm:t>
        <a:bodyPr/>
        <a:lstStyle/>
        <a:p>
          <a:pPr>
            <a:defRPr b="1"/>
          </a:pPr>
          <a:r>
            <a:rPr lang="en-US" sz="1600">
              <a:latin typeface="+mj-lt"/>
            </a:rPr>
            <a:t>2 </a:t>
          </a:r>
          <a:r>
            <a:rPr lang="en-US" sz="1600" err="1">
              <a:latin typeface="+mj-lt"/>
            </a:rPr>
            <a:t>Melcom</a:t>
          </a:r>
          <a:r>
            <a:rPr lang="en-US" sz="1600">
              <a:latin typeface="+mj-lt"/>
            </a:rPr>
            <a:t> Electric stores </a:t>
          </a:r>
        </a:p>
      </dgm:t>
    </dgm:pt>
    <dgm:pt modelId="{CA14D8FD-EEDA-48D5-865E-897345D770AC}" type="parTrans" cxnId="{7EADDD39-712D-4B66-AC00-A38339D5EC65}">
      <dgm:prSet/>
      <dgm:spPr/>
      <dgm:t>
        <a:bodyPr/>
        <a:lstStyle/>
        <a:p>
          <a:endParaRPr lang="en-US"/>
        </a:p>
      </dgm:t>
    </dgm:pt>
    <dgm:pt modelId="{1B43C7B5-62FD-4FF7-9B13-41BC9725A37A}" type="sibTrans" cxnId="{7EADDD39-712D-4B66-AC00-A38339D5EC65}">
      <dgm:prSet/>
      <dgm:spPr/>
      <dgm:t>
        <a:bodyPr/>
        <a:lstStyle/>
        <a:p>
          <a:endParaRPr lang="en-US"/>
        </a:p>
      </dgm:t>
    </dgm:pt>
    <dgm:pt modelId="{813A81D8-5DD0-41DF-A4DF-63C734B194C2}">
      <dgm:prSet phldr="0" custT="1"/>
      <dgm:spPr/>
      <dgm:t>
        <a:bodyPr/>
        <a:lstStyle/>
        <a:p>
          <a:pPr>
            <a:defRPr b="1"/>
          </a:pPr>
          <a:r>
            <a:rPr lang="en-US" sz="1600" dirty="0">
              <a:latin typeface="+mj-lt"/>
            </a:rPr>
            <a:t>12 Cash &amp; Carry depots </a:t>
          </a:r>
        </a:p>
      </dgm:t>
    </dgm:pt>
    <dgm:pt modelId="{6C1FC1ED-0B85-48F4-AF3A-0098181079E9}" type="parTrans" cxnId="{7F7AA75B-E89A-4980-9ECD-72BF58A91CB8}">
      <dgm:prSet/>
      <dgm:spPr/>
      <dgm:t>
        <a:bodyPr/>
        <a:lstStyle/>
        <a:p>
          <a:endParaRPr lang="en-US"/>
        </a:p>
      </dgm:t>
    </dgm:pt>
    <dgm:pt modelId="{37F1D122-BF19-4274-A3D4-A1115AC3593C}" type="sibTrans" cxnId="{7F7AA75B-E89A-4980-9ECD-72BF58A91CB8}">
      <dgm:prSet/>
      <dgm:spPr/>
      <dgm:t>
        <a:bodyPr/>
        <a:lstStyle/>
        <a:p>
          <a:endParaRPr lang="en-US"/>
        </a:p>
      </dgm:t>
    </dgm:pt>
    <dgm:pt modelId="{F0FA9720-AB6A-4924-924E-6EA3F33AEEF2}">
      <dgm:prSet phldr="0" custT="1"/>
      <dgm:spPr/>
      <dgm:t>
        <a:bodyPr/>
        <a:lstStyle/>
        <a:p>
          <a:pPr>
            <a:defRPr b="1"/>
          </a:pPr>
          <a:r>
            <a:rPr lang="en-US" sz="1600">
              <a:latin typeface="+mj-lt"/>
            </a:rPr>
            <a:t>9 </a:t>
          </a:r>
          <a:r>
            <a:rPr lang="en-US" sz="1600" err="1">
              <a:latin typeface="+mj-lt"/>
            </a:rPr>
            <a:t>Melcom</a:t>
          </a:r>
          <a:r>
            <a:rPr lang="en-US" sz="1600">
              <a:latin typeface="+mj-lt"/>
            </a:rPr>
            <a:t> Mini (7 / 11) stores </a:t>
          </a:r>
        </a:p>
      </dgm:t>
    </dgm:pt>
    <dgm:pt modelId="{1AE1A6B4-F600-4FC8-9583-C3CB619FC3DB}" type="parTrans" cxnId="{D59899C3-E219-4D39-9922-127D0359D99A}">
      <dgm:prSet/>
      <dgm:spPr/>
      <dgm:t>
        <a:bodyPr/>
        <a:lstStyle/>
        <a:p>
          <a:endParaRPr lang="en-US"/>
        </a:p>
      </dgm:t>
    </dgm:pt>
    <dgm:pt modelId="{EF74A01A-0AF2-4172-9769-DF68D6BC7D71}" type="sibTrans" cxnId="{D59899C3-E219-4D39-9922-127D0359D99A}">
      <dgm:prSet/>
      <dgm:spPr/>
      <dgm:t>
        <a:bodyPr/>
        <a:lstStyle/>
        <a:p>
          <a:endParaRPr lang="en-US"/>
        </a:p>
      </dgm:t>
    </dgm:pt>
    <dgm:pt modelId="{5A3C8EBE-C2B5-449C-AEE4-6144819126B0}">
      <dgm:prSet phldr="0" custT="1"/>
      <dgm:spPr/>
      <dgm:t>
        <a:bodyPr/>
        <a:lstStyle/>
        <a:p>
          <a:pPr>
            <a:defRPr b="1"/>
          </a:pPr>
          <a:r>
            <a:rPr lang="en-US" sz="1600" dirty="0">
              <a:latin typeface="+mj-lt"/>
            </a:rPr>
            <a:t>5000+ employees  </a:t>
          </a:r>
        </a:p>
      </dgm:t>
    </dgm:pt>
    <dgm:pt modelId="{7772B695-B7D7-4512-A0A2-79B3CE44A15F}" type="parTrans" cxnId="{085DAC9F-D1B7-4806-B62C-23AACAB888F3}">
      <dgm:prSet/>
      <dgm:spPr/>
      <dgm:t>
        <a:bodyPr/>
        <a:lstStyle/>
        <a:p>
          <a:endParaRPr lang="en-US"/>
        </a:p>
      </dgm:t>
    </dgm:pt>
    <dgm:pt modelId="{6B774061-BF83-4168-8989-B4D323AB8376}" type="sibTrans" cxnId="{085DAC9F-D1B7-4806-B62C-23AACAB888F3}">
      <dgm:prSet/>
      <dgm:spPr/>
      <dgm:t>
        <a:bodyPr/>
        <a:lstStyle/>
        <a:p>
          <a:endParaRPr lang="en-US"/>
        </a:p>
      </dgm:t>
    </dgm:pt>
    <dgm:pt modelId="{AFE8336E-F78B-406B-AAA0-E7CDA4111A18}">
      <dgm:prSet phldr="0" custT="1"/>
      <dgm:spPr/>
      <dgm:t>
        <a:bodyPr/>
        <a:lstStyle/>
        <a:p>
          <a:pPr>
            <a:defRPr b="1"/>
          </a:pPr>
          <a:r>
            <a:rPr lang="en-US" sz="1600" dirty="0">
              <a:latin typeface="+mj-lt"/>
            </a:rPr>
            <a:t>2M+ sq ft of retail space </a:t>
          </a:r>
        </a:p>
      </dgm:t>
    </dgm:pt>
    <dgm:pt modelId="{7D3FA224-D36E-41DE-9294-52D43741D023}" type="parTrans" cxnId="{E59BD38E-B92A-49EF-9AAA-F1E25AB1AFCD}">
      <dgm:prSet/>
      <dgm:spPr/>
      <dgm:t>
        <a:bodyPr/>
        <a:lstStyle/>
        <a:p>
          <a:endParaRPr lang="en-US"/>
        </a:p>
      </dgm:t>
    </dgm:pt>
    <dgm:pt modelId="{88C78637-6E3E-448B-9767-9714A9442CB5}" type="sibTrans" cxnId="{E59BD38E-B92A-49EF-9AAA-F1E25AB1AFCD}">
      <dgm:prSet/>
      <dgm:spPr/>
      <dgm:t>
        <a:bodyPr/>
        <a:lstStyle/>
        <a:p>
          <a:endParaRPr lang="en-US"/>
        </a:p>
      </dgm:t>
    </dgm:pt>
    <dgm:pt modelId="{19E4A014-3E88-4982-950F-473BE4848751}">
      <dgm:prSet phldr="0" custT="1"/>
      <dgm:spPr/>
      <dgm:t>
        <a:bodyPr/>
        <a:lstStyle/>
        <a:p>
          <a:pPr>
            <a:defRPr b="1"/>
          </a:pPr>
          <a:r>
            <a:rPr lang="en-US" sz="1600" dirty="0">
              <a:latin typeface="+mj-lt"/>
            </a:rPr>
            <a:t>700,000 sq ft warehouse space </a:t>
          </a:r>
        </a:p>
      </dgm:t>
    </dgm:pt>
    <dgm:pt modelId="{BF7A92E9-06F4-4736-AF55-2DE5653395A7}" type="parTrans" cxnId="{3059EA4D-ED11-4BE5-84CA-535499D6F619}">
      <dgm:prSet/>
      <dgm:spPr/>
      <dgm:t>
        <a:bodyPr/>
        <a:lstStyle/>
        <a:p>
          <a:endParaRPr lang="en-US"/>
        </a:p>
      </dgm:t>
    </dgm:pt>
    <dgm:pt modelId="{6D650FAC-D22C-4A6A-9ED0-F19A595742ED}" type="sibTrans" cxnId="{3059EA4D-ED11-4BE5-84CA-535499D6F619}">
      <dgm:prSet/>
      <dgm:spPr/>
      <dgm:t>
        <a:bodyPr/>
        <a:lstStyle/>
        <a:p>
          <a:endParaRPr lang="en-US"/>
        </a:p>
      </dgm:t>
    </dgm:pt>
    <dgm:pt modelId="{02DE9D37-529F-40CE-9C75-55F624D551F4}">
      <dgm:prSet phldr="0" custT="1"/>
      <dgm:spPr/>
      <dgm:t>
        <a:bodyPr/>
        <a:lstStyle/>
        <a:p>
          <a:pPr>
            <a:defRPr b="1"/>
          </a:pPr>
          <a:r>
            <a:rPr lang="en-US" sz="1600" dirty="0">
              <a:latin typeface="+mj-lt"/>
            </a:rPr>
            <a:t> Serving 25M+ customers annually </a:t>
          </a:r>
        </a:p>
      </dgm:t>
    </dgm:pt>
    <dgm:pt modelId="{1C1E0F18-ED25-4D7F-BBF5-B6E14BCBCAB6}" type="parTrans" cxnId="{1FFA5831-14E0-47B7-94C7-EF8E88F8BBDB}">
      <dgm:prSet/>
      <dgm:spPr/>
      <dgm:t>
        <a:bodyPr/>
        <a:lstStyle/>
        <a:p>
          <a:endParaRPr lang="en-US"/>
        </a:p>
      </dgm:t>
    </dgm:pt>
    <dgm:pt modelId="{88A1084A-DDCC-4DC6-85B3-3CAB57F8F6FB}" type="sibTrans" cxnId="{1FFA5831-14E0-47B7-94C7-EF8E88F8BBDB}">
      <dgm:prSet/>
      <dgm:spPr/>
      <dgm:t>
        <a:bodyPr/>
        <a:lstStyle/>
        <a:p>
          <a:endParaRPr lang="en-US"/>
        </a:p>
      </dgm:t>
    </dgm:pt>
    <dgm:pt modelId="{CE87D8BA-9777-4E95-B346-4803B0BB1DE3}">
      <dgm:prSet phldr="0" custT="1"/>
      <dgm:spPr/>
      <dgm:t>
        <a:bodyPr/>
        <a:lstStyle/>
        <a:p>
          <a:pPr>
            <a:defRPr b="1"/>
          </a:pPr>
          <a:r>
            <a:rPr lang="en-US" sz="1600" dirty="0">
              <a:latin typeface="+mj-lt"/>
            </a:rPr>
            <a:t>4 international franchises  </a:t>
          </a:r>
        </a:p>
      </dgm:t>
    </dgm:pt>
    <dgm:pt modelId="{7A9ABD56-2DFF-40C8-94D3-FE9D6667320C}" type="parTrans" cxnId="{BED8FBCF-F12F-43C1-AED9-6748DD52030D}">
      <dgm:prSet/>
      <dgm:spPr/>
      <dgm:t>
        <a:bodyPr/>
        <a:lstStyle/>
        <a:p>
          <a:endParaRPr lang="en-US"/>
        </a:p>
      </dgm:t>
    </dgm:pt>
    <dgm:pt modelId="{2A37BCA1-9B67-485B-A511-D706FF67839F}" type="sibTrans" cxnId="{BED8FBCF-F12F-43C1-AED9-6748DD52030D}">
      <dgm:prSet/>
      <dgm:spPr/>
      <dgm:t>
        <a:bodyPr/>
        <a:lstStyle/>
        <a:p>
          <a:endParaRPr lang="en-US"/>
        </a:p>
      </dgm:t>
    </dgm:pt>
    <dgm:pt modelId="{3881BE5A-559E-410F-B11B-91A259BE39B5}">
      <dgm:prSet phldr="0" custT="1"/>
      <dgm:spPr/>
      <dgm:t>
        <a:bodyPr/>
        <a:lstStyle/>
        <a:p>
          <a:pPr>
            <a:defRPr b="1"/>
          </a:pPr>
          <a:r>
            <a:rPr lang="en-US" sz="1600">
              <a:latin typeface="+mj-lt"/>
            </a:rPr>
            <a:t> 45 Restaurants </a:t>
          </a:r>
        </a:p>
      </dgm:t>
    </dgm:pt>
    <dgm:pt modelId="{EBEA2495-C1EF-4313-96A2-E56D33DA3415}" type="parTrans" cxnId="{AFF330C2-102F-4A79-9322-5ADE7170EE57}">
      <dgm:prSet/>
      <dgm:spPr/>
      <dgm:t>
        <a:bodyPr/>
        <a:lstStyle/>
        <a:p>
          <a:endParaRPr lang="en-US"/>
        </a:p>
      </dgm:t>
    </dgm:pt>
    <dgm:pt modelId="{7568C78E-D449-492F-BDDE-148B3F3E31B1}" type="sibTrans" cxnId="{AFF330C2-102F-4A79-9322-5ADE7170EE57}">
      <dgm:prSet/>
      <dgm:spPr/>
      <dgm:t>
        <a:bodyPr/>
        <a:lstStyle/>
        <a:p>
          <a:endParaRPr lang="en-US"/>
        </a:p>
      </dgm:t>
    </dgm:pt>
    <dgm:pt modelId="{173CA8F4-2161-4BC1-BB62-34B5123D2C1E}" type="pres">
      <dgm:prSet presAssocID="{4EDC51C0-C81C-497A-8B06-B5B34AF339CC}" presName="root" presStyleCnt="0">
        <dgm:presLayoutVars>
          <dgm:chMax/>
          <dgm:chPref/>
          <dgm:animLvl val="lvl"/>
        </dgm:presLayoutVars>
      </dgm:prSet>
      <dgm:spPr/>
    </dgm:pt>
    <dgm:pt modelId="{94560901-4EF8-426A-B123-ABD2D400012D}" type="pres">
      <dgm:prSet presAssocID="{4EDC51C0-C81C-497A-8B06-B5B34AF339CC}" presName="divider" presStyleLbl="fgAcc1" presStyleIdx="0" presStyleCnt="12"/>
      <dgm:spPr>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gm:spPr>
    </dgm:pt>
    <dgm:pt modelId="{7365B8E3-0E9F-4A3B-9463-93A5E9CCCE44}" type="pres">
      <dgm:prSet presAssocID="{4EDC51C0-C81C-497A-8B06-B5B34AF339CC}" presName="nodes" presStyleCnt="0">
        <dgm:presLayoutVars>
          <dgm:chMax/>
          <dgm:chPref/>
          <dgm:animLvl val="lvl"/>
        </dgm:presLayoutVars>
      </dgm:prSet>
      <dgm:spPr/>
    </dgm:pt>
    <dgm:pt modelId="{FC6D030F-19C4-4C57-ADEA-7B8DB7B8BA73}" type="pres">
      <dgm:prSet presAssocID="{2CE75997-778B-418B-AA7A-07230FC30D80}" presName="composite" presStyleCnt="0"/>
      <dgm:spPr/>
    </dgm:pt>
    <dgm:pt modelId="{263779FF-6B5B-43AD-A65B-174C1D2BD3AA}" type="pres">
      <dgm:prSet presAssocID="{2CE75997-778B-418B-AA7A-07230FC30D80}" presName="ConnectorPoint" presStyleLbl="lnNode1" presStyleIdx="0"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5EDA015F-3256-497E-820D-5E05FB89ECB5}" type="pres">
      <dgm:prSet presAssocID="{2CE75997-778B-418B-AA7A-07230FC30D80}" presName="DropPinPlaceHolder" presStyleCnt="0"/>
      <dgm:spPr/>
    </dgm:pt>
    <dgm:pt modelId="{8C71BE88-99D8-44F3-9905-9FF9BAFA51C2}" type="pres">
      <dgm:prSet presAssocID="{2CE75997-778B-418B-AA7A-07230FC30D80}" presName="DropPin" presStyleLbl="alignNode1" presStyleIdx="0" presStyleCnt="11"/>
      <dgm:spPr/>
    </dgm:pt>
    <dgm:pt modelId="{471EBBC0-E991-4684-8BF0-9077C412C88D}" type="pres">
      <dgm:prSet presAssocID="{2CE75997-778B-418B-AA7A-07230FC30D80}" presName="Ellipse" presStyleLbl="fgAcc1" presStyleIdx="1" presStyleCnt="12"/>
      <dgm:spPr>
        <a:solidFill>
          <a:schemeClr val="lt1">
            <a:alpha val="90000"/>
            <a:hueOff val="0"/>
            <a:satOff val="0"/>
            <a:lumOff val="0"/>
            <a:alphaOff val="0"/>
          </a:schemeClr>
        </a:solidFill>
        <a:ln w="19050" cap="flat" cmpd="sng" algn="ctr">
          <a:noFill/>
          <a:prstDash val="solid"/>
          <a:miter lim="800000"/>
        </a:ln>
        <a:effectLst/>
      </dgm:spPr>
    </dgm:pt>
    <dgm:pt modelId="{174B200E-1B7D-4FB1-BEC0-F3B63763B78D}" type="pres">
      <dgm:prSet presAssocID="{2CE75997-778B-418B-AA7A-07230FC30D80}" presName="L2TextContainer" presStyleLbl="revTx" presStyleIdx="0" presStyleCnt="22">
        <dgm:presLayoutVars>
          <dgm:bulletEnabled val="1"/>
        </dgm:presLayoutVars>
      </dgm:prSet>
      <dgm:spPr/>
    </dgm:pt>
    <dgm:pt modelId="{7ECFC34C-2AE6-47FF-B6CE-B0E0F2F44D46}" type="pres">
      <dgm:prSet presAssocID="{2CE75997-778B-418B-AA7A-07230FC30D80}" presName="L1TextContainer" presStyleLbl="revTx" presStyleIdx="1" presStyleCnt="22">
        <dgm:presLayoutVars>
          <dgm:chMax val="1"/>
          <dgm:chPref val="1"/>
          <dgm:bulletEnabled val="1"/>
        </dgm:presLayoutVars>
      </dgm:prSet>
      <dgm:spPr/>
    </dgm:pt>
    <dgm:pt modelId="{25D7DF2B-BDB7-4B74-A748-7D9E0E2A147E}" type="pres">
      <dgm:prSet presAssocID="{2CE75997-778B-418B-AA7A-07230FC30D80}" presName="ConnectLine" presStyleLbl="sibTrans1D1" presStyleIdx="0" presStyleCnt="11"/>
      <dgm:spPr>
        <a:noFill/>
        <a:ln w="12700" cap="flat" cmpd="sng" algn="ctr">
          <a:solidFill>
            <a:schemeClr val="accent1">
              <a:hueOff val="0"/>
              <a:satOff val="0"/>
              <a:lumOff val="0"/>
              <a:alphaOff val="0"/>
            </a:schemeClr>
          </a:solidFill>
          <a:prstDash val="dash"/>
          <a:miter lim="800000"/>
        </a:ln>
        <a:effectLst/>
      </dgm:spPr>
    </dgm:pt>
    <dgm:pt modelId="{FC37B397-2299-4B6D-AC32-93F2D5A223AB}" type="pres">
      <dgm:prSet presAssocID="{2CE75997-778B-418B-AA7A-07230FC30D80}" presName="EmptyPlaceHolder" presStyleCnt="0"/>
      <dgm:spPr/>
    </dgm:pt>
    <dgm:pt modelId="{59C5FA68-BA8F-49BE-8D8F-EEEDA5C29EA3}" type="pres">
      <dgm:prSet presAssocID="{1F20BF9F-4090-48C2-92D4-BBD120836B10}" presName="spaceBetweenRectangles" presStyleCnt="0"/>
      <dgm:spPr/>
    </dgm:pt>
    <dgm:pt modelId="{86D613BD-EFAF-4E89-9C7C-C0610B608005}" type="pres">
      <dgm:prSet presAssocID="{0E7382A7-12A5-4F2D-ACFA-C39093CB8ACC}" presName="composite" presStyleCnt="0"/>
      <dgm:spPr/>
    </dgm:pt>
    <dgm:pt modelId="{825FFEFB-EC7E-4C62-9A39-6BA643F31D24}" type="pres">
      <dgm:prSet presAssocID="{0E7382A7-12A5-4F2D-ACFA-C39093CB8ACC}" presName="ConnectorPoint" presStyleLbl="lnNode1" presStyleIdx="1"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DF354EE5-D34A-48BD-A744-761CEA106F95}" type="pres">
      <dgm:prSet presAssocID="{0E7382A7-12A5-4F2D-ACFA-C39093CB8ACC}" presName="DropPinPlaceHolder" presStyleCnt="0"/>
      <dgm:spPr/>
    </dgm:pt>
    <dgm:pt modelId="{A854694E-18BB-4594-94ED-8110846C54B8}" type="pres">
      <dgm:prSet presAssocID="{0E7382A7-12A5-4F2D-ACFA-C39093CB8ACC}" presName="DropPin" presStyleLbl="alignNode1" presStyleIdx="1" presStyleCnt="11"/>
      <dgm:spPr/>
    </dgm:pt>
    <dgm:pt modelId="{EACD28A6-752E-4D1F-85A1-07A6283E2CAF}" type="pres">
      <dgm:prSet presAssocID="{0E7382A7-12A5-4F2D-ACFA-C39093CB8ACC}" presName="Ellipse" presStyleLbl="fgAcc1" presStyleIdx="2" presStyleCnt="12"/>
      <dgm:spPr>
        <a:solidFill>
          <a:schemeClr val="lt1">
            <a:alpha val="90000"/>
            <a:hueOff val="0"/>
            <a:satOff val="0"/>
            <a:lumOff val="0"/>
            <a:alphaOff val="0"/>
          </a:schemeClr>
        </a:solidFill>
        <a:ln w="19050" cap="flat" cmpd="sng" algn="ctr">
          <a:noFill/>
          <a:prstDash val="solid"/>
          <a:miter lim="800000"/>
        </a:ln>
        <a:effectLst/>
      </dgm:spPr>
    </dgm:pt>
    <dgm:pt modelId="{992AB4A5-9F66-4EE2-9F69-EAD56C3F10A3}" type="pres">
      <dgm:prSet presAssocID="{0E7382A7-12A5-4F2D-ACFA-C39093CB8ACC}" presName="L2TextContainer" presStyleLbl="revTx" presStyleIdx="2" presStyleCnt="22">
        <dgm:presLayoutVars>
          <dgm:bulletEnabled val="1"/>
        </dgm:presLayoutVars>
      </dgm:prSet>
      <dgm:spPr/>
    </dgm:pt>
    <dgm:pt modelId="{E6E8098F-B832-4A33-9E37-FC2C7D89B587}" type="pres">
      <dgm:prSet presAssocID="{0E7382A7-12A5-4F2D-ACFA-C39093CB8ACC}" presName="L1TextContainer" presStyleLbl="revTx" presStyleIdx="3" presStyleCnt="22">
        <dgm:presLayoutVars>
          <dgm:chMax val="1"/>
          <dgm:chPref val="1"/>
          <dgm:bulletEnabled val="1"/>
        </dgm:presLayoutVars>
      </dgm:prSet>
      <dgm:spPr/>
    </dgm:pt>
    <dgm:pt modelId="{3C460C5A-EE90-4910-BFDB-A6FA16C5651F}" type="pres">
      <dgm:prSet presAssocID="{0E7382A7-12A5-4F2D-ACFA-C39093CB8ACC}" presName="ConnectLine" presStyleLbl="sibTrans1D1" presStyleIdx="1" presStyleCnt="11"/>
      <dgm:spPr>
        <a:noFill/>
        <a:ln w="12700" cap="flat" cmpd="sng" algn="ctr">
          <a:solidFill>
            <a:schemeClr val="accent1">
              <a:hueOff val="0"/>
              <a:satOff val="0"/>
              <a:lumOff val="0"/>
              <a:alphaOff val="0"/>
            </a:schemeClr>
          </a:solidFill>
          <a:prstDash val="dash"/>
          <a:miter lim="800000"/>
        </a:ln>
        <a:effectLst/>
      </dgm:spPr>
    </dgm:pt>
    <dgm:pt modelId="{E0990522-A9C1-426F-8101-849C28B5F0F8}" type="pres">
      <dgm:prSet presAssocID="{0E7382A7-12A5-4F2D-ACFA-C39093CB8ACC}" presName="EmptyPlaceHolder" presStyleCnt="0"/>
      <dgm:spPr/>
    </dgm:pt>
    <dgm:pt modelId="{E225D861-3649-49F1-9AC0-B44BADFF2FFB}" type="pres">
      <dgm:prSet presAssocID="{1B43C7B5-62FD-4FF7-9B13-41BC9725A37A}" presName="spaceBetweenRectangles" presStyleCnt="0"/>
      <dgm:spPr/>
    </dgm:pt>
    <dgm:pt modelId="{0C1456A4-B261-4A56-8854-143BFF1AA63D}" type="pres">
      <dgm:prSet presAssocID="{813A81D8-5DD0-41DF-A4DF-63C734B194C2}" presName="composite" presStyleCnt="0"/>
      <dgm:spPr/>
    </dgm:pt>
    <dgm:pt modelId="{07FC24E6-DA8D-4A94-940A-9E5B4E60E5A2}" type="pres">
      <dgm:prSet presAssocID="{813A81D8-5DD0-41DF-A4DF-63C734B194C2}" presName="ConnectorPoint" presStyleLbl="lnNode1" presStyleIdx="2"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B839B4F7-690D-4733-8411-E89C2697EBAE}" type="pres">
      <dgm:prSet presAssocID="{813A81D8-5DD0-41DF-A4DF-63C734B194C2}" presName="DropPinPlaceHolder" presStyleCnt="0"/>
      <dgm:spPr/>
    </dgm:pt>
    <dgm:pt modelId="{49954747-AA47-48A7-A923-22790E934C97}" type="pres">
      <dgm:prSet presAssocID="{813A81D8-5DD0-41DF-A4DF-63C734B194C2}" presName="DropPin" presStyleLbl="alignNode1" presStyleIdx="2" presStyleCnt="11"/>
      <dgm:spPr/>
    </dgm:pt>
    <dgm:pt modelId="{5A07990D-AC8E-41FA-A670-380B27FE7A1B}" type="pres">
      <dgm:prSet presAssocID="{813A81D8-5DD0-41DF-A4DF-63C734B194C2}" presName="Ellipse" presStyleLbl="fgAcc1" presStyleIdx="3" presStyleCnt="12"/>
      <dgm:spPr>
        <a:solidFill>
          <a:schemeClr val="lt1">
            <a:alpha val="90000"/>
            <a:hueOff val="0"/>
            <a:satOff val="0"/>
            <a:lumOff val="0"/>
            <a:alphaOff val="0"/>
          </a:schemeClr>
        </a:solidFill>
        <a:ln w="19050" cap="flat" cmpd="sng" algn="ctr">
          <a:noFill/>
          <a:prstDash val="solid"/>
          <a:miter lim="800000"/>
        </a:ln>
        <a:effectLst/>
      </dgm:spPr>
    </dgm:pt>
    <dgm:pt modelId="{F10690A5-1289-4CB9-AB0E-C4B06AD73DCE}" type="pres">
      <dgm:prSet presAssocID="{813A81D8-5DD0-41DF-A4DF-63C734B194C2}" presName="L2TextContainer" presStyleLbl="revTx" presStyleIdx="4" presStyleCnt="22">
        <dgm:presLayoutVars>
          <dgm:bulletEnabled val="1"/>
        </dgm:presLayoutVars>
      </dgm:prSet>
      <dgm:spPr/>
    </dgm:pt>
    <dgm:pt modelId="{F1E2814C-4821-4827-B136-8048ED930F25}" type="pres">
      <dgm:prSet presAssocID="{813A81D8-5DD0-41DF-A4DF-63C734B194C2}" presName="L1TextContainer" presStyleLbl="revTx" presStyleIdx="5" presStyleCnt="22">
        <dgm:presLayoutVars>
          <dgm:chMax val="1"/>
          <dgm:chPref val="1"/>
          <dgm:bulletEnabled val="1"/>
        </dgm:presLayoutVars>
      </dgm:prSet>
      <dgm:spPr/>
    </dgm:pt>
    <dgm:pt modelId="{77439D1C-CB3F-44E1-87BF-9E558F560D35}" type="pres">
      <dgm:prSet presAssocID="{813A81D8-5DD0-41DF-A4DF-63C734B194C2}" presName="ConnectLine" presStyleLbl="sibTrans1D1" presStyleIdx="2" presStyleCnt="11"/>
      <dgm:spPr>
        <a:noFill/>
        <a:ln w="12700" cap="flat" cmpd="sng" algn="ctr">
          <a:solidFill>
            <a:schemeClr val="accent1">
              <a:hueOff val="0"/>
              <a:satOff val="0"/>
              <a:lumOff val="0"/>
              <a:alphaOff val="0"/>
            </a:schemeClr>
          </a:solidFill>
          <a:prstDash val="dash"/>
          <a:miter lim="800000"/>
        </a:ln>
        <a:effectLst/>
      </dgm:spPr>
    </dgm:pt>
    <dgm:pt modelId="{65D94CC6-722A-43D9-9399-886A4B9AA136}" type="pres">
      <dgm:prSet presAssocID="{813A81D8-5DD0-41DF-A4DF-63C734B194C2}" presName="EmptyPlaceHolder" presStyleCnt="0"/>
      <dgm:spPr/>
    </dgm:pt>
    <dgm:pt modelId="{B6B72D24-BB2C-4D6A-815C-4BE1CA5D2B26}" type="pres">
      <dgm:prSet presAssocID="{37F1D122-BF19-4274-A3D4-A1115AC3593C}" presName="spaceBetweenRectangles" presStyleCnt="0"/>
      <dgm:spPr/>
    </dgm:pt>
    <dgm:pt modelId="{FF7A2CC4-D1F3-44CC-B6EC-A291517622D9}" type="pres">
      <dgm:prSet presAssocID="{F0FA9720-AB6A-4924-924E-6EA3F33AEEF2}" presName="composite" presStyleCnt="0"/>
      <dgm:spPr/>
    </dgm:pt>
    <dgm:pt modelId="{9A795E48-AAEC-471B-B72B-9F01595B53DB}" type="pres">
      <dgm:prSet presAssocID="{F0FA9720-AB6A-4924-924E-6EA3F33AEEF2}" presName="ConnectorPoint" presStyleLbl="lnNode1" presStyleIdx="3"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5BB57458-99CD-4BE7-9129-6BA2263B2B26}" type="pres">
      <dgm:prSet presAssocID="{F0FA9720-AB6A-4924-924E-6EA3F33AEEF2}" presName="DropPinPlaceHolder" presStyleCnt="0"/>
      <dgm:spPr/>
    </dgm:pt>
    <dgm:pt modelId="{47F0A03F-9053-409C-8B49-39051937E266}" type="pres">
      <dgm:prSet presAssocID="{F0FA9720-AB6A-4924-924E-6EA3F33AEEF2}" presName="DropPin" presStyleLbl="alignNode1" presStyleIdx="3" presStyleCnt="11"/>
      <dgm:spPr/>
    </dgm:pt>
    <dgm:pt modelId="{1977DBC3-7CBC-4842-825E-D6A49E3226B0}" type="pres">
      <dgm:prSet presAssocID="{F0FA9720-AB6A-4924-924E-6EA3F33AEEF2}" presName="Ellipse" presStyleLbl="fgAcc1" presStyleIdx="4" presStyleCnt="12"/>
      <dgm:spPr>
        <a:solidFill>
          <a:schemeClr val="lt1">
            <a:alpha val="90000"/>
            <a:hueOff val="0"/>
            <a:satOff val="0"/>
            <a:lumOff val="0"/>
            <a:alphaOff val="0"/>
          </a:schemeClr>
        </a:solidFill>
        <a:ln w="19050" cap="flat" cmpd="sng" algn="ctr">
          <a:noFill/>
          <a:prstDash val="solid"/>
          <a:miter lim="800000"/>
        </a:ln>
        <a:effectLst/>
      </dgm:spPr>
    </dgm:pt>
    <dgm:pt modelId="{0DCF38DF-8B74-4DAF-B4EE-BB868FFC900E}" type="pres">
      <dgm:prSet presAssocID="{F0FA9720-AB6A-4924-924E-6EA3F33AEEF2}" presName="L2TextContainer" presStyleLbl="revTx" presStyleIdx="6" presStyleCnt="22">
        <dgm:presLayoutVars>
          <dgm:bulletEnabled val="1"/>
        </dgm:presLayoutVars>
      </dgm:prSet>
      <dgm:spPr/>
    </dgm:pt>
    <dgm:pt modelId="{89DC3506-6F43-4E48-8B56-3FBD4C1E1B62}" type="pres">
      <dgm:prSet presAssocID="{F0FA9720-AB6A-4924-924E-6EA3F33AEEF2}" presName="L1TextContainer" presStyleLbl="revTx" presStyleIdx="7" presStyleCnt="22">
        <dgm:presLayoutVars>
          <dgm:chMax val="1"/>
          <dgm:chPref val="1"/>
          <dgm:bulletEnabled val="1"/>
        </dgm:presLayoutVars>
      </dgm:prSet>
      <dgm:spPr/>
    </dgm:pt>
    <dgm:pt modelId="{0AC2771A-98D5-4053-A13D-64362D7CFF9D}" type="pres">
      <dgm:prSet presAssocID="{F0FA9720-AB6A-4924-924E-6EA3F33AEEF2}" presName="ConnectLine" presStyleLbl="sibTrans1D1" presStyleIdx="3" presStyleCnt="11"/>
      <dgm:spPr>
        <a:noFill/>
        <a:ln w="12700" cap="flat" cmpd="sng" algn="ctr">
          <a:solidFill>
            <a:schemeClr val="accent1">
              <a:hueOff val="0"/>
              <a:satOff val="0"/>
              <a:lumOff val="0"/>
              <a:alphaOff val="0"/>
            </a:schemeClr>
          </a:solidFill>
          <a:prstDash val="dash"/>
          <a:miter lim="800000"/>
        </a:ln>
        <a:effectLst/>
      </dgm:spPr>
    </dgm:pt>
    <dgm:pt modelId="{B61BEAC3-7635-4B3B-AB5B-CA1BB3A9676E}" type="pres">
      <dgm:prSet presAssocID="{F0FA9720-AB6A-4924-924E-6EA3F33AEEF2}" presName="EmptyPlaceHolder" presStyleCnt="0"/>
      <dgm:spPr/>
    </dgm:pt>
    <dgm:pt modelId="{0120B96B-AED2-401F-817D-250F165F8C15}" type="pres">
      <dgm:prSet presAssocID="{EF74A01A-0AF2-4172-9769-DF68D6BC7D71}" presName="spaceBetweenRectangles" presStyleCnt="0"/>
      <dgm:spPr/>
    </dgm:pt>
    <dgm:pt modelId="{6F2A6E39-DF3A-475F-A35E-50DDD9DB63A2}" type="pres">
      <dgm:prSet presAssocID="{5A3C8EBE-C2B5-449C-AEE4-6144819126B0}" presName="composite" presStyleCnt="0"/>
      <dgm:spPr/>
    </dgm:pt>
    <dgm:pt modelId="{210AF1CF-9D85-48FF-9BE5-A970A3F5062D}" type="pres">
      <dgm:prSet presAssocID="{5A3C8EBE-C2B5-449C-AEE4-6144819126B0}" presName="ConnectorPoint" presStyleLbl="lnNode1" presStyleIdx="4"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B48ED7F-5D13-4BCE-951F-1B75055744A6}" type="pres">
      <dgm:prSet presAssocID="{5A3C8EBE-C2B5-449C-AEE4-6144819126B0}" presName="DropPinPlaceHolder" presStyleCnt="0"/>
      <dgm:spPr/>
    </dgm:pt>
    <dgm:pt modelId="{C2B22CA5-1B0D-4D0C-AF52-14B91CEE448B}" type="pres">
      <dgm:prSet presAssocID="{5A3C8EBE-C2B5-449C-AEE4-6144819126B0}" presName="DropPin" presStyleLbl="alignNode1" presStyleIdx="4" presStyleCnt="11"/>
      <dgm:spPr/>
    </dgm:pt>
    <dgm:pt modelId="{796D263A-C353-4169-9544-2810E525E1BA}" type="pres">
      <dgm:prSet presAssocID="{5A3C8EBE-C2B5-449C-AEE4-6144819126B0}" presName="Ellipse" presStyleLbl="fgAcc1" presStyleIdx="5" presStyleCnt="12"/>
      <dgm:spPr>
        <a:solidFill>
          <a:schemeClr val="lt1">
            <a:alpha val="90000"/>
            <a:hueOff val="0"/>
            <a:satOff val="0"/>
            <a:lumOff val="0"/>
            <a:alphaOff val="0"/>
          </a:schemeClr>
        </a:solidFill>
        <a:ln w="19050" cap="flat" cmpd="sng" algn="ctr">
          <a:noFill/>
          <a:prstDash val="solid"/>
          <a:miter lim="800000"/>
        </a:ln>
        <a:effectLst/>
      </dgm:spPr>
    </dgm:pt>
    <dgm:pt modelId="{B0E511C8-B0C9-46A8-BEC4-6070F1D2DDA0}" type="pres">
      <dgm:prSet presAssocID="{5A3C8EBE-C2B5-449C-AEE4-6144819126B0}" presName="L2TextContainer" presStyleLbl="revTx" presStyleIdx="8" presStyleCnt="22">
        <dgm:presLayoutVars>
          <dgm:bulletEnabled val="1"/>
        </dgm:presLayoutVars>
      </dgm:prSet>
      <dgm:spPr/>
    </dgm:pt>
    <dgm:pt modelId="{FEFC74F5-F535-4DC9-96F5-0EB2A2292DA9}" type="pres">
      <dgm:prSet presAssocID="{5A3C8EBE-C2B5-449C-AEE4-6144819126B0}" presName="L1TextContainer" presStyleLbl="revTx" presStyleIdx="9" presStyleCnt="22">
        <dgm:presLayoutVars>
          <dgm:chMax val="1"/>
          <dgm:chPref val="1"/>
          <dgm:bulletEnabled val="1"/>
        </dgm:presLayoutVars>
      </dgm:prSet>
      <dgm:spPr/>
    </dgm:pt>
    <dgm:pt modelId="{1C07B901-1C29-4C59-93DB-3FBC42EDE900}" type="pres">
      <dgm:prSet presAssocID="{5A3C8EBE-C2B5-449C-AEE4-6144819126B0}" presName="ConnectLine" presStyleLbl="sibTrans1D1" presStyleIdx="4" presStyleCnt="11"/>
      <dgm:spPr>
        <a:noFill/>
        <a:ln w="12700" cap="flat" cmpd="sng" algn="ctr">
          <a:solidFill>
            <a:schemeClr val="accent1">
              <a:hueOff val="0"/>
              <a:satOff val="0"/>
              <a:lumOff val="0"/>
              <a:alphaOff val="0"/>
            </a:schemeClr>
          </a:solidFill>
          <a:prstDash val="dash"/>
          <a:miter lim="800000"/>
        </a:ln>
        <a:effectLst/>
      </dgm:spPr>
    </dgm:pt>
    <dgm:pt modelId="{6E31DBA7-15BF-4D16-AE48-92C25CD10E2B}" type="pres">
      <dgm:prSet presAssocID="{5A3C8EBE-C2B5-449C-AEE4-6144819126B0}" presName="EmptyPlaceHolder" presStyleCnt="0"/>
      <dgm:spPr/>
    </dgm:pt>
    <dgm:pt modelId="{34E23C88-EDB8-4BB5-B06C-04F82AA27BA7}" type="pres">
      <dgm:prSet presAssocID="{6B774061-BF83-4168-8989-B4D323AB8376}" presName="spaceBetweenRectangles" presStyleCnt="0"/>
      <dgm:spPr/>
    </dgm:pt>
    <dgm:pt modelId="{952C3B59-40AF-42C0-B9E8-420D015D6ACD}" type="pres">
      <dgm:prSet presAssocID="{AFE8336E-F78B-406B-AAA0-E7CDA4111A18}" presName="composite" presStyleCnt="0"/>
      <dgm:spPr/>
    </dgm:pt>
    <dgm:pt modelId="{BA40D150-E46D-4092-9347-3E9D7B4A1154}" type="pres">
      <dgm:prSet presAssocID="{AFE8336E-F78B-406B-AAA0-E7CDA4111A18}" presName="ConnectorPoint" presStyleLbl="lnNode1" presStyleIdx="5"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F7BB9DAF-61AB-49EE-A7C4-1B70A5B6B7C7}" type="pres">
      <dgm:prSet presAssocID="{AFE8336E-F78B-406B-AAA0-E7CDA4111A18}" presName="DropPinPlaceHolder" presStyleCnt="0"/>
      <dgm:spPr/>
    </dgm:pt>
    <dgm:pt modelId="{26E2E331-0C27-405C-B2DD-DB30FC0A1B6D}" type="pres">
      <dgm:prSet presAssocID="{AFE8336E-F78B-406B-AAA0-E7CDA4111A18}" presName="DropPin" presStyleLbl="alignNode1" presStyleIdx="5" presStyleCnt="11"/>
      <dgm:spPr/>
    </dgm:pt>
    <dgm:pt modelId="{6C210714-B105-4864-B0CD-454147286E8A}" type="pres">
      <dgm:prSet presAssocID="{AFE8336E-F78B-406B-AAA0-E7CDA4111A18}" presName="Ellipse" presStyleLbl="fgAcc1" presStyleIdx="6" presStyleCnt="12"/>
      <dgm:spPr>
        <a:solidFill>
          <a:schemeClr val="lt1">
            <a:alpha val="90000"/>
            <a:hueOff val="0"/>
            <a:satOff val="0"/>
            <a:lumOff val="0"/>
            <a:alphaOff val="0"/>
          </a:schemeClr>
        </a:solidFill>
        <a:ln w="19050" cap="flat" cmpd="sng" algn="ctr">
          <a:noFill/>
          <a:prstDash val="solid"/>
          <a:miter lim="800000"/>
        </a:ln>
        <a:effectLst/>
      </dgm:spPr>
    </dgm:pt>
    <dgm:pt modelId="{0C7DFD79-3386-4AD4-A3AE-8740BCC4DE69}" type="pres">
      <dgm:prSet presAssocID="{AFE8336E-F78B-406B-AAA0-E7CDA4111A18}" presName="L2TextContainer" presStyleLbl="revTx" presStyleIdx="10" presStyleCnt="22">
        <dgm:presLayoutVars>
          <dgm:bulletEnabled val="1"/>
        </dgm:presLayoutVars>
      </dgm:prSet>
      <dgm:spPr/>
    </dgm:pt>
    <dgm:pt modelId="{EEBE54D7-84CF-497F-A45D-9EFB2C7791BE}" type="pres">
      <dgm:prSet presAssocID="{AFE8336E-F78B-406B-AAA0-E7CDA4111A18}" presName="L1TextContainer" presStyleLbl="revTx" presStyleIdx="11" presStyleCnt="22">
        <dgm:presLayoutVars>
          <dgm:chMax val="1"/>
          <dgm:chPref val="1"/>
          <dgm:bulletEnabled val="1"/>
        </dgm:presLayoutVars>
      </dgm:prSet>
      <dgm:spPr/>
    </dgm:pt>
    <dgm:pt modelId="{F2F91921-E9CC-4F78-9740-70547919C3BF}" type="pres">
      <dgm:prSet presAssocID="{AFE8336E-F78B-406B-AAA0-E7CDA4111A18}" presName="ConnectLine" presStyleLbl="sibTrans1D1" presStyleIdx="5" presStyleCnt="11"/>
      <dgm:spPr>
        <a:noFill/>
        <a:ln w="12700" cap="flat" cmpd="sng" algn="ctr">
          <a:solidFill>
            <a:schemeClr val="accent1">
              <a:hueOff val="0"/>
              <a:satOff val="0"/>
              <a:lumOff val="0"/>
              <a:alphaOff val="0"/>
            </a:schemeClr>
          </a:solidFill>
          <a:prstDash val="dash"/>
          <a:miter lim="800000"/>
        </a:ln>
        <a:effectLst/>
      </dgm:spPr>
    </dgm:pt>
    <dgm:pt modelId="{1EDF6653-BC81-40AC-884E-D3C53F2A0120}" type="pres">
      <dgm:prSet presAssocID="{AFE8336E-F78B-406B-AAA0-E7CDA4111A18}" presName="EmptyPlaceHolder" presStyleCnt="0"/>
      <dgm:spPr/>
    </dgm:pt>
    <dgm:pt modelId="{6D364AC7-FE0D-45C1-9384-0359156CD0D3}" type="pres">
      <dgm:prSet presAssocID="{88C78637-6E3E-448B-9767-9714A9442CB5}" presName="spaceBetweenRectangles" presStyleCnt="0"/>
      <dgm:spPr/>
    </dgm:pt>
    <dgm:pt modelId="{9B3E7E23-276F-45B0-8FCD-E95AFF51B3DC}" type="pres">
      <dgm:prSet presAssocID="{19E4A014-3E88-4982-950F-473BE4848751}" presName="composite" presStyleCnt="0"/>
      <dgm:spPr/>
    </dgm:pt>
    <dgm:pt modelId="{9CE681CE-CA03-4A14-90F0-FBD7F0B47A6E}" type="pres">
      <dgm:prSet presAssocID="{19E4A014-3E88-4982-950F-473BE4848751}" presName="ConnectorPoint" presStyleLbl="lnNode1" presStyleIdx="6"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CAAAD01C-D130-43C8-B917-B9517B63A5C9}" type="pres">
      <dgm:prSet presAssocID="{19E4A014-3E88-4982-950F-473BE4848751}" presName="DropPinPlaceHolder" presStyleCnt="0"/>
      <dgm:spPr/>
    </dgm:pt>
    <dgm:pt modelId="{938C0E27-B263-43E8-B68B-AE7008850284}" type="pres">
      <dgm:prSet presAssocID="{19E4A014-3E88-4982-950F-473BE4848751}" presName="DropPin" presStyleLbl="alignNode1" presStyleIdx="6" presStyleCnt="11"/>
      <dgm:spPr/>
    </dgm:pt>
    <dgm:pt modelId="{4862C5AD-614B-42B6-B930-DC1C7B955A69}" type="pres">
      <dgm:prSet presAssocID="{19E4A014-3E88-4982-950F-473BE4848751}" presName="Ellipse" presStyleLbl="fgAcc1" presStyleIdx="7" presStyleCnt="12"/>
      <dgm:spPr>
        <a:solidFill>
          <a:schemeClr val="lt1">
            <a:alpha val="90000"/>
            <a:hueOff val="0"/>
            <a:satOff val="0"/>
            <a:lumOff val="0"/>
            <a:alphaOff val="0"/>
          </a:schemeClr>
        </a:solidFill>
        <a:ln w="19050" cap="flat" cmpd="sng" algn="ctr">
          <a:noFill/>
          <a:prstDash val="solid"/>
          <a:miter lim="800000"/>
        </a:ln>
        <a:effectLst/>
      </dgm:spPr>
    </dgm:pt>
    <dgm:pt modelId="{859D2422-83FF-4B9C-94FB-1B4D951EEFEE}" type="pres">
      <dgm:prSet presAssocID="{19E4A014-3E88-4982-950F-473BE4848751}" presName="L2TextContainer" presStyleLbl="revTx" presStyleIdx="12" presStyleCnt="22">
        <dgm:presLayoutVars>
          <dgm:bulletEnabled val="1"/>
        </dgm:presLayoutVars>
      </dgm:prSet>
      <dgm:spPr/>
    </dgm:pt>
    <dgm:pt modelId="{A14C673B-2097-4A9E-95AC-D39D2498DCF1}" type="pres">
      <dgm:prSet presAssocID="{19E4A014-3E88-4982-950F-473BE4848751}" presName="L1TextContainer" presStyleLbl="revTx" presStyleIdx="13" presStyleCnt="22">
        <dgm:presLayoutVars>
          <dgm:chMax val="1"/>
          <dgm:chPref val="1"/>
          <dgm:bulletEnabled val="1"/>
        </dgm:presLayoutVars>
      </dgm:prSet>
      <dgm:spPr/>
    </dgm:pt>
    <dgm:pt modelId="{FCE18023-BAC4-47DF-B7C5-8E6FF0793E17}" type="pres">
      <dgm:prSet presAssocID="{19E4A014-3E88-4982-950F-473BE4848751}" presName="ConnectLine" presStyleLbl="sibTrans1D1" presStyleIdx="6" presStyleCnt="11"/>
      <dgm:spPr>
        <a:noFill/>
        <a:ln w="12700" cap="flat" cmpd="sng" algn="ctr">
          <a:solidFill>
            <a:schemeClr val="accent1">
              <a:hueOff val="0"/>
              <a:satOff val="0"/>
              <a:lumOff val="0"/>
              <a:alphaOff val="0"/>
            </a:schemeClr>
          </a:solidFill>
          <a:prstDash val="dash"/>
          <a:miter lim="800000"/>
        </a:ln>
        <a:effectLst/>
      </dgm:spPr>
    </dgm:pt>
    <dgm:pt modelId="{075AE9E3-78EF-45CC-8BBA-F45753341B23}" type="pres">
      <dgm:prSet presAssocID="{19E4A014-3E88-4982-950F-473BE4848751}" presName="EmptyPlaceHolder" presStyleCnt="0"/>
      <dgm:spPr/>
    </dgm:pt>
    <dgm:pt modelId="{857E0190-7E50-40DD-ABFA-879CE56DDFD3}" type="pres">
      <dgm:prSet presAssocID="{6D650FAC-D22C-4A6A-9ED0-F19A595742ED}" presName="spaceBetweenRectangles" presStyleCnt="0"/>
      <dgm:spPr/>
    </dgm:pt>
    <dgm:pt modelId="{64894361-B9E0-4B62-9B8B-0472BBF43D8F}" type="pres">
      <dgm:prSet presAssocID="{02DE9D37-529F-40CE-9C75-55F624D551F4}" presName="composite" presStyleCnt="0"/>
      <dgm:spPr/>
    </dgm:pt>
    <dgm:pt modelId="{1BE8CE22-AB9E-47F8-B19E-8936BD362A35}" type="pres">
      <dgm:prSet presAssocID="{02DE9D37-529F-40CE-9C75-55F624D551F4}" presName="ConnectorPoint" presStyleLbl="lnNode1" presStyleIdx="7"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FCDCA435-92F1-44C8-B228-978D7F9CFB34}" type="pres">
      <dgm:prSet presAssocID="{02DE9D37-529F-40CE-9C75-55F624D551F4}" presName="DropPinPlaceHolder" presStyleCnt="0"/>
      <dgm:spPr/>
    </dgm:pt>
    <dgm:pt modelId="{67C82D8A-291F-4CBF-AE52-7593CCEBA917}" type="pres">
      <dgm:prSet presAssocID="{02DE9D37-529F-40CE-9C75-55F624D551F4}" presName="DropPin" presStyleLbl="alignNode1" presStyleIdx="7" presStyleCnt="11"/>
      <dgm:spPr/>
    </dgm:pt>
    <dgm:pt modelId="{7229521B-7A84-48AE-B6C3-C52D53EE2695}" type="pres">
      <dgm:prSet presAssocID="{02DE9D37-529F-40CE-9C75-55F624D551F4}" presName="Ellipse" presStyleLbl="fgAcc1" presStyleIdx="8" presStyleCnt="12"/>
      <dgm:spPr>
        <a:solidFill>
          <a:schemeClr val="lt1">
            <a:alpha val="90000"/>
            <a:hueOff val="0"/>
            <a:satOff val="0"/>
            <a:lumOff val="0"/>
            <a:alphaOff val="0"/>
          </a:schemeClr>
        </a:solidFill>
        <a:ln w="19050" cap="flat" cmpd="sng" algn="ctr">
          <a:noFill/>
          <a:prstDash val="solid"/>
          <a:miter lim="800000"/>
        </a:ln>
        <a:effectLst/>
      </dgm:spPr>
    </dgm:pt>
    <dgm:pt modelId="{C9ED4240-E2EF-4965-914B-744E7DDF4EE8}" type="pres">
      <dgm:prSet presAssocID="{02DE9D37-529F-40CE-9C75-55F624D551F4}" presName="L2TextContainer" presStyleLbl="revTx" presStyleIdx="14" presStyleCnt="22">
        <dgm:presLayoutVars>
          <dgm:bulletEnabled val="1"/>
        </dgm:presLayoutVars>
      </dgm:prSet>
      <dgm:spPr/>
    </dgm:pt>
    <dgm:pt modelId="{7E7396BC-37C3-4E62-8F02-9771B9D4BD9B}" type="pres">
      <dgm:prSet presAssocID="{02DE9D37-529F-40CE-9C75-55F624D551F4}" presName="L1TextContainer" presStyleLbl="revTx" presStyleIdx="15" presStyleCnt="22">
        <dgm:presLayoutVars>
          <dgm:chMax val="1"/>
          <dgm:chPref val="1"/>
          <dgm:bulletEnabled val="1"/>
        </dgm:presLayoutVars>
      </dgm:prSet>
      <dgm:spPr/>
    </dgm:pt>
    <dgm:pt modelId="{5C75D24B-480A-41D6-8CC4-83E111945BCC}" type="pres">
      <dgm:prSet presAssocID="{02DE9D37-529F-40CE-9C75-55F624D551F4}" presName="ConnectLine" presStyleLbl="sibTrans1D1" presStyleIdx="7" presStyleCnt="11"/>
      <dgm:spPr>
        <a:noFill/>
        <a:ln w="12700" cap="flat" cmpd="sng" algn="ctr">
          <a:solidFill>
            <a:schemeClr val="accent1">
              <a:hueOff val="0"/>
              <a:satOff val="0"/>
              <a:lumOff val="0"/>
              <a:alphaOff val="0"/>
            </a:schemeClr>
          </a:solidFill>
          <a:prstDash val="dash"/>
          <a:miter lim="800000"/>
        </a:ln>
        <a:effectLst/>
      </dgm:spPr>
    </dgm:pt>
    <dgm:pt modelId="{08523BA3-203F-472A-AC92-006728536307}" type="pres">
      <dgm:prSet presAssocID="{02DE9D37-529F-40CE-9C75-55F624D551F4}" presName="EmptyPlaceHolder" presStyleCnt="0"/>
      <dgm:spPr/>
    </dgm:pt>
    <dgm:pt modelId="{29774942-1CB4-4FAF-99C7-A02A1FC68E08}" type="pres">
      <dgm:prSet presAssocID="{88A1084A-DDCC-4DC6-85B3-3CAB57F8F6FB}" presName="spaceBetweenRectangles" presStyleCnt="0"/>
      <dgm:spPr/>
    </dgm:pt>
    <dgm:pt modelId="{69D8BD74-02DC-474A-82AD-126A202207F1}" type="pres">
      <dgm:prSet presAssocID="{CE87D8BA-9777-4E95-B346-4803B0BB1DE3}" presName="composite" presStyleCnt="0"/>
      <dgm:spPr/>
    </dgm:pt>
    <dgm:pt modelId="{EA1164E5-F753-4AC8-8252-B1BEC302FECA}" type="pres">
      <dgm:prSet presAssocID="{CE87D8BA-9777-4E95-B346-4803B0BB1DE3}" presName="ConnectorPoint" presStyleLbl="lnNode1" presStyleIdx="8"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7BA6350D-1CE1-4928-944C-3F110B635B63}" type="pres">
      <dgm:prSet presAssocID="{CE87D8BA-9777-4E95-B346-4803B0BB1DE3}" presName="DropPinPlaceHolder" presStyleCnt="0"/>
      <dgm:spPr/>
    </dgm:pt>
    <dgm:pt modelId="{7C9A7062-3B75-42A7-9071-33C481BF8642}" type="pres">
      <dgm:prSet presAssocID="{CE87D8BA-9777-4E95-B346-4803B0BB1DE3}" presName="DropPin" presStyleLbl="alignNode1" presStyleIdx="8" presStyleCnt="11"/>
      <dgm:spPr/>
    </dgm:pt>
    <dgm:pt modelId="{306CB0E5-E196-4BB7-8E82-5DBA547A9D2D}" type="pres">
      <dgm:prSet presAssocID="{CE87D8BA-9777-4E95-B346-4803B0BB1DE3}" presName="Ellipse" presStyleLbl="fgAcc1" presStyleIdx="9" presStyleCnt="12"/>
      <dgm:spPr>
        <a:solidFill>
          <a:schemeClr val="lt1">
            <a:alpha val="90000"/>
            <a:hueOff val="0"/>
            <a:satOff val="0"/>
            <a:lumOff val="0"/>
            <a:alphaOff val="0"/>
          </a:schemeClr>
        </a:solidFill>
        <a:ln w="19050" cap="flat" cmpd="sng" algn="ctr">
          <a:noFill/>
          <a:prstDash val="solid"/>
          <a:miter lim="800000"/>
        </a:ln>
        <a:effectLst/>
      </dgm:spPr>
    </dgm:pt>
    <dgm:pt modelId="{839B8F40-1C0D-43F8-943B-6D7A9EC69E97}" type="pres">
      <dgm:prSet presAssocID="{CE87D8BA-9777-4E95-B346-4803B0BB1DE3}" presName="L2TextContainer" presStyleLbl="revTx" presStyleIdx="16" presStyleCnt="22">
        <dgm:presLayoutVars>
          <dgm:bulletEnabled val="1"/>
        </dgm:presLayoutVars>
      </dgm:prSet>
      <dgm:spPr/>
    </dgm:pt>
    <dgm:pt modelId="{7CF69BC3-84A3-4E5E-AEF2-B4BD15D47FD4}" type="pres">
      <dgm:prSet presAssocID="{CE87D8BA-9777-4E95-B346-4803B0BB1DE3}" presName="L1TextContainer" presStyleLbl="revTx" presStyleIdx="17" presStyleCnt="22">
        <dgm:presLayoutVars>
          <dgm:chMax val="1"/>
          <dgm:chPref val="1"/>
          <dgm:bulletEnabled val="1"/>
        </dgm:presLayoutVars>
      </dgm:prSet>
      <dgm:spPr/>
    </dgm:pt>
    <dgm:pt modelId="{77AE1CDD-1859-4F90-8B58-68807311A414}" type="pres">
      <dgm:prSet presAssocID="{CE87D8BA-9777-4E95-B346-4803B0BB1DE3}" presName="ConnectLine" presStyleLbl="sibTrans1D1" presStyleIdx="8" presStyleCnt="11"/>
      <dgm:spPr>
        <a:noFill/>
        <a:ln w="12700" cap="flat" cmpd="sng" algn="ctr">
          <a:solidFill>
            <a:schemeClr val="accent1">
              <a:hueOff val="0"/>
              <a:satOff val="0"/>
              <a:lumOff val="0"/>
              <a:alphaOff val="0"/>
            </a:schemeClr>
          </a:solidFill>
          <a:prstDash val="dash"/>
          <a:miter lim="800000"/>
        </a:ln>
        <a:effectLst/>
      </dgm:spPr>
    </dgm:pt>
    <dgm:pt modelId="{F7DBED6A-37E8-4CED-AB8E-D07242E4D2EE}" type="pres">
      <dgm:prSet presAssocID="{CE87D8BA-9777-4E95-B346-4803B0BB1DE3}" presName="EmptyPlaceHolder" presStyleCnt="0"/>
      <dgm:spPr/>
    </dgm:pt>
    <dgm:pt modelId="{510EEF08-FCE1-4E3B-A2D5-A9F379EC6301}" type="pres">
      <dgm:prSet presAssocID="{2A37BCA1-9B67-485B-A511-D706FF67839F}" presName="spaceBetweenRectangles" presStyleCnt="0"/>
      <dgm:spPr/>
    </dgm:pt>
    <dgm:pt modelId="{A8AC1FD5-526C-47DA-B638-526AE5B7B269}" type="pres">
      <dgm:prSet presAssocID="{3881BE5A-559E-410F-B11B-91A259BE39B5}" presName="composite" presStyleCnt="0"/>
      <dgm:spPr/>
    </dgm:pt>
    <dgm:pt modelId="{D25509C0-C015-4557-9D8B-6F15346DF0DC}" type="pres">
      <dgm:prSet presAssocID="{3881BE5A-559E-410F-B11B-91A259BE39B5}" presName="ConnectorPoint" presStyleLbl="lnNode1" presStyleIdx="9"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D7936A31-1062-444E-8F65-196F6722FCD5}" type="pres">
      <dgm:prSet presAssocID="{3881BE5A-559E-410F-B11B-91A259BE39B5}" presName="DropPinPlaceHolder" presStyleCnt="0"/>
      <dgm:spPr/>
    </dgm:pt>
    <dgm:pt modelId="{203663D7-2AFC-4F2B-AA3A-EC82F15175C8}" type="pres">
      <dgm:prSet presAssocID="{3881BE5A-559E-410F-B11B-91A259BE39B5}" presName="DropPin" presStyleLbl="alignNode1" presStyleIdx="9" presStyleCnt="11"/>
      <dgm:spPr/>
    </dgm:pt>
    <dgm:pt modelId="{2629E8FD-4072-40FB-8286-1790D0C71FFC}" type="pres">
      <dgm:prSet presAssocID="{3881BE5A-559E-410F-B11B-91A259BE39B5}" presName="Ellipse" presStyleLbl="fgAcc1" presStyleIdx="10" presStyleCnt="12"/>
      <dgm:spPr>
        <a:solidFill>
          <a:schemeClr val="lt1">
            <a:alpha val="90000"/>
            <a:hueOff val="0"/>
            <a:satOff val="0"/>
            <a:lumOff val="0"/>
            <a:alphaOff val="0"/>
          </a:schemeClr>
        </a:solidFill>
        <a:ln w="19050" cap="flat" cmpd="sng" algn="ctr">
          <a:noFill/>
          <a:prstDash val="solid"/>
          <a:miter lim="800000"/>
        </a:ln>
        <a:effectLst/>
      </dgm:spPr>
    </dgm:pt>
    <dgm:pt modelId="{6D030DBE-95C2-4CF3-BB20-72A45E870A0A}" type="pres">
      <dgm:prSet presAssocID="{3881BE5A-559E-410F-B11B-91A259BE39B5}" presName="L2TextContainer" presStyleLbl="revTx" presStyleIdx="18" presStyleCnt="22">
        <dgm:presLayoutVars>
          <dgm:bulletEnabled val="1"/>
        </dgm:presLayoutVars>
      </dgm:prSet>
      <dgm:spPr/>
    </dgm:pt>
    <dgm:pt modelId="{DC2AE191-B741-41FE-B935-677211497470}" type="pres">
      <dgm:prSet presAssocID="{3881BE5A-559E-410F-B11B-91A259BE39B5}" presName="L1TextContainer" presStyleLbl="revTx" presStyleIdx="19" presStyleCnt="22">
        <dgm:presLayoutVars>
          <dgm:chMax val="1"/>
          <dgm:chPref val="1"/>
          <dgm:bulletEnabled val="1"/>
        </dgm:presLayoutVars>
      </dgm:prSet>
      <dgm:spPr/>
    </dgm:pt>
    <dgm:pt modelId="{6830E18A-567A-4366-8EE8-029A397F67E9}" type="pres">
      <dgm:prSet presAssocID="{3881BE5A-559E-410F-B11B-91A259BE39B5}" presName="ConnectLine" presStyleLbl="sibTrans1D1" presStyleIdx="9" presStyleCnt="11"/>
      <dgm:spPr>
        <a:noFill/>
        <a:ln w="12700" cap="flat" cmpd="sng" algn="ctr">
          <a:solidFill>
            <a:schemeClr val="accent1">
              <a:hueOff val="0"/>
              <a:satOff val="0"/>
              <a:lumOff val="0"/>
              <a:alphaOff val="0"/>
            </a:schemeClr>
          </a:solidFill>
          <a:prstDash val="dash"/>
          <a:miter lim="800000"/>
        </a:ln>
        <a:effectLst/>
      </dgm:spPr>
    </dgm:pt>
    <dgm:pt modelId="{647D2030-DDE4-4669-BB38-5BB094104E5C}" type="pres">
      <dgm:prSet presAssocID="{3881BE5A-559E-410F-B11B-91A259BE39B5}" presName="EmptyPlaceHolder" presStyleCnt="0"/>
      <dgm:spPr/>
    </dgm:pt>
    <dgm:pt modelId="{BBDD5D9C-2FFF-422D-A8ED-AF4024DDDBF5}" type="pres">
      <dgm:prSet presAssocID="{7568C78E-D449-492F-BDDE-148B3F3E31B1}" presName="spaceBetweenRectangles" presStyleCnt="0"/>
      <dgm:spPr/>
    </dgm:pt>
    <dgm:pt modelId="{098A0594-D4C7-4519-A78F-35FCD3EF685C}" type="pres">
      <dgm:prSet presAssocID="{40A5D459-E48C-411C-AA79-4BC087F110BD}" presName="composite" presStyleCnt="0"/>
      <dgm:spPr/>
    </dgm:pt>
    <dgm:pt modelId="{7897D856-32A8-49C6-BA85-C3A788012D45}" type="pres">
      <dgm:prSet presAssocID="{40A5D459-E48C-411C-AA79-4BC087F110BD}" presName="ConnectorPoint" presStyleLbl="lnNode1" presStyleIdx="10" presStyleCnt="11"/>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470F1BBD-4BBA-4A29-8EC6-A6658C8B2913}" type="pres">
      <dgm:prSet presAssocID="{40A5D459-E48C-411C-AA79-4BC087F110BD}" presName="DropPinPlaceHolder" presStyleCnt="0"/>
      <dgm:spPr/>
    </dgm:pt>
    <dgm:pt modelId="{A1FED211-7B65-4EFA-9F1F-2561FF77FE65}" type="pres">
      <dgm:prSet presAssocID="{40A5D459-E48C-411C-AA79-4BC087F110BD}" presName="DropPin" presStyleLbl="alignNode1" presStyleIdx="10" presStyleCnt="11"/>
      <dgm:spPr/>
    </dgm:pt>
    <dgm:pt modelId="{F7E976EE-15E8-4D10-8F01-DB393CDEB710}" type="pres">
      <dgm:prSet presAssocID="{40A5D459-E48C-411C-AA79-4BC087F110BD}" presName="Ellipse" presStyleLbl="fgAcc1" presStyleIdx="11" presStyleCnt="12"/>
      <dgm:spPr>
        <a:solidFill>
          <a:schemeClr val="lt1">
            <a:alpha val="90000"/>
            <a:hueOff val="0"/>
            <a:satOff val="0"/>
            <a:lumOff val="0"/>
            <a:alphaOff val="0"/>
          </a:schemeClr>
        </a:solidFill>
        <a:ln w="19050" cap="flat" cmpd="sng" algn="ctr">
          <a:noFill/>
          <a:prstDash val="solid"/>
          <a:miter lim="800000"/>
        </a:ln>
        <a:effectLst/>
      </dgm:spPr>
    </dgm:pt>
    <dgm:pt modelId="{2BA5F1F3-257C-4177-968C-1B0A5046938D}" type="pres">
      <dgm:prSet presAssocID="{40A5D459-E48C-411C-AA79-4BC087F110BD}" presName="L2TextContainer" presStyleLbl="revTx" presStyleIdx="20" presStyleCnt="22">
        <dgm:presLayoutVars>
          <dgm:bulletEnabled val="1"/>
        </dgm:presLayoutVars>
      </dgm:prSet>
      <dgm:spPr/>
    </dgm:pt>
    <dgm:pt modelId="{4D1DBCDB-A124-452B-9AB5-4374E286336F}" type="pres">
      <dgm:prSet presAssocID="{40A5D459-E48C-411C-AA79-4BC087F110BD}" presName="L1TextContainer" presStyleLbl="revTx" presStyleIdx="21" presStyleCnt="22">
        <dgm:presLayoutVars>
          <dgm:chMax val="1"/>
          <dgm:chPref val="1"/>
          <dgm:bulletEnabled val="1"/>
        </dgm:presLayoutVars>
      </dgm:prSet>
      <dgm:spPr/>
    </dgm:pt>
    <dgm:pt modelId="{B2E26D63-DBD0-4784-90C6-26ADA5D52ABD}" type="pres">
      <dgm:prSet presAssocID="{40A5D459-E48C-411C-AA79-4BC087F110BD}" presName="ConnectLine" presStyleLbl="sibTrans1D1" presStyleIdx="10" presStyleCnt="11"/>
      <dgm:spPr>
        <a:noFill/>
        <a:ln w="12700" cap="flat" cmpd="sng" algn="ctr">
          <a:solidFill>
            <a:schemeClr val="accent1">
              <a:hueOff val="0"/>
              <a:satOff val="0"/>
              <a:lumOff val="0"/>
              <a:alphaOff val="0"/>
            </a:schemeClr>
          </a:solidFill>
          <a:prstDash val="dash"/>
          <a:miter lim="800000"/>
        </a:ln>
        <a:effectLst/>
      </dgm:spPr>
    </dgm:pt>
    <dgm:pt modelId="{37ADB6E8-E134-4BB7-801C-F0D61378D92F}" type="pres">
      <dgm:prSet presAssocID="{40A5D459-E48C-411C-AA79-4BC087F110BD}" presName="EmptyPlaceHolder" presStyleCnt="0"/>
      <dgm:spPr/>
    </dgm:pt>
  </dgm:ptLst>
  <dgm:cxnLst>
    <dgm:cxn modelId="{E0913E13-14D2-49AD-A808-3BC94D10325D}" type="presOf" srcId="{02DE9D37-529F-40CE-9C75-55F624D551F4}" destId="{7E7396BC-37C3-4E62-8F02-9771B9D4BD9B}" srcOrd="0" destOrd="0" presId="urn:microsoft.com/office/officeart/2017/3/layout/DropPinTimeline"/>
    <dgm:cxn modelId="{1FFA5831-14E0-47B7-94C7-EF8E88F8BBDB}" srcId="{4EDC51C0-C81C-497A-8B06-B5B34AF339CC}" destId="{02DE9D37-529F-40CE-9C75-55F624D551F4}" srcOrd="7" destOrd="0" parTransId="{1C1E0F18-ED25-4D7F-BBF5-B6E14BCBCAB6}" sibTransId="{88A1084A-DDCC-4DC6-85B3-3CAB57F8F6FB}"/>
    <dgm:cxn modelId="{7EADDD39-712D-4B66-AC00-A38339D5EC65}" srcId="{4EDC51C0-C81C-497A-8B06-B5B34AF339CC}" destId="{0E7382A7-12A5-4F2D-ACFA-C39093CB8ACC}" srcOrd="1" destOrd="0" parTransId="{CA14D8FD-EEDA-48D5-865E-897345D770AC}" sibTransId="{1B43C7B5-62FD-4FF7-9B13-41BC9725A37A}"/>
    <dgm:cxn modelId="{7C42F840-2285-4EDA-AF3A-1E6597AA4F55}" type="presOf" srcId="{813A81D8-5DD0-41DF-A4DF-63C734B194C2}" destId="{F1E2814C-4821-4827-B136-8048ED930F25}" srcOrd="0" destOrd="0" presId="urn:microsoft.com/office/officeart/2017/3/layout/DropPinTimeline"/>
    <dgm:cxn modelId="{7F7AA75B-E89A-4980-9ECD-72BF58A91CB8}" srcId="{4EDC51C0-C81C-497A-8B06-B5B34AF339CC}" destId="{813A81D8-5DD0-41DF-A4DF-63C734B194C2}" srcOrd="2" destOrd="0" parTransId="{6C1FC1ED-0B85-48F4-AF3A-0098181079E9}" sibTransId="{37F1D122-BF19-4274-A3D4-A1115AC3593C}"/>
    <dgm:cxn modelId="{3059EA4D-ED11-4BE5-84CA-535499D6F619}" srcId="{4EDC51C0-C81C-497A-8B06-B5B34AF339CC}" destId="{19E4A014-3E88-4982-950F-473BE4848751}" srcOrd="6" destOrd="0" parTransId="{BF7A92E9-06F4-4736-AF55-2DE5653395A7}" sibTransId="{6D650FAC-D22C-4A6A-9ED0-F19A595742ED}"/>
    <dgm:cxn modelId="{E8FE6650-BF8A-40DF-88D4-202DCEBE2032}" type="presOf" srcId="{F0FA9720-AB6A-4924-924E-6EA3F33AEEF2}" destId="{89DC3506-6F43-4E48-8B56-3FBD4C1E1B62}" srcOrd="0" destOrd="0" presId="urn:microsoft.com/office/officeart/2017/3/layout/DropPinTimeline"/>
    <dgm:cxn modelId="{7A464F73-C5AD-4948-98E8-4D5B7BA98B11}" type="presOf" srcId="{4EDC51C0-C81C-497A-8B06-B5B34AF339CC}" destId="{173CA8F4-2161-4BC1-BB62-34B5123D2C1E}" srcOrd="0" destOrd="0" presId="urn:microsoft.com/office/officeart/2017/3/layout/DropPinTimeline"/>
    <dgm:cxn modelId="{DAC3FA7B-73EF-4660-854A-E827FC8A6F50}" type="presOf" srcId="{5A3C8EBE-C2B5-449C-AEE4-6144819126B0}" destId="{FEFC74F5-F535-4DC9-96F5-0EB2A2292DA9}" srcOrd="0" destOrd="0" presId="urn:microsoft.com/office/officeart/2017/3/layout/DropPinTimeline"/>
    <dgm:cxn modelId="{E59BD38E-B92A-49EF-9AAA-F1E25AB1AFCD}" srcId="{4EDC51C0-C81C-497A-8B06-B5B34AF339CC}" destId="{AFE8336E-F78B-406B-AAA0-E7CDA4111A18}" srcOrd="5" destOrd="0" parTransId="{7D3FA224-D36E-41DE-9294-52D43741D023}" sibTransId="{88C78637-6E3E-448B-9767-9714A9442CB5}"/>
    <dgm:cxn modelId="{085DAC9F-D1B7-4806-B62C-23AACAB888F3}" srcId="{4EDC51C0-C81C-497A-8B06-B5B34AF339CC}" destId="{5A3C8EBE-C2B5-449C-AEE4-6144819126B0}" srcOrd="4" destOrd="0" parTransId="{7772B695-B7D7-4512-A0A2-79B3CE44A15F}" sibTransId="{6B774061-BF83-4168-8989-B4D323AB8376}"/>
    <dgm:cxn modelId="{224D71B5-F932-4913-8015-DE859CABA3F8}" type="presOf" srcId="{AFE8336E-F78B-406B-AAA0-E7CDA4111A18}" destId="{EEBE54D7-84CF-497F-A45D-9EFB2C7791BE}" srcOrd="0" destOrd="0" presId="urn:microsoft.com/office/officeart/2017/3/layout/DropPinTimeline"/>
    <dgm:cxn modelId="{AFF330C2-102F-4A79-9322-5ADE7170EE57}" srcId="{4EDC51C0-C81C-497A-8B06-B5B34AF339CC}" destId="{3881BE5A-559E-410F-B11B-91A259BE39B5}" srcOrd="9" destOrd="0" parTransId="{EBEA2495-C1EF-4313-96A2-E56D33DA3415}" sibTransId="{7568C78E-D449-492F-BDDE-148B3F3E31B1}"/>
    <dgm:cxn modelId="{D59899C3-E219-4D39-9922-127D0359D99A}" srcId="{4EDC51C0-C81C-497A-8B06-B5B34AF339CC}" destId="{F0FA9720-AB6A-4924-924E-6EA3F33AEEF2}" srcOrd="3" destOrd="0" parTransId="{1AE1A6B4-F600-4FC8-9583-C3CB619FC3DB}" sibTransId="{EF74A01A-0AF2-4172-9769-DF68D6BC7D71}"/>
    <dgm:cxn modelId="{F225EBCB-286D-40AA-978E-157521D9759E}" type="presOf" srcId="{40A5D459-E48C-411C-AA79-4BC087F110BD}" destId="{4D1DBCDB-A124-452B-9AB5-4374E286336F}" srcOrd="0" destOrd="0" presId="urn:microsoft.com/office/officeart/2017/3/layout/DropPinTimeline"/>
    <dgm:cxn modelId="{F535E8CF-6EE6-4BEC-A4F4-EE8FF425268C}" srcId="{4EDC51C0-C81C-497A-8B06-B5B34AF339CC}" destId="{2CE75997-778B-418B-AA7A-07230FC30D80}" srcOrd="0" destOrd="0" parTransId="{3F7FEE0A-D048-4515-BA32-B74CF25EDA6F}" sibTransId="{1F20BF9F-4090-48C2-92D4-BBD120836B10}"/>
    <dgm:cxn modelId="{BED8FBCF-F12F-43C1-AED9-6748DD52030D}" srcId="{4EDC51C0-C81C-497A-8B06-B5B34AF339CC}" destId="{CE87D8BA-9777-4E95-B346-4803B0BB1DE3}" srcOrd="8" destOrd="0" parTransId="{7A9ABD56-2DFF-40C8-94D3-FE9D6667320C}" sibTransId="{2A37BCA1-9B67-485B-A511-D706FF67839F}"/>
    <dgm:cxn modelId="{6BEFB9D4-5BCB-4148-B94C-8F0BDBC86C1E}" srcId="{4EDC51C0-C81C-497A-8B06-B5B34AF339CC}" destId="{40A5D459-E48C-411C-AA79-4BC087F110BD}" srcOrd="10" destOrd="0" parTransId="{22C7A0AE-021D-426A-9977-9040F0BA56F6}" sibTransId="{B20BEE5F-3392-40FC-9809-8F3A6B998A87}"/>
    <dgm:cxn modelId="{EFA71DD6-943F-4D81-9C3A-D3D080E04F1D}" type="presOf" srcId="{2CE75997-778B-418B-AA7A-07230FC30D80}" destId="{7ECFC34C-2AE6-47FF-B6CE-B0E0F2F44D46}" srcOrd="0" destOrd="0" presId="urn:microsoft.com/office/officeart/2017/3/layout/DropPinTimeline"/>
    <dgm:cxn modelId="{31F564E2-F33D-4B53-8E1C-F9C25DB8B246}" type="presOf" srcId="{19E4A014-3E88-4982-950F-473BE4848751}" destId="{A14C673B-2097-4A9E-95AC-D39D2498DCF1}" srcOrd="0" destOrd="0" presId="urn:microsoft.com/office/officeart/2017/3/layout/DropPinTimeline"/>
    <dgm:cxn modelId="{DA0F52EF-28E7-49BB-8752-EA90889B7A1B}" type="presOf" srcId="{CE87D8BA-9777-4E95-B346-4803B0BB1DE3}" destId="{7CF69BC3-84A3-4E5E-AEF2-B4BD15D47FD4}" srcOrd="0" destOrd="0" presId="urn:microsoft.com/office/officeart/2017/3/layout/DropPinTimeline"/>
    <dgm:cxn modelId="{44BC7DEF-3262-477C-B9FB-020289AE0171}" type="presOf" srcId="{3881BE5A-559E-410F-B11B-91A259BE39B5}" destId="{DC2AE191-B741-41FE-B935-677211497470}" srcOrd="0" destOrd="0" presId="urn:microsoft.com/office/officeart/2017/3/layout/DropPinTimeline"/>
    <dgm:cxn modelId="{9855AFF0-050B-4CE6-B3F1-28CEA8407DB0}" type="presOf" srcId="{0E7382A7-12A5-4F2D-ACFA-C39093CB8ACC}" destId="{E6E8098F-B832-4A33-9E37-FC2C7D89B587}" srcOrd="0" destOrd="0" presId="urn:microsoft.com/office/officeart/2017/3/layout/DropPinTimeline"/>
    <dgm:cxn modelId="{011E5F7F-2DD9-4F35-A62D-CE04B1BEB755}" type="presParOf" srcId="{173CA8F4-2161-4BC1-BB62-34B5123D2C1E}" destId="{94560901-4EF8-426A-B123-ABD2D400012D}" srcOrd="0" destOrd="0" presId="urn:microsoft.com/office/officeart/2017/3/layout/DropPinTimeline"/>
    <dgm:cxn modelId="{06064B9F-C562-4EE0-B8E3-CE8F7F5D9FE5}" type="presParOf" srcId="{173CA8F4-2161-4BC1-BB62-34B5123D2C1E}" destId="{7365B8E3-0E9F-4A3B-9463-93A5E9CCCE44}" srcOrd="1" destOrd="0" presId="urn:microsoft.com/office/officeart/2017/3/layout/DropPinTimeline"/>
    <dgm:cxn modelId="{D9ED412F-4729-436F-8EEA-D6EF07A96614}" type="presParOf" srcId="{7365B8E3-0E9F-4A3B-9463-93A5E9CCCE44}" destId="{FC6D030F-19C4-4C57-ADEA-7B8DB7B8BA73}" srcOrd="0" destOrd="0" presId="urn:microsoft.com/office/officeart/2017/3/layout/DropPinTimeline"/>
    <dgm:cxn modelId="{1413E6AA-44C8-42BF-8256-A5B1A79AD86C}" type="presParOf" srcId="{FC6D030F-19C4-4C57-ADEA-7B8DB7B8BA73}" destId="{263779FF-6B5B-43AD-A65B-174C1D2BD3AA}" srcOrd="0" destOrd="0" presId="urn:microsoft.com/office/officeart/2017/3/layout/DropPinTimeline"/>
    <dgm:cxn modelId="{73E9DB9B-81F3-4725-B0C8-2D3AA0BFBBAF}" type="presParOf" srcId="{FC6D030F-19C4-4C57-ADEA-7B8DB7B8BA73}" destId="{5EDA015F-3256-497E-820D-5E05FB89ECB5}" srcOrd="1" destOrd="0" presId="urn:microsoft.com/office/officeart/2017/3/layout/DropPinTimeline"/>
    <dgm:cxn modelId="{B6C2433A-77CF-4318-92AB-9EF253016711}" type="presParOf" srcId="{5EDA015F-3256-497E-820D-5E05FB89ECB5}" destId="{8C71BE88-99D8-44F3-9905-9FF9BAFA51C2}" srcOrd="0" destOrd="0" presId="urn:microsoft.com/office/officeart/2017/3/layout/DropPinTimeline"/>
    <dgm:cxn modelId="{7AC36E93-FA5D-4978-961B-BD1CA32BA88D}" type="presParOf" srcId="{5EDA015F-3256-497E-820D-5E05FB89ECB5}" destId="{471EBBC0-E991-4684-8BF0-9077C412C88D}" srcOrd="1" destOrd="0" presId="urn:microsoft.com/office/officeart/2017/3/layout/DropPinTimeline"/>
    <dgm:cxn modelId="{261544AE-16F8-4AA4-B257-AF4BE85087E2}" type="presParOf" srcId="{FC6D030F-19C4-4C57-ADEA-7B8DB7B8BA73}" destId="{174B200E-1B7D-4FB1-BEC0-F3B63763B78D}" srcOrd="2" destOrd="0" presId="urn:microsoft.com/office/officeart/2017/3/layout/DropPinTimeline"/>
    <dgm:cxn modelId="{1E89C265-A70D-495D-A78B-8D881F6EE560}" type="presParOf" srcId="{FC6D030F-19C4-4C57-ADEA-7B8DB7B8BA73}" destId="{7ECFC34C-2AE6-47FF-B6CE-B0E0F2F44D46}" srcOrd="3" destOrd="0" presId="urn:microsoft.com/office/officeart/2017/3/layout/DropPinTimeline"/>
    <dgm:cxn modelId="{8955E9A4-6C0F-4F62-AF7B-5E5895559280}" type="presParOf" srcId="{FC6D030F-19C4-4C57-ADEA-7B8DB7B8BA73}" destId="{25D7DF2B-BDB7-4B74-A748-7D9E0E2A147E}" srcOrd="4" destOrd="0" presId="urn:microsoft.com/office/officeart/2017/3/layout/DropPinTimeline"/>
    <dgm:cxn modelId="{AAAFE400-F16C-4091-8AB4-38AC769CE383}" type="presParOf" srcId="{FC6D030F-19C4-4C57-ADEA-7B8DB7B8BA73}" destId="{FC37B397-2299-4B6D-AC32-93F2D5A223AB}" srcOrd="5" destOrd="0" presId="urn:microsoft.com/office/officeart/2017/3/layout/DropPinTimeline"/>
    <dgm:cxn modelId="{F419C2F4-D3CB-4342-9314-AF329E4209B9}" type="presParOf" srcId="{7365B8E3-0E9F-4A3B-9463-93A5E9CCCE44}" destId="{59C5FA68-BA8F-49BE-8D8F-EEEDA5C29EA3}" srcOrd="1" destOrd="0" presId="urn:microsoft.com/office/officeart/2017/3/layout/DropPinTimeline"/>
    <dgm:cxn modelId="{62C61D89-D733-43C1-B258-D7722A3E597A}" type="presParOf" srcId="{7365B8E3-0E9F-4A3B-9463-93A5E9CCCE44}" destId="{86D613BD-EFAF-4E89-9C7C-C0610B608005}" srcOrd="2" destOrd="0" presId="urn:microsoft.com/office/officeart/2017/3/layout/DropPinTimeline"/>
    <dgm:cxn modelId="{166C3FA2-6B83-481A-BAA1-F67F03FBD639}" type="presParOf" srcId="{86D613BD-EFAF-4E89-9C7C-C0610B608005}" destId="{825FFEFB-EC7E-4C62-9A39-6BA643F31D24}" srcOrd="0" destOrd="0" presId="urn:microsoft.com/office/officeart/2017/3/layout/DropPinTimeline"/>
    <dgm:cxn modelId="{B47C886D-7645-434C-9347-A25B740D1F2D}" type="presParOf" srcId="{86D613BD-EFAF-4E89-9C7C-C0610B608005}" destId="{DF354EE5-D34A-48BD-A744-761CEA106F95}" srcOrd="1" destOrd="0" presId="urn:microsoft.com/office/officeart/2017/3/layout/DropPinTimeline"/>
    <dgm:cxn modelId="{072F3599-4C93-4A75-8090-4F229420C0A1}" type="presParOf" srcId="{DF354EE5-D34A-48BD-A744-761CEA106F95}" destId="{A854694E-18BB-4594-94ED-8110846C54B8}" srcOrd="0" destOrd="0" presId="urn:microsoft.com/office/officeart/2017/3/layout/DropPinTimeline"/>
    <dgm:cxn modelId="{F41911F3-F1EC-4063-87B5-9FBAFCD0FD97}" type="presParOf" srcId="{DF354EE5-D34A-48BD-A744-761CEA106F95}" destId="{EACD28A6-752E-4D1F-85A1-07A6283E2CAF}" srcOrd="1" destOrd="0" presId="urn:microsoft.com/office/officeart/2017/3/layout/DropPinTimeline"/>
    <dgm:cxn modelId="{ED6C4899-7A76-417E-88FA-1E4656B5BE5E}" type="presParOf" srcId="{86D613BD-EFAF-4E89-9C7C-C0610B608005}" destId="{992AB4A5-9F66-4EE2-9F69-EAD56C3F10A3}" srcOrd="2" destOrd="0" presId="urn:microsoft.com/office/officeart/2017/3/layout/DropPinTimeline"/>
    <dgm:cxn modelId="{A4786028-87F2-419A-8BF3-0EBE9FEDDD5B}" type="presParOf" srcId="{86D613BD-EFAF-4E89-9C7C-C0610B608005}" destId="{E6E8098F-B832-4A33-9E37-FC2C7D89B587}" srcOrd="3" destOrd="0" presId="urn:microsoft.com/office/officeart/2017/3/layout/DropPinTimeline"/>
    <dgm:cxn modelId="{16052843-04B1-42AF-8454-CDDFB3A99386}" type="presParOf" srcId="{86D613BD-EFAF-4E89-9C7C-C0610B608005}" destId="{3C460C5A-EE90-4910-BFDB-A6FA16C5651F}" srcOrd="4" destOrd="0" presId="urn:microsoft.com/office/officeart/2017/3/layout/DropPinTimeline"/>
    <dgm:cxn modelId="{994B01B4-ACC4-482F-91BF-F357DF93913A}" type="presParOf" srcId="{86D613BD-EFAF-4E89-9C7C-C0610B608005}" destId="{E0990522-A9C1-426F-8101-849C28B5F0F8}" srcOrd="5" destOrd="0" presId="urn:microsoft.com/office/officeart/2017/3/layout/DropPinTimeline"/>
    <dgm:cxn modelId="{56E1E56C-899A-45D3-B019-B39855B76C58}" type="presParOf" srcId="{7365B8E3-0E9F-4A3B-9463-93A5E9CCCE44}" destId="{E225D861-3649-49F1-9AC0-B44BADFF2FFB}" srcOrd="3" destOrd="0" presId="urn:microsoft.com/office/officeart/2017/3/layout/DropPinTimeline"/>
    <dgm:cxn modelId="{D0EF0E9E-23D8-460A-9A28-9A85DBC450FC}" type="presParOf" srcId="{7365B8E3-0E9F-4A3B-9463-93A5E9CCCE44}" destId="{0C1456A4-B261-4A56-8854-143BFF1AA63D}" srcOrd="4" destOrd="0" presId="urn:microsoft.com/office/officeart/2017/3/layout/DropPinTimeline"/>
    <dgm:cxn modelId="{526F8F15-3E59-475F-B90F-0FCC7EB6124D}" type="presParOf" srcId="{0C1456A4-B261-4A56-8854-143BFF1AA63D}" destId="{07FC24E6-DA8D-4A94-940A-9E5B4E60E5A2}" srcOrd="0" destOrd="0" presId="urn:microsoft.com/office/officeart/2017/3/layout/DropPinTimeline"/>
    <dgm:cxn modelId="{39392961-CAB6-4463-B1AF-E4407D049082}" type="presParOf" srcId="{0C1456A4-B261-4A56-8854-143BFF1AA63D}" destId="{B839B4F7-690D-4733-8411-E89C2697EBAE}" srcOrd="1" destOrd="0" presId="urn:microsoft.com/office/officeart/2017/3/layout/DropPinTimeline"/>
    <dgm:cxn modelId="{68B49569-EAEE-4032-B8E4-D3A0386598CE}" type="presParOf" srcId="{B839B4F7-690D-4733-8411-E89C2697EBAE}" destId="{49954747-AA47-48A7-A923-22790E934C97}" srcOrd="0" destOrd="0" presId="urn:microsoft.com/office/officeart/2017/3/layout/DropPinTimeline"/>
    <dgm:cxn modelId="{9EEDDE63-1009-4638-ACC9-1F79E659F6AD}" type="presParOf" srcId="{B839B4F7-690D-4733-8411-E89C2697EBAE}" destId="{5A07990D-AC8E-41FA-A670-380B27FE7A1B}" srcOrd="1" destOrd="0" presId="urn:microsoft.com/office/officeart/2017/3/layout/DropPinTimeline"/>
    <dgm:cxn modelId="{6D0FC189-B0AE-49A7-9CAA-C06EF4729B64}" type="presParOf" srcId="{0C1456A4-B261-4A56-8854-143BFF1AA63D}" destId="{F10690A5-1289-4CB9-AB0E-C4B06AD73DCE}" srcOrd="2" destOrd="0" presId="urn:microsoft.com/office/officeart/2017/3/layout/DropPinTimeline"/>
    <dgm:cxn modelId="{33FFA920-3319-4417-A9EF-1FFFF5365CB0}" type="presParOf" srcId="{0C1456A4-B261-4A56-8854-143BFF1AA63D}" destId="{F1E2814C-4821-4827-B136-8048ED930F25}" srcOrd="3" destOrd="0" presId="urn:microsoft.com/office/officeart/2017/3/layout/DropPinTimeline"/>
    <dgm:cxn modelId="{803E6D1E-DE71-4529-9117-7680991B3247}" type="presParOf" srcId="{0C1456A4-B261-4A56-8854-143BFF1AA63D}" destId="{77439D1C-CB3F-44E1-87BF-9E558F560D35}" srcOrd="4" destOrd="0" presId="urn:microsoft.com/office/officeart/2017/3/layout/DropPinTimeline"/>
    <dgm:cxn modelId="{8350DDC9-3049-4F70-B1AA-74920DBF7FD5}" type="presParOf" srcId="{0C1456A4-B261-4A56-8854-143BFF1AA63D}" destId="{65D94CC6-722A-43D9-9399-886A4B9AA136}" srcOrd="5" destOrd="0" presId="urn:microsoft.com/office/officeart/2017/3/layout/DropPinTimeline"/>
    <dgm:cxn modelId="{99287B85-5307-431C-844F-ABE2C1B68B80}" type="presParOf" srcId="{7365B8E3-0E9F-4A3B-9463-93A5E9CCCE44}" destId="{B6B72D24-BB2C-4D6A-815C-4BE1CA5D2B26}" srcOrd="5" destOrd="0" presId="urn:microsoft.com/office/officeart/2017/3/layout/DropPinTimeline"/>
    <dgm:cxn modelId="{5B222DCB-A8DE-4D99-8C0A-15568E5D4B49}" type="presParOf" srcId="{7365B8E3-0E9F-4A3B-9463-93A5E9CCCE44}" destId="{FF7A2CC4-D1F3-44CC-B6EC-A291517622D9}" srcOrd="6" destOrd="0" presId="urn:microsoft.com/office/officeart/2017/3/layout/DropPinTimeline"/>
    <dgm:cxn modelId="{1B7D53FE-D0D4-4F27-B10D-4AE0B66962D9}" type="presParOf" srcId="{FF7A2CC4-D1F3-44CC-B6EC-A291517622D9}" destId="{9A795E48-AAEC-471B-B72B-9F01595B53DB}" srcOrd="0" destOrd="0" presId="urn:microsoft.com/office/officeart/2017/3/layout/DropPinTimeline"/>
    <dgm:cxn modelId="{0D481435-B923-438F-87C6-F6790A0580B7}" type="presParOf" srcId="{FF7A2CC4-D1F3-44CC-B6EC-A291517622D9}" destId="{5BB57458-99CD-4BE7-9129-6BA2263B2B26}" srcOrd="1" destOrd="0" presId="urn:microsoft.com/office/officeart/2017/3/layout/DropPinTimeline"/>
    <dgm:cxn modelId="{2B44A715-8077-41B3-BFB8-8244E5164A40}" type="presParOf" srcId="{5BB57458-99CD-4BE7-9129-6BA2263B2B26}" destId="{47F0A03F-9053-409C-8B49-39051937E266}" srcOrd="0" destOrd="0" presId="urn:microsoft.com/office/officeart/2017/3/layout/DropPinTimeline"/>
    <dgm:cxn modelId="{5D7F50F4-77C2-442C-AE06-219B9260E6B9}" type="presParOf" srcId="{5BB57458-99CD-4BE7-9129-6BA2263B2B26}" destId="{1977DBC3-7CBC-4842-825E-D6A49E3226B0}" srcOrd="1" destOrd="0" presId="urn:microsoft.com/office/officeart/2017/3/layout/DropPinTimeline"/>
    <dgm:cxn modelId="{F0E38A93-88FE-474A-A263-F168DD151067}" type="presParOf" srcId="{FF7A2CC4-D1F3-44CC-B6EC-A291517622D9}" destId="{0DCF38DF-8B74-4DAF-B4EE-BB868FFC900E}" srcOrd="2" destOrd="0" presId="urn:microsoft.com/office/officeart/2017/3/layout/DropPinTimeline"/>
    <dgm:cxn modelId="{480CB8BC-1AFE-4027-B4F3-A185D08C8FB9}" type="presParOf" srcId="{FF7A2CC4-D1F3-44CC-B6EC-A291517622D9}" destId="{89DC3506-6F43-4E48-8B56-3FBD4C1E1B62}" srcOrd="3" destOrd="0" presId="urn:microsoft.com/office/officeart/2017/3/layout/DropPinTimeline"/>
    <dgm:cxn modelId="{32D8682F-1529-4E1B-91D8-55CE6B70A322}" type="presParOf" srcId="{FF7A2CC4-D1F3-44CC-B6EC-A291517622D9}" destId="{0AC2771A-98D5-4053-A13D-64362D7CFF9D}" srcOrd="4" destOrd="0" presId="urn:microsoft.com/office/officeart/2017/3/layout/DropPinTimeline"/>
    <dgm:cxn modelId="{4D52E6B1-D6DA-4D00-9E91-88B2300CD266}" type="presParOf" srcId="{FF7A2CC4-D1F3-44CC-B6EC-A291517622D9}" destId="{B61BEAC3-7635-4B3B-AB5B-CA1BB3A9676E}" srcOrd="5" destOrd="0" presId="urn:microsoft.com/office/officeart/2017/3/layout/DropPinTimeline"/>
    <dgm:cxn modelId="{08F2E952-F0E7-4E9A-BE76-847E8A5E6500}" type="presParOf" srcId="{7365B8E3-0E9F-4A3B-9463-93A5E9CCCE44}" destId="{0120B96B-AED2-401F-817D-250F165F8C15}" srcOrd="7" destOrd="0" presId="urn:microsoft.com/office/officeart/2017/3/layout/DropPinTimeline"/>
    <dgm:cxn modelId="{D2988DCF-F1D6-4B7B-A9A9-01922AFEFA3B}" type="presParOf" srcId="{7365B8E3-0E9F-4A3B-9463-93A5E9CCCE44}" destId="{6F2A6E39-DF3A-475F-A35E-50DDD9DB63A2}" srcOrd="8" destOrd="0" presId="urn:microsoft.com/office/officeart/2017/3/layout/DropPinTimeline"/>
    <dgm:cxn modelId="{02AE5283-203D-440C-87E6-EE5DFD1A13F3}" type="presParOf" srcId="{6F2A6E39-DF3A-475F-A35E-50DDD9DB63A2}" destId="{210AF1CF-9D85-48FF-9BE5-A970A3F5062D}" srcOrd="0" destOrd="0" presId="urn:microsoft.com/office/officeart/2017/3/layout/DropPinTimeline"/>
    <dgm:cxn modelId="{C8DD9620-FBC2-4453-9437-EEB9B640C0CD}" type="presParOf" srcId="{6F2A6E39-DF3A-475F-A35E-50DDD9DB63A2}" destId="{AB48ED7F-5D13-4BCE-951F-1B75055744A6}" srcOrd="1" destOrd="0" presId="urn:microsoft.com/office/officeart/2017/3/layout/DropPinTimeline"/>
    <dgm:cxn modelId="{29D6EEB5-8482-452C-944C-117D8398863F}" type="presParOf" srcId="{AB48ED7F-5D13-4BCE-951F-1B75055744A6}" destId="{C2B22CA5-1B0D-4D0C-AF52-14B91CEE448B}" srcOrd="0" destOrd="0" presId="urn:microsoft.com/office/officeart/2017/3/layout/DropPinTimeline"/>
    <dgm:cxn modelId="{7ECBFC25-0B82-4D88-A947-3DE3F4FB6CDF}" type="presParOf" srcId="{AB48ED7F-5D13-4BCE-951F-1B75055744A6}" destId="{796D263A-C353-4169-9544-2810E525E1BA}" srcOrd="1" destOrd="0" presId="urn:microsoft.com/office/officeart/2017/3/layout/DropPinTimeline"/>
    <dgm:cxn modelId="{D2114317-F638-4D09-B028-5B97AD225B62}" type="presParOf" srcId="{6F2A6E39-DF3A-475F-A35E-50DDD9DB63A2}" destId="{B0E511C8-B0C9-46A8-BEC4-6070F1D2DDA0}" srcOrd="2" destOrd="0" presId="urn:microsoft.com/office/officeart/2017/3/layout/DropPinTimeline"/>
    <dgm:cxn modelId="{68CF16F5-184E-45BC-9ABA-91C2DB509B2A}" type="presParOf" srcId="{6F2A6E39-DF3A-475F-A35E-50DDD9DB63A2}" destId="{FEFC74F5-F535-4DC9-96F5-0EB2A2292DA9}" srcOrd="3" destOrd="0" presId="urn:microsoft.com/office/officeart/2017/3/layout/DropPinTimeline"/>
    <dgm:cxn modelId="{3EDEFC2F-2181-476D-AC08-A80A86F75843}" type="presParOf" srcId="{6F2A6E39-DF3A-475F-A35E-50DDD9DB63A2}" destId="{1C07B901-1C29-4C59-93DB-3FBC42EDE900}" srcOrd="4" destOrd="0" presId="urn:microsoft.com/office/officeart/2017/3/layout/DropPinTimeline"/>
    <dgm:cxn modelId="{1193A4DD-A4D7-4A7A-90FE-8ABE2D219B70}" type="presParOf" srcId="{6F2A6E39-DF3A-475F-A35E-50DDD9DB63A2}" destId="{6E31DBA7-15BF-4D16-AE48-92C25CD10E2B}" srcOrd="5" destOrd="0" presId="urn:microsoft.com/office/officeart/2017/3/layout/DropPinTimeline"/>
    <dgm:cxn modelId="{BB785B19-6CD9-4FA4-AA59-425DBCBCAC66}" type="presParOf" srcId="{7365B8E3-0E9F-4A3B-9463-93A5E9CCCE44}" destId="{34E23C88-EDB8-4BB5-B06C-04F82AA27BA7}" srcOrd="9" destOrd="0" presId="urn:microsoft.com/office/officeart/2017/3/layout/DropPinTimeline"/>
    <dgm:cxn modelId="{C4094317-556F-45FE-83B2-AED03A1736E6}" type="presParOf" srcId="{7365B8E3-0E9F-4A3B-9463-93A5E9CCCE44}" destId="{952C3B59-40AF-42C0-B9E8-420D015D6ACD}" srcOrd="10" destOrd="0" presId="urn:microsoft.com/office/officeart/2017/3/layout/DropPinTimeline"/>
    <dgm:cxn modelId="{481A8F70-D8F7-4DE2-9043-77C25F1C4436}" type="presParOf" srcId="{952C3B59-40AF-42C0-B9E8-420D015D6ACD}" destId="{BA40D150-E46D-4092-9347-3E9D7B4A1154}" srcOrd="0" destOrd="0" presId="urn:microsoft.com/office/officeart/2017/3/layout/DropPinTimeline"/>
    <dgm:cxn modelId="{7C314C42-8990-4021-9027-733BC4EFA5EA}" type="presParOf" srcId="{952C3B59-40AF-42C0-B9E8-420D015D6ACD}" destId="{F7BB9DAF-61AB-49EE-A7C4-1B70A5B6B7C7}" srcOrd="1" destOrd="0" presId="urn:microsoft.com/office/officeart/2017/3/layout/DropPinTimeline"/>
    <dgm:cxn modelId="{50923426-8278-41FA-BF9C-885CF1503C29}" type="presParOf" srcId="{F7BB9DAF-61AB-49EE-A7C4-1B70A5B6B7C7}" destId="{26E2E331-0C27-405C-B2DD-DB30FC0A1B6D}" srcOrd="0" destOrd="0" presId="urn:microsoft.com/office/officeart/2017/3/layout/DropPinTimeline"/>
    <dgm:cxn modelId="{49FC2DD8-20CB-431A-816F-1A871ED3FBCD}" type="presParOf" srcId="{F7BB9DAF-61AB-49EE-A7C4-1B70A5B6B7C7}" destId="{6C210714-B105-4864-B0CD-454147286E8A}" srcOrd="1" destOrd="0" presId="urn:microsoft.com/office/officeart/2017/3/layout/DropPinTimeline"/>
    <dgm:cxn modelId="{69E8F99A-CEB1-4A0A-93D8-614ED71FC160}" type="presParOf" srcId="{952C3B59-40AF-42C0-B9E8-420D015D6ACD}" destId="{0C7DFD79-3386-4AD4-A3AE-8740BCC4DE69}" srcOrd="2" destOrd="0" presId="urn:microsoft.com/office/officeart/2017/3/layout/DropPinTimeline"/>
    <dgm:cxn modelId="{1E94C4AB-0D3D-4B92-8D7B-DD83087158B4}" type="presParOf" srcId="{952C3B59-40AF-42C0-B9E8-420D015D6ACD}" destId="{EEBE54D7-84CF-497F-A45D-9EFB2C7791BE}" srcOrd="3" destOrd="0" presId="urn:microsoft.com/office/officeart/2017/3/layout/DropPinTimeline"/>
    <dgm:cxn modelId="{2D944029-8879-43DE-BD91-59D5A93FAE83}" type="presParOf" srcId="{952C3B59-40AF-42C0-B9E8-420D015D6ACD}" destId="{F2F91921-E9CC-4F78-9740-70547919C3BF}" srcOrd="4" destOrd="0" presId="urn:microsoft.com/office/officeart/2017/3/layout/DropPinTimeline"/>
    <dgm:cxn modelId="{A575CCB6-F7AC-4EF8-B423-EBD560E3E6CA}" type="presParOf" srcId="{952C3B59-40AF-42C0-B9E8-420D015D6ACD}" destId="{1EDF6653-BC81-40AC-884E-D3C53F2A0120}" srcOrd="5" destOrd="0" presId="urn:microsoft.com/office/officeart/2017/3/layout/DropPinTimeline"/>
    <dgm:cxn modelId="{59B31D47-5ADF-4089-9D98-16C93835CB01}" type="presParOf" srcId="{7365B8E3-0E9F-4A3B-9463-93A5E9CCCE44}" destId="{6D364AC7-FE0D-45C1-9384-0359156CD0D3}" srcOrd="11" destOrd="0" presId="urn:microsoft.com/office/officeart/2017/3/layout/DropPinTimeline"/>
    <dgm:cxn modelId="{76F80891-55DC-492C-B021-1675E0C14A27}" type="presParOf" srcId="{7365B8E3-0E9F-4A3B-9463-93A5E9CCCE44}" destId="{9B3E7E23-276F-45B0-8FCD-E95AFF51B3DC}" srcOrd="12" destOrd="0" presId="urn:microsoft.com/office/officeart/2017/3/layout/DropPinTimeline"/>
    <dgm:cxn modelId="{BA74DD05-B15E-41D2-804A-8EF579A04739}" type="presParOf" srcId="{9B3E7E23-276F-45B0-8FCD-E95AFF51B3DC}" destId="{9CE681CE-CA03-4A14-90F0-FBD7F0B47A6E}" srcOrd="0" destOrd="0" presId="urn:microsoft.com/office/officeart/2017/3/layout/DropPinTimeline"/>
    <dgm:cxn modelId="{C143548F-9ABB-4C10-881B-BDD138EE5C57}" type="presParOf" srcId="{9B3E7E23-276F-45B0-8FCD-E95AFF51B3DC}" destId="{CAAAD01C-D130-43C8-B917-B9517B63A5C9}" srcOrd="1" destOrd="0" presId="urn:microsoft.com/office/officeart/2017/3/layout/DropPinTimeline"/>
    <dgm:cxn modelId="{2A5F1402-A567-47E6-A31F-625F7D7ABDF0}" type="presParOf" srcId="{CAAAD01C-D130-43C8-B917-B9517B63A5C9}" destId="{938C0E27-B263-43E8-B68B-AE7008850284}" srcOrd="0" destOrd="0" presId="urn:microsoft.com/office/officeart/2017/3/layout/DropPinTimeline"/>
    <dgm:cxn modelId="{F2F67891-4660-4DF9-9ED7-9B0355D71165}" type="presParOf" srcId="{CAAAD01C-D130-43C8-B917-B9517B63A5C9}" destId="{4862C5AD-614B-42B6-B930-DC1C7B955A69}" srcOrd="1" destOrd="0" presId="urn:microsoft.com/office/officeart/2017/3/layout/DropPinTimeline"/>
    <dgm:cxn modelId="{4EC4BA85-34DB-4BA5-82C7-1D2E3C0D834D}" type="presParOf" srcId="{9B3E7E23-276F-45B0-8FCD-E95AFF51B3DC}" destId="{859D2422-83FF-4B9C-94FB-1B4D951EEFEE}" srcOrd="2" destOrd="0" presId="urn:microsoft.com/office/officeart/2017/3/layout/DropPinTimeline"/>
    <dgm:cxn modelId="{1E2130FB-E763-4D57-BEA5-007B91266D65}" type="presParOf" srcId="{9B3E7E23-276F-45B0-8FCD-E95AFF51B3DC}" destId="{A14C673B-2097-4A9E-95AC-D39D2498DCF1}" srcOrd="3" destOrd="0" presId="urn:microsoft.com/office/officeart/2017/3/layout/DropPinTimeline"/>
    <dgm:cxn modelId="{2BC86FE1-4723-4D89-B056-040F45EBCBBB}" type="presParOf" srcId="{9B3E7E23-276F-45B0-8FCD-E95AFF51B3DC}" destId="{FCE18023-BAC4-47DF-B7C5-8E6FF0793E17}" srcOrd="4" destOrd="0" presId="urn:microsoft.com/office/officeart/2017/3/layout/DropPinTimeline"/>
    <dgm:cxn modelId="{76B84738-1D19-445A-AA9A-D9A0EA579CA2}" type="presParOf" srcId="{9B3E7E23-276F-45B0-8FCD-E95AFF51B3DC}" destId="{075AE9E3-78EF-45CC-8BBA-F45753341B23}" srcOrd="5" destOrd="0" presId="urn:microsoft.com/office/officeart/2017/3/layout/DropPinTimeline"/>
    <dgm:cxn modelId="{C0934AE6-635A-4A37-BA3F-A9D524D2CC1C}" type="presParOf" srcId="{7365B8E3-0E9F-4A3B-9463-93A5E9CCCE44}" destId="{857E0190-7E50-40DD-ABFA-879CE56DDFD3}" srcOrd="13" destOrd="0" presId="urn:microsoft.com/office/officeart/2017/3/layout/DropPinTimeline"/>
    <dgm:cxn modelId="{933AA903-7841-4384-B7C0-4259D9D20101}" type="presParOf" srcId="{7365B8E3-0E9F-4A3B-9463-93A5E9CCCE44}" destId="{64894361-B9E0-4B62-9B8B-0472BBF43D8F}" srcOrd="14" destOrd="0" presId="urn:microsoft.com/office/officeart/2017/3/layout/DropPinTimeline"/>
    <dgm:cxn modelId="{A636992F-83B5-4A75-BCDD-8C320AEF59AF}" type="presParOf" srcId="{64894361-B9E0-4B62-9B8B-0472BBF43D8F}" destId="{1BE8CE22-AB9E-47F8-B19E-8936BD362A35}" srcOrd="0" destOrd="0" presId="urn:microsoft.com/office/officeart/2017/3/layout/DropPinTimeline"/>
    <dgm:cxn modelId="{F694BD9B-9756-4730-8A08-91130374816C}" type="presParOf" srcId="{64894361-B9E0-4B62-9B8B-0472BBF43D8F}" destId="{FCDCA435-92F1-44C8-B228-978D7F9CFB34}" srcOrd="1" destOrd="0" presId="urn:microsoft.com/office/officeart/2017/3/layout/DropPinTimeline"/>
    <dgm:cxn modelId="{66E92E39-4D00-467F-8929-1BB588B8702B}" type="presParOf" srcId="{FCDCA435-92F1-44C8-B228-978D7F9CFB34}" destId="{67C82D8A-291F-4CBF-AE52-7593CCEBA917}" srcOrd="0" destOrd="0" presId="urn:microsoft.com/office/officeart/2017/3/layout/DropPinTimeline"/>
    <dgm:cxn modelId="{D38C047E-AA29-486C-967E-92DE0602320A}" type="presParOf" srcId="{FCDCA435-92F1-44C8-B228-978D7F9CFB34}" destId="{7229521B-7A84-48AE-B6C3-C52D53EE2695}" srcOrd="1" destOrd="0" presId="urn:microsoft.com/office/officeart/2017/3/layout/DropPinTimeline"/>
    <dgm:cxn modelId="{C64FFD49-49FE-4877-A14D-A82E8B62585A}" type="presParOf" srcId="{64894361-B9E0-4B62-9B8B-0472BBF43D8F}" destId="{C9ED4240-E2EF-4965-914B-744E7DDF4EE8}" srcOrd="2" destOrd="0" presId="urn:microsoft.com/office/officeart/2017/3/layout/DropPinTimeline"/>
    <dgm:cxn modelId="{EABAFFA6-7AA5-42E6-A3AC-FF67A14A2F0A}" type="presParOf" srcId="{64894361-B9E0-4B62-9B8B-0472BBF43D8F}" destId="{7E7396BC-37C3-4E62-8F02-9771B9D4BD9B}" srcOrd="3" destOrd="0" presId="urn:microsoft.com/office/officeart/2017/3/layout/DropPinTimeline"/>
    <dgm:cxn modelId="{39FC5BCC-6BB0-4BF1-8A0B-CDAB7759E7BD}" type="presParOf" srcId="{64894361-B9E0-4B62-9B8B-0472BBF43D8F}" destId="{5C75D24B-480A-41D6-8CC4-83E111945BCC}" srcOrd="4" destOrd="0" presId="urn:microsoft.com/office/officeart/2017/3/layout/DropPinTimeline"/>
    <dgm:cxn modelId="{7DC4955E-BF4E-4306-93B2-C7E1EDA59BD0}" type="presParOf" srcId="{64894361-B9E0-4B62-9B8B-0472BBF43D8F}" destId="{08523BA3-203F-472A-AC92-006728536307}" srcOrd="5" destOrd="0" presId="urn:microsoft.com/office/officeart/2017/3/layout/DropPinTimeline"/>
    <dgm:cxn modelId="{F309F61E-03C1-4447-AC57-4CA85A24577A}" type="presParOf" srcId="{7365B8E3-0E9F-4A3B-9463-93A5E9CCCE44}" destId="{29774942-1CB4-4FAF-99C7-A02A1FC68E08}" srcOrd="15" destOrd="0" presId="urn:microsoft.com/office/officeart/2017/3/layout/DropPinTimeline"/>
    <dgm:cxn modelId="{466F2AD1-EDB4-45C8-9CDB-F66A76776F53}" type="presParOf" srcId="{7365B8E3-0E9F-4A3B-9463-93A5E9CCCE44}" destId="{69D8BD74-02DC-474A-82AD-126A202207F1}" srcOrd="16" destOrd="0" presId="urn:microsoft.com/office/officeart/2017/3/layout/DropPinTimeline"/>
    <dgm:cxn modelId="{8D6D0A78-8147-4472-873E-895C1CA41EA2}" type="presParOf" srcId="{69D8BD74-02DC-474A-82AD-126A202207F1}" destId="{EA1164E5-F753-4AC8-8252-B1BEC302FECA}" srcOrd="0" destOrd="0" presId="urn:microsoft.com/office/officeart/2017/3/layout/DropPinTimeline"/>
    <dgm:cxn modelId="{6AE5A89F-B389-4515-B886-A5FAAF8B747F}" type="presParOf" srcId="{69D8BD74-02DC-474A-82AD-126A202207F1}" destId="{7BA6350D-1CE1-4928-944C-3F110B635B63}" srcOrd="1" destOrd="0" presId="urn:microsoft.com/office/officeart/2017/3/layout/DropPinTimeline"/>
    <dgm:cxn modelId="{5FDA5D96-98AC-4101-B960-DD61E6833CB0}" type="presParOf" srcId="{7BA6350D-1CE1-4928-944C-3F110B635B63}" destId="{7C9A7062-3B75-42A7-9071-33C481BF8642}" srcOrd="0" destOrd="0" presId="urn:microsoft.com/office/officeart/2017/3/layout/DropPinTimeline"/>
    <dgm:cxn modelId="{725D5593-7814-4518-A39D-18CA0B96C09B}" type="presParOf" srcId="{7BA6350D-1CE1-4928-944C-3F110B635B63}" destId="{306CB0E5-E196-4BB7-8E82-5DBA547A9D2D}" srcOrd="1" destOrd="0" presId="urn:microsoft.com/office/officeart/2017/3/layout/DropPinTimeline"/>
    <dgm:cxn modelId="{8C0AAA2B-A74B-442B-BFE8-972E53B818E5}" type="presParOf" srcId="{69D8BD74-02DC-474A-82AD-126A202207F1}" destId="{839B8F40-1C0D-43F8-943B-6D7A9EC69E97}" srcOrd="2" destOrd="0" presId="urn:microsoft.com/office/officeart/2017/3/layout/DropPinTimeline"/>
    <dgm:cxn modelId="{3E9340A0-6853-42F9-9792-8876F8028EF8}" type="presParOf" srcId="{69D8BD74-02DC-474A-82AD-126A202207F1}" destId="{7CF69BC3-84A3-4E5E-AEF2-B4BD15D47FD4}" srcOrd="3" destOrd="0" presId="urn:microsoft.com/office/officeart/2017/3/layout/DropPinTimeline"/>
    <dgm:cxn modelId="{1AEE5E9C-E194-40B8-8BAA-C5A5D7068A4F}" type="presParOf" srcId="{69D8BD74-02DC-474A-82AD-126A202207F1}" destId="{77AE1CDD-1859-4F90-8B58-68807311A414}" srcOrd="4" destOrd="0" presId="urn:microsoft.com/office/officeart/2017/3/layout/DropPinTimeline"/>
    <dgm:cxn modelId="{194CF213-FEAF-4472-8E96-B8DC519C4607}" type="presParOf" srcId="{69D8BD74-02DC-474A-82AD-126A202207F1}" destId="{F7DBED6A-37E8-4CED-AB8E-D07242E4D2EE}" srcOrd="5" destOrd="0" presId="urn:microsoft.com/office/officeart/2017/3/layout/DropPinTimeline"/>
    <dgm:cxn modelId="{AF833546-DB17-42C8-857F-5D8A3C6AB51B}" type="presParOf" srcId="{7365B8E3-0E9F-4A3B-9463-93A5E9CCCE44}" destId="{510EEF08-FCE1-4E3B-A2D5-A9F379EC6301}" srcOrd="17" destOrd="0" presId="urn:microsoft.com/office/officeart/2017/3/layout/DropPinTimeline"/>
    <dgm:cxn modelId="{83A8B085-7214-407C-BDB5-A7A622910AE9}" type="presParOf" srcId="{7365B8E3-0E9F-4A3B-9463-93A5E9CCCE44}" destId="{A8AC1FD5-526C-47DA-B638-526AE5B7B269}" srcOrd="18" destOrd="0" presId="urn:microsoft.com/office/officeart/2017/3/layout/DropPinTimeline"/>
    <dgm:cxn modelId="{CD9C98A7-21DB-4AE2-82F3-AFA151579986}" type="presParOf" srcId="{A8AC1FD5-526C-47DA-B638-526AE5B7B269}" destId="{D25509C0-C015-4557-9D8B-6F15346DF0DC}" srcOrd="0" destOrd="0" presId="urn:microsoft.com/office/officeart/2017/3/layout/DropPinTimeline"/>
    <dgm:cxn modelId="{A5260628-70FB-4C17-ADCF-7687CC53FF7C}" type="presParOf" srcId="{A8AC1FD5-526C-47DA-B638-526AE5B7B269}" destId="{D7936A31-1062-444E-8F65-196F6722FCD5}" srcOrd="1" destOrd="0" presId="urn:microsoft.com/office/officeart/2017/3/layout/DropPinTimeline"/>
    <dgm:cxn modelId="{DCC8973F-652C-4E6A-B538-D66D7F2F1E80}" type="presParOf" srcId="{D7936A31-1062-444E-8F65-196F6722FCD5}" destId="{203663D7-2AFC-4F2B-AA3A-EC82F15175C8}" srcOrd="0" destOrd="0" presId="urn:microsoft.com/office/officeart/2017/3/layout/DropPinTimeline"/>
    <dgm:cxn modelId="{80ED69DE-1377-4A15-8B4E-E4A231C45284}" type="presParOf" srcId="{D7936A31-1062-444E-8F65-196F6722FCD5}" destId="{2629E8FD-4072-40FB-8286-1790D0C71FFC}" srcOrd="1" destOrd="0" presId="urn:microsoft.com/office/officeart/2017/3/layout/DropPinTimeline"/>
    <dgm:cxn modelId="{A434E370-50DB-4F3D-A551-D8C021B40A04}" type="presParOf" srcId="{A8AC1FD5-526C-47DA-B638-526AE5B7B269}" destId="{6D030DBE-95C2-4CF3-BB20-72A45E870A0A}" srcOrd="2" destOrd="0" presId="urn:microsoft.com/office/officeart/2017/3/layout/DropPinTimeline"/>
    <dgm:cxn modelId="{DCBF3821-618F-4335-AA2C-E1EFFB1F2F48}" type="presParOf" srcId="{A8AC1FD5-526C-47DA-B638-526AE5B7B269}" destId="{DC2AE191-B741-41FE-B935-677211497470}" srcOrd="3" destOrd="0" presId="urn:microsoft.com/office/officeart/2017/3/layout/DropPinTimeline"/>
    <dgm:cxn modelId="{91890B30-263B-4E2F-BA7A-8B8487652EC2}" type="presParOf" srcId="{A8AC1FD5-526C-47DA-B638-526AE5B7B269}" destId="{6830E18A-567A-4366-8EE8-029A397F67E9}" srcOrd="4" destOrd="0" presId="urn:microsoft.com/office/officeart/2017/3/layout/DropPinTimeline"/>
    <dgm:cxn modelId="{85548DA0-F02D-4A64-8F33-81A4420DE9DF}" type="presParOf" srcId="{A8AC1FD5-526C-47DA-B638-526AE5B7B269}" destId="{647D2030-DDE4-4669-BB38-5BB094104E5C}" srcOrd="5" destOrd="0" presId="urn:microsoft.com/office/officeart/2017/3/layout/DropPinTimeline"/>
    <dgm:cxn modelId="{34B01E5A-BC23-49E3-9998-8EDF794E6207}" type="presParOf" srcId="{7365B8E3-0E9F-4A3B-9463-93A5E9CCCE44}" destId="{BBDD5D9C-2FFF-422D-A8ED-AF4024DDDBF5}" srcOrd="19" destOrd="0" presId="urn:microsoft.com/office/officeart/2017/3/layout/DropPinTimeline"/>
    <dgm:cxn modelId="{65B9A751-6A40-4D7E-9DBC-209ECA0DEFBA}" type="presParOf" srcId="{7365B8E3-0E9F-4A3B-9463-93A5E9CCCE44}" destId="{098A0594-D4C7-4519-A78F-35FCD3EF685C}" srcOrd="20" destOrd="0" presId="urn:microsoft.com/office/officeart/2017/3/layout/DropPinTimeline"/>
    <dgm:cxn modelId="{44E46B5A-3C42-470A-9CB8-649832D4AABB}" type="presParOf" srcId="{098A0594-D4C7-4519-A78F-35FCD3EF685C}" destId="{7897D856-32A8-49C6-BA85-C3A788012D45}" srcOrd="0" destOrd="0" presId="urn:microsoft.com/office/officeart/2017/3/layout/DropPinTimeline"/>
    <dgm:cxn modelId="{A65C262E-7E1B-46EF-8BC6-6C3E98FFB6A3}" type="presParOf" srcId="{098A0594-D4C7-4519-A78F-35FCD3EF685C}" destId="{470F1BBD-4BBA-4A29-8EC6-A6658C8B2913}" srcOrd="1" destOrd="0" presId="urn:microsoft.com/office/officeart/2017/3/layout/DropPinTimeline"/>
    <dgm:cxn modelId="{2B6ECA37-B4B7-4E48-89E5-37AF180FB36B}" type="presParOf" srcId="{470F1BBD-4BBA-4A29-8EC6-A6658C8B2913}" destId="{A1FED211-7B65-4EFA-9F1F-2561FF77FE65}" srcOrd="0" destOrd="0" presId="urn:microsoft.com/office/officeart/2017/3/layout/DropPinTimeline"/>
    <dgm:cxn modelId="{47552F25-2626-442B-8230-A2915EB45AC7}" type="presParOf" srcId="{470F1BBD-4BBA-4A29-8EC6-A6658C8B2913}" destId="{F7E976EE-15E8-4D10-8F01-DB393CDEB710}" srcOrd="1" destOrd="0" presId="urn:microsoft.com/office/officeart/2017/3/layout/DropPinTimeline"/>
    <dgm:cxn modelId="{2FA908E7-703A-457A-9988-4D14DF3085F7}" type="presParOf" srcId="{098A0594-D4C7-4519-A78F-35FCD3EF685C}" destId="{2BA5F1F3-257C-4177-968C-1B0A5046938D}" srcOrd="2" destOrd="0" presId="urn:microsoft.com/office/officeart/2017/3/layout/DropPinTimeline"/>
    <dgm:cxn modelId="{5B610988-AE92-423E-9A5C-61DF01107C41}" type="presParOf" srcId="{098A0594-D4C7-4519-A78F-35FCD3EF685C}" destId="{4D1DBCDB-A124-452B-9AB5-4374E286336F}" srcOrd="3" destOrd="0" presId="urn:microsoft.com/office/officeart/2017/3/layout/DropPinTimeline"/>
    <dgm:cxn modelId="{6636BA8A-F09D-41DF-905D-34D38D88D2B4}" type="presParOf" srcId="{098A0594-D4C7-4519-A78F-35FCD3EF685C}" destId="{B2E26D63-DBD0-4784-90C6-26ADA5D52ABD}" srcOrd="4" destOrd="0" presId="urn:microsoft.com/office/officeart/2017/3/layout/DropPinTimeline"/>
    <dgm:cxn modelId="{F68B10EA-2848-4CF4-A624-387F16B161FD}" type="presParOf" srcId="{098A0594-D4C7-4519-A78F-35FCD3EF685C}" destId="{37ADB6E8-E134-4BB7-801C-F0D61378D92F}"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D509492-A165-40C8-872A-15F6E9479A38}"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0DAEEAE1-9F70-40C7-8E5F-4B53A56DA5C0}">
      <dgm:prSet/>
      <dgm:spPr/>
      <dgm:t>
        <a:bodyPr/>
        <a:lstStyle/>
        <a:p>
          <a:pPr rtl="0"/>
          <a:r>
            <a:rPr lang="en-US" dirty="0" err="1"/>
            <a:t>Melcom</a:t>
          </a:r>
          <a:r>
            <a:rPr lang="en-US" dirty="0"/>
            <a:t> opens our Super </a:t>
          </a:r>
          <a:r>
            <a:rPr lang="en-US" dirty="0">
              <a:latin typeface="Aptos Display" panose="020F0302020204030204"/>
            </a:rPr>
            <a:t>store and mall</a:t>
          </a:r>
          <a:r>
            <a:rPr lang="en-US" dirty="0"/>
            <a:t> –</a:t>
          </a:r>
          <a:r>
            <a:rPr lang="en-US" b="1" dirty="0" err="1"/>
            <a:t>Melcom</a:t>
          </a:r>
          <a:r>
            <a:rPr lang="en-US" b="1" dirty="0"/>
            <a:t> Mall –Spintex</a:t>
          </a:r>
          <a:endParaRPr lang="en-US" dirty="0"/>
        </a:p>
      </dgm:t>
    </dgm:pt>
    <dgm:pt modelId="{9C2FDF9D-1F1D-41BE-B9B1-FA4929CF9C87}" type="parTrans" cxnId="{9AB2EFC5-B219-40F7-BB43-79BEC724B387}">
      <dgm:prSet/>
      <dgm:spPr/>
      <dgm:t>
        <a:bodyPr/>
        <a:lstStyle/>
        <a:p>
          <a:endParaRPr lang="en-US"/>
        </a:p>
      </dgm:t>
    </dgm:pt>
    <dgm:pt modelId="{9D5C14C8-74AF-47AC-8E22-C6F743D8B906}" type="sibTrans" cxnId="{9AB2EFC5-B219-40F7-BB43-79BEC724B387}">
      <dgm:prSet/>
      <dgm:spPr/>
      <dgm:t>
        <a:bodyPr/>
        <a:lstStyle/>
        <a:p>
          <a:endParaRPr lang="en-US"/>
        </a:p>
      </dgm:t>
    </dgm:pt>
    <dgm:pt modelId="{5E6AE9BD-7087-4422-9348-AD3F64E7651B}">
      <dgm:prSet/>
      <dgm:spPr/>
      <dgm:t>
        <a:bodyPr/>
        <a:lstStyle/>
        <a:p>
          <a:r>
            <a:rPr lang="en-US" dirty="0" err="1"/>
            <a:t>Melcom</a:t>
          </a:r>
          <a:r>
            <a:rPr lang="en-US" dirty="0"/>
            <a:t> introduces its first state of art </a:t>
          </a:r>
          <a:r>
            <a:rPr lang="en-US" b="1" dirty="0"/>
            <a:t>GYM- Activate</a:t>
          </a:r>
          <a:endParaRPr lang="en-US" dirty="0"/>
        </a:p>
      </dgm:t>
    </dgm:pt>
    <dgm:pt modelId="{1FAA7B58-5A1F-4281-98F0-627D10048412}" type="parTrans" cxnId="{8B932177-15FB-4AFB-A19C-2968A7BE4446}">
      <dgm:prSet/>
      <dgm:spPr/>
      <dgm:t>
        <a:bodyPr/>
        <a:lstStyle/>
        <a:p>
          <a:endParaRPr lang="en-US"/>
        </a:p>
      </dgm:t>
    </dgm:pt>
    <dgm:pt modelId="{BA0EDE34-BA0A-4EC5-8116-6886E49EBEF0}" type="sibTrans" cxnId="{8B932177-15FB-4AFB-A19C-2968A7BE4446}">
      <dgm:prSet/>
      <dgm:spPr/>
      <dgm:t>
        <a:bodyPr/>
        <a:lstStyle/>
        <a:p>
          <a:endParaRPr lang="en-US"/>
        </a:p>
      </dgm:t>
    </dgm:pt>
    <dgm:pt modelId="{D5E9C925-5255-47C7-A1E1-9C3CE88129C3}">
      <dgm:prSet/>
      <dgm:spPr/>
      <dgm:t>
        <a:bodyPr/>
        <a:lstStyle/>
        <a:p>
          <a:r>
            <a:rPr lang="en-US" b="1" dirty="0"/>
            <a:t>2024 - </a:t>
          </a:r>
          <a:r>
            <a:rPr lang="en-US" dirty="0" err="1"/>
            <a:t>Melcom</a:t>
          </a:r>
          <a:r>
            <a:rPr lang="en-US" dirty="0"/>
            <a:t> enters independent malls ​</a:t>
          </a:r>
        </a:p>
      </dgm:t>
    </dgm:pt>
    <dgm:pt modelId="{9D131BE8-8B66-4EA0-9732-B6D9694C1DB8}" type="parTrans" cxnId="{7A859C70-B4CB-483D-8299-66460A644FA4}">
      <dgm:prSet/>
      <dgm:spPr/>
      <dgm:t>
        <a:bodyPr/>
        <a:lstStyle/>
        <a:p>
          <a:endParaRPr lang="en-US"/>
        </a:p>
      </dgm:t>
    </dgm:pt>
    <dgm:pt modelId="{2138C26B-3718-452B-AA53-F3A9B0E78216}" type="sibTrans" cxnId="{7A859C70-B4CB-483D-8299-66460A644FA4}">
      <dgm:prSet/>
      <dgm:spPr/>
      <dgm:t>
        <a:bodyPr/>
        <a:lstStyle/>
        <a:p>
          <a:endParaRPr lang="en-US"/>
        </a:p>
      </dgm:t>
    </dgm:pt>
    <dgm:pt modelId="{C1068599-D785-42E7-8A89-BCEB43A21E59}">
      <dgm:prSet/>
      <dgm:spPr/>
      <dgm:t>
        <a:bodyPr/>
        <a:lstStyle/>
        <a:p>
          <a:r>
            <a:rPr lang="en-US" dirty="0"/>
            <a:t>West Hill Mall​</a:t>
          </a:r>
        </a:p>
      </dgm:t>
    </dgm:pt>
    <dgm:pt modelId="{D45F8A02-3267-49B9-AA4F-8397A26D6DE9}" type="parTrans" cxnId="{F07A70CF-3564-4F16-9499-EE40EB7D64F9}">
      <dgm:prSet/>
      <dgm:spPr/>
      <dgm:t>
        <a:bodyPr/>
        <a:lstStyle/>
        <a:p>
          <a:endParaRPr lang="en-US"/>
        </a:p>
      </dgm:t>
    </dgm:pt>
    <dgm:pt modelId="{1D668B8F-BEFE-4563-A0BB-1F211D0CCE58}" type="sibTrans" cxnId="{F07A70CF-3564-4F16-9499-EE40EB7D64F9}">
      <dgm:prSet/>
      <dgm:spPr/>
      <dgm:t>
        <a:bodyPr/>
        <a:lstStyle/>
        <a:p>
          <a:endParaRPr lang="en-US"/>
        </a:p>
      </dgm:t>
    </dgm:pt>
    <dgm:pt modelId="{B1A1752C-D980-406C-86C3-54B075DAB64F}">
      <dgm:prSet/>
      <dgm:spPr/>
      <dgm:t>
        <a:bodyPr/>
        <a:lstStyle/>
        <a:p>
          <a:r>
            <a:rPr lang="en-US" dirty="0"/>
            <a:t>Accra Mall​</a:t>
          </a:r>
        </a:p>
      </dgm:t>
    </dgm:pt>
    <dgm:pt modelId="{63510253-9D9D-4718-8EDA-E3A9FB664ED5}" type="parTrans" cxnId="{439AEFE1-AF05-4474-A700-06ADF4A48723}">
      <dgm:prSet/>
      <dgm:spPr/>
      <dgm:t>
        <a:bodyPr/>
        <a:lstStyle/>
        <a:p>
          <a:endParaRPr lang="en-US"/>
        </a:p>
      </dgm:t>
    </dgm:pt>
    <dgm:pt modelId="{34259B62-FD5D-492E-9836-489E7700439C}" type="sibTrans" cxnId="{439AEFE1-AF05-4474-A700-06ADF4A48723}">
      <dgm:prSet/>
      <dgm:spPr/>
      <dgm:t>
        <a:bodyPr/>
        <a:lstStyle/>
        <a:p>
          <a:endParaRPr lang="en-US"/>
        </a:p>
      </dgm:t>
    </dgm:pt>
    <dgm:pt modelId="{2072C40E-EAF5-4A62-B3B8-572AF9FC349A}">
      <dgm:prSet/>
      <dgm:spPr/>
      <dgm:t>
        <a:bodyPr/>
        <a:lstStyle/>
        <a:p>
          <a:r>
            <a:rPr lang="en-US" dirty="0"/>
            <a:t>Kumasi Mall ​</a:t>
          </a:r>
        </a:p>
      </dgm:t>
    </dgm:pt>
    <dgm:pt modelId="{7F00DDAC-1852-4A93-B015-FE217852BC59}" type="parTrans" cxnId="{CB98835C-EA9E-45D5-B795-208A529A91BB}">
      <dgm:prSet/>
      <dgm:spPr/>
      <dgm:t>
        <a:bodyPr/>
        <a:lstStyle/>
        <a:p>
          <a:endParaRPr lang="en-US"/>
        </a:p>
      </dgm:t>
    </dgm:pt>
    <dgm:pt modelId="{F1267E19-2CB1-4382-9F86-D68A8D0BD454}" type="sibTrans" cxnId="{CB98835C-EA9E-45D5-B795-208A529A91BB}">
      <dgm:prSet/>
      <dgm:spPr/>
      <dgm:t>
        <a:bodyPr/>
        <a:lstStyle/>
        <a:p>
          <a:endParaRPr lang="en-US"/>
        </a:p>
      </dgm:t>
    </dgm:pt>
    <dgm:pt modelId="{B5A0D4FD-50DA-4790-8101-5FEEB8480F4E}">
      <dgm:prSet/>
      <dgm:spPr/>
      <dgm:t>
        <a:bodyPr/>
        <a:lstStyle/>
        <a:p>
          <a:r>
            <a:rPr lang="en-US" dirty="0"/>
            <a:t>​2025 – New Concept restaurant​</a:t>
          </a:r>
        </a:p>
      </dgm:t>
    </dgm:pt>
    <dgm:pt modelId="{2443CC5C-0C1B-45A8-973D-F2C310003E85}" type="parTrans" cxnId="{6507C58C-3E83-4991-A838-296E32E9863C}">
      <dgm:prSet/>
      <dgm:spPr/>
      <dgm:t>
        <a:bodyPr/>
        <a:lstStyle/>
        <a:p>
          <a:endParaRPr lang="en-US"/>
        </a:p>
      </dgm:t>
    </dgm:pt>
    <dgm:pt modelId="{1945CAF8-E3FC-4341-B5DA-F397E1D689FB}" type="sibTrans" cxnId="{6507C58C-3E83-4991-A838-296E32E9863C}">
      <dgm:prSet/>
      <dgm:spPr/>
      <dgm:t>
        <a:bodyPr/>
        <a:lstStyle/>
        <a:p>
          <a:endParaRPr lang="en-US"/>
        </a:p>
      </dgm:t>
    </dgm:pt>
    <dgm:pt modelId="{42AFD37B-3D7E-41C5-9C8E-52137B2B5E54}">
      <dgm:prSet/>
      <dgm:spPr/>
      <dgm:t>
        <a:bodyPr/>
        <a:lstStyle/>
        <a:p>
          <a:r>
            <a:rPr lang="en-US" dirty="0"/>
            <a:t>Japanese Cuisine . </a:t>
          </a:r>
          <a:r>
            <a:rPr lang="en-US" dirty="0" err="1"/>
            <a:t>Melcom</a:t>
          </a:r>
          <a:r>
            <a:rPr lang="en-US" dirty="0"/>
            <a:t> starts </a:t>
          </a:r>
          <a:r>
            <a:rPr lang="en-US" err="1"/>
            <a:t>AchimotaMall</a:t>
          </a:r>
          <a:r>
            <a:rPr lang="en-US"/>
            <a:t>​​</a:t>
          </a:r>
          <a:endParaRPr lang="en-US" dirty="0"/>
        </a:p>
      </dgm:t>
    </dgm:pt>
    <dgm:pt modelId="{3D288809-A729-4ADD-B7F2-9B811C501AD6}" type="parTrans" cxnId="{5C03A5D0-BEB7-44BC-BF19-A1942F218404}">
      <dgm:prSet/>
      <dgm:spPr/>
      <dgm:t>
        <a:bodyPr/>
        <a:lstStyle/>
        <a:p>
          <a:endParaRPr lang="en-US"/>
        </a:p>
      </dgm:t>
    </dgm:pt>
    <dgm:pt modelId="{B1547774-FA88-4C85-8093-8E8E32E8B3FC}" type="sibTrans" cxnId="{5C03A5D0-BEB7-44BC-BF19-A1942F218404}">
      <dgm:prSet/>
      <dgm:spPr/>
      <dgm:t>
        <a:bodyPr/>
        <a:lstStyle/>
        <a:p>
          <a:endParaRPr lang="en-US"/>
        </a:p>
      </dgm:t>
    </dgm:pt>
    <dgm:pt modelId="{17AC2511-712C-46D2-90DE-9A9DFC921A02}" type="pres">
      <dgm:prSet presAssocID="{BD509492-A165-40C8-872A-15F6E9479A38}" presName="Name0" presStyleCnt="0">
        <dgm:presLayoutVars>
          <dgm:dir/>
          <dgm:resizeHandles val="exact"/>
        </dgm:presLayoutVars>
      </dgm:prSet>
      <dgm:spPr/>
    </dgm:pt>
    <dgm:pt modelId="{8517127E-BDB1-401C-9145-C2B97688FB62}" type="pres">
      <dgm:prSet presAssocID="{0DAEEAE1-9F70-40C7-8E5F-4B53A56DA5C0}" presName="node" presStyleLbl="node1" presStyleIdx="0" presStyleCnt="8">
        <dgm:presLayoutVars>
          <dgm:bulletEnabled val="1"/>
        </dgm:presLayoutVars>
      </dgm:prSet>
      <dgm:spPr/>
    </dgm:pt>
    <dgm:pt modelId="{9193B9CD-21C8-4D5B-B06B-2F9A00C5CE56}" type="pres">
      <dgm:prSet presAssocID="{9D5C14C8-74AF-47AC-8E22-C6F743D8B906}" presName="sibTrans" presStyleLbl="sibTrans1D1" presStyleIdx="0" presStyleCnt="7"/>
      <dgm:spPr/>
    </dgm:pt>
    <dgm:pt modelId="{AA4BABB1-D5A9-43C1-9D0A-6D0252875ACF}" type="pres">
      <dgm:prSet presAssocID="{9D5C14C8-74AF-47AC-8E22-C6F743D8B906}" presName="connectorText" presStyleLbl="sibTrans1D1" presStyleIdx="0" presStyleCnt="7"/>
      <dgm:spPr/>
    </dgm:pt>
    <dgm:pt modelId="{B04BBCA9-0ED1-4E9D-91C0-E2A54601E57B}" type="pres">
      <dgm:prSet presAssocID="{5E6AE9BD-7087-4422-9348-AD3F64E7651B}" presName="node" presStyleLbl="node1" presStyleIdx="1" presStyleCnt="8">
        <dgm:presLayoutVars>
          <dgm:bulletEnabled val="1"/>
        </dgm:presLayoutVars>
      </dgm:prSet>
      <dgm:spPr/>
    </dgm:pt>
    <dgm:pt modelId="{A1C914F3-6B86-4F66-BE10-4368ADDFE6D5}" type="pres">
      <dgm:prSet presAssocID="{BA0EDE34-BA0A-4EC5-8116-6886E49EBEF0}" presName="sibTrans" presStyleLbl="sibTrans1D1" presStyleIdx="1" presStyleCnt="7"/>
      <dgm:spPr/>
    </dgm:pt>
    <dgm:pt modelId="{98D3DDF4-1F66-4251-A3E9-0DE735BE2B69}" type="pres">
      <dgm:prSet presAssocID="{BA0EDE34-BA0A-4EC5-8116-6886E49EBEF0}" presName="connectorText" presStyleLbl="sibTrans1D1" presStyleIdx="1" presStyleCnt="7"/>
      <dgm:spPr/>
    </dgm:pt>
    <dgm:pt modelId="{0DF61F4F-3B5D-49A8-BA06-2B97C22E2820}" type="pres">
      <dgm:prSet presAssocID="{D5E9C925-5255-47C7-A1E1-9C3CE88129C3}" presName="node" presStyleLbl="node1" presStyleIdx="2" presStyleCnt="8">
        <dgm:presLayoutVars>
          <dgm:bulletEnabled val="1"/>
        </dgm:presLayoutVars>
      </dgm:prSet>
      <dgm:spPr/>
    </dgm:pt>
    <dgm:pt modelId="{88B53C72-EE28-46C6-9925-947BA7BA2B9B}" type="pres">
      <dgm:prSet presAssocID="{2138C26B-3718-452B-AA53-F3A9B0E78216}" presName="sibTrans" presStyleLbl="sibTrans1D1" presStyleIdx="2" presStyleCnt="7"/>
      <dgm:spPr/>
    </dgm:pt>
    <dgm:pt modelId="{86A43A28-4204-4876-8312-33D1C6BDABA3}" type="pres">
      <dgm:prSet presAssocID="{2138C26B-3718-452B-AA53-F3A9B0E78216}" presName="connectorText" presStyleLbl="sibTrans1D1" presStyleIdx="2" presStyleCnt="7"/>
      <dgm:spPr/>
    </dgm:pt>
    <dgm:pt modelId="{A9E7E2AD-06D8-4169-BE01-4343D4846AB7}" type="pres">
      <dgm:prSet presAssocID="{C1068599-D785-42E7-8A89-BCEB43A21E59}" presName="node" presStyleLbl="node1" presStyleIdx="3" presStyleCnt="8">
        <dgm:presLayoutVars>
          <dgm:bulletEnabled val="1"/>
        </dgm:presLayoutVars>
      </dgm:prSet>
      <dgm:spPr/>
    </dgm:pt>
    <dgm:pt modelId="{C0460F44-D6DC-4491-B2B3-7EAC1996AB4E}" type="pres">
      <dgm:prSet presAssocID="{1D668B8F-BEFE-4563-A0BB-1F211D0CCE58}" presName="sibTrans" presStyleLbl="sibTrans1D1" presStyleIdx="3" presStyleCnt="7"/>
      <dgm:spPr/>
    </dgm:pt>
    <dgm:pt modelId="{50C86F78-EEFC-47CC-892C-DF4E97D4BC8E}" type="pres">
      <dgm:prSet presAssocID="{1D668B8F-BEFE-4563-A0BB-1F211D0CCE58}" presName="connectorText" presStyleLbl="sibTrans1D1" presStyleIdx="3" presStyleCnt="7"/>
      <dgm:spPr/>
    </dgm:pt>
    <dgm:pt modelId="{20B213B2-19BD-4D82-8632-7D6C96C88A37}" type="pres">
      <dgm:prSet presAssocID="{B1A1752C-D980-406C-86C3-54B075DAB64F}" presName="node" presStyleLbl="node1" presStyleIdx="4" presStyleCnt="8">
        <dgm:presLayoutVars>
          <dgm:bulletEnabled val="1"/>
        </dgm:presLayoutVars>
      </dgm:prSet>
      <dgm:spPr/>
    </dgm:pt>
    <dgm:pt modelId="{91E90937-2E93-4378-A395-9C38FF5683BA}" type="pres">
      <dgm:prSet presAssocID="{34259B62-FD5D-492E-9836-489E7700439C}" presName="sibTrans" presStyleLbl="sibTrans1D1" presStyleIdx="4" presStyleCnt="7"/>
      <dgm:spPr/>
    </dgm:pt>
    <dgm:pt modelId="{3222DF96-3F32-4754-8597-C2B6FE5E66BD}" type="pres">
      <dgm:prSet presAssocID="{34259B62-FD5D-492E-9836-489E7700439C}" presName="connectorText" presStyleLbl="sibTrans1D1" presStyleIdx="4" presStyleCnt="7"/>
      <dgm:spPr/>
    </dgm:pt>
    <dgm:pt modelId="{2891CD9A-AEC7-4D43-9751-6D9E3E923F70}" type="pres">
      <dgm:prSet presAssocID="{2072C40E-EAF5-4A62-B3B8-572AF9FC349A}" presName="node" presStyleLbl="node1" presStyleIdx="5" presStyleCnt="8">
        <dgm:presLayoutVars>
          <dgm:bulletEnabled val="1"/>
        </dgm:presLayoutVars>
      </dgm:prSet>
      <dgm:spPr/>
    </dgm:pt>
    <dgm:pt modelId="{C52CA188-EFA1-4F97-8C23-05141AE04F4D}" type="pres">
      <dgm:prSet presAssocID="{F1267E19-2CB1-4382-9F86-D68A8D0BD454}" presName="sibTrans" presStyleLbl="sibTrans1D1" presStyleIdx="5" presStyleCnt="7"/>
      <dgm:spPr/>
    </dgm:pt>
    <dgm:pt modelId="{00ADB95D-2577-471E-BC35-A2EA92D70C7C}" type="pres">
      <dgm:prSet presAssocID="{F1267E19-2CB1-4382-9F86-D68A8D0BD454}" presName="connectorText" presStyleLbl="sibTrans1D1" presStyleIdx="5" presStyleCnt="7"/>
      <dgm:spPr/>
    </dgm:pt>
    <dgm:pt modelId="{4E99CD06-4D7E-4345-B8E7-4CD2ECE85B12}" type="pres">
      <dgm:prSet presAssocID="{B5A0D4FD-50DA-4790-8101-5FEEB8480F4E}" presName="node" presStyleLbl="node1" presStyleIdx="6" presStyleCnt="8">
        <dgm:presLayoutVars>
          <dgm:bulletEnabled val="1"/>
        </dgm:presLayoutVars>
      </dgm:prSet>
      <dgm:spPr/>
    </dgm:pt>
    <dgm:pt modelId="{F13EA37D-C03D-4D8F-8323-F5D8D04DA67E}" type="pres">
      <dgm:prSet presAssocID="{1945CAF8-E3FC-4341-B5DA-F397E1D689FB}" presName="sibTrans" presStyleLbl="sibTrans1D1" presStyleIdx="6" presStyleCnt="7"/>
      <dgm:spPr/>
    </dgm:pt>
    <dgm:pt modelId="{CE62F8D0-C1BF-42BF-B4CC-B669EF965FDC}" type="pres">
      <dgm:prSet presAssocID="{1945CAF8-E3FC-4341-B5DA-F397E1D689FB}" presName="connectorText" presStyleLbl="sibTrans1D1" presStyleIdx="6" presStyleCnt="7"/>
      <dgm:spPr/>
    </dgm:pt>
    <dgm:pt modelId="{D60C2655-9AF1-4BE8-A1F4-17651F0B7E65}" type="pres">
      <dgm:prSet presAssocID="{42AFD37B-3D7E-41C5-9C8E-52137B2B5E54}" presName="node" presStyleLbl="node1" presStyleIdx="7" presStyleCnt="8">
        <dgm:presLayoutVars>
          <dgm:bulletEnabled val="1"/>
        </dgm:presLayoutVars>
      </dgm:prSet>
      <dgm:spPr/>
    </dgm:pt>
  </dgm:ptLst>
  <dgm:cxnLst>
    <dgm:cxn modelId="{D7756203-45F0-4ED6-8DE2-334676ABD7EE}" type="presOf" srcId="{5E6AE9BD-7087-4422-9348-AD3F64E7651B}" destId="{B04BBCA9-0ED1-4E9D-91C0-E2A54601E57B}" srcOrd="0" destOrd="0" presId="urn:microsoft.com/office/officeart/2016/7/layout/RepeatingBendingProcessNew"/>
    <dgm:cxn modelId="{49212424-EE16-4B64-AF66-AA403BEC41F9}" type="presOf" srcId="{B5A0D4FD-50DA-4790-8101-5FEEB8480F4E}" destId="{4E99CD06-4D7E-4345-B8E7-4CD2ECE85B12}" srcOrd="0" destOrd="0" presId="urn:microsoft.com/office/officeart/2016/7/layout/RepeatingBendingProcessNew"/>
    <dgm:cxn modelId="{CB98835C-EA9E-45D5-B795-208A529A91BB}" srcId="{BD509492-A165-40C8-872A-15F6E9479A38}" destId="{2072C40E-EAF5-4A62-B3B8-572AF9FC349A}" srcOrd="5" destOrd="0" parTransId="{7F00DDAC-1852-4A93-B015-FE217852BC59}" sibTransId="{F1267E19-2CB1-4382-9F86-D68A8D0BD454}"/>
    <dgm:cxn modelId="{E408C24B-C03A-4102-B615-A1E9C797AD4F}" type="presOf" srcId="{2072C40E-EAF5-4A62-B3B8-572AF9FC349A}" destId="{2891CD9A-AEC7-4D43-9751-6D9E3E923F70}" srcOrd="0" destOrd="0" presId="urn:microsoft.com/office/officeart/2016/7/layout/RepeatingBendingProcessNew"/>
    <dgm:cxn modelId="{7A859C70-B4CB-483D-8299-66460A644FA4}" srcId="{BD509492-A165-40C8-872A-15F6E9479A38}" destId="{D5E9C925-5255-47C7-A1E1-9C3CE88129C3}" srcOrd="2" destOrd="0" parTransId="{9D131BE8-8B66-4EA0-9732-B6D9694C1DB8}" sibTransId="{2138C26B-3718-452B-AA53-F3A9B0E78216}"/>
    <dgm:cxn modelId="{9945D070-030B-4E8E-83C6-222D259F2FB0}" type="presOf" srcId="{BA0EDE34-BA0A-4EC5-8116-6886E49EBEF0}" destId="{98D3DDF4-1F66-4251-A3E9-0DE735BE2B69}" srcOrd="1" destOrd="0" presId="urn:microsoft.com/office/officeart/2016/7/layout/RepeatingBendingProcessNew"/>
    <dgm:cxn modelId="{61D39553-EC9F-4BBE-8D1C-D65790BF789C}" type="presOf" srcId="{34259B62-FD5D-492E-9836-489E7700439C}" destId="{3222DF96-3F32-4754-8597-C2B6FE5E66BD}" srcOrd="1" destOrd="0" presId="urn:microsoft.com/office/officeart/2016/7/layout/RepeatingBendingProcessNew"/>
    <dgm:cxn modelId="{8B932177-15FB-4AFB-A19C-2968A7BE4446}" srcId="{BD509492-A165-40C8-872A-15F6E9479A38}" destId="{5E6AE9BD-7087-4422-9348-AD3F64E7651B}" srcOrd="1" destOrd="0" parTransId="{1FAA7B58-5A1F-4281-98F0-627D10048412}" sibTransId="{BA0EDE34-BA0A-4EC5-8116-6886E49EBEF0}"/>
    <dgm:cxn modelId="{4EF77158-5BB5-4313-9C1A-3771D541C1BC}" type="presOf" srcId="{D5E9C925-5255-47C7-A1E1-9C3CE88129C3}" destId="{0DF61F4F-3B5D-49A8-BA06-2B97C22E2820}" srcOrd="0" destOrd="0" presId="urn:microsoft.com/office/officeart/2016/7/layout/RepeatingBendingProcessNew"/>
    <dgm:cxn modelId="{F269C478-A4F6-4B7B-A774-808F38379498}" type="presOf" srcId="{BA0EDE34-BA0A-4EC5-8116-6886E49EBEF0}" destId="{A1C914F3-6B86-4F66-BE10-4368ADDFE6D5}" srcOrd="0" destOrd="0" presId="urn:microsoft.com/office/officeart/2016/7/layout/RepeatingBendingProcessNew"/>
    <dgm:cxn modelId="{85ABCC7A-C9A4-4AA4-9A5D-CDD7BEC2A85A}" type="presOf" srcId="{C1068599-D785-42E7-8A89-BCEB43A21E59}" destId="{A9E7E2AD-06D8-4169-BE01-4343D4846AB7}" srcOrd="0" destOrd="0" presId="urn:microsoft.com/office/officeart/2016/7/layout/RepeatingBendingProcessNew"/>
    <dgm:cxn modelId="{6B82F97B-4F4A-44F6-93E9-A5D4171C2036}" type="presOf" srcId="{9D5C14C8-74AF-47AC-8E22-C6F743D8B906}" destId="{AA4BABB1-D5A9-43C1-9D0A-6D0252875ACF}" srcOrd="1" destOrd="0" presId="urn:microsoft.com/office/officeart/2016/7/layout/RepeatingBendingProcessNew"/>
    <dgm:cxn modelId="{6C88EC7C-C1A2-4C71-992A-9FFC48BC9A03}" type="presOf" srcId="{B1A1752C-D980-406C-86C3-54B075DAB64F}" destId="{20B213B2-19BD-4D82-8632-7D6C96C88A37}" srcOrd="0" destOrd="0" presId="urn:microsoft.com/office/officeart/2016/7/layout/RepeatingBendingProcessNew"/>
    <dgm:cxn modelId="{7267877F-9B81-4790-A0B8-FBADF28B7AE6}" type="presOf" srcId="{BD509492-A165-40C8-872A-15F6E9479A38}" destId="{17AC2511-712C-46D2-90DE-9A9DFC921A02}" srcOrd="0" destOrd="0" presId="urn:microsoft.com/office/officeart/2016/7/layout/RepeatingBendingProcessNew"/>
    <dgm:cxn modelId="{C6195F84-D411-4D9D-8978-22DAAAFF3D55}" type="presOf" srcId="{1945CAF8-E3FC-4341-B5DA-F397E1D689FB}" destId="{CE62F8D0-C1BF-42BF-B4CC-B669EF965FDC}" srcOrd="1" destOrd="0" presId="urn:microsoft.com/office/officeart/2016/7/layout/RepeatingBendingProcessNew"/>
    <dgm:cxn modelId="{79555F85-03E1-4710-82C3-EA20E1C6DDEB}" type="presOf" srcId="{1D668B8F-BEFE-4563-A0BB-1F211D0CCE58}" destId="{50C86F78-EEFC-47CC-892C-DF4E97D4BC8E}" srcOrd="1" destOrd="0" presId="urn:microsoft.com/office/officeart/2016/7/layout/RepeatingBendingProcessNew"/>
    <dgm:cxn modelId="{6507C58C-3E83-4991-A838-296E32E9863C}" srcId="{BD509492-A165-40C8-872A-15F6E9479A38}" destId="{B5A0D4FD-50DA-4790-8101-5FEEB8480F4E}" srcOrd="6" destOrd="0" parTransId="{2443CC5C-0C1B-45A8-973D-F2C310003E85}" sibTransId="{1945CAF8-E3FC-4341-B5DA-F397E1D689FB}"/>
    <dgm:cxn modelId="{790E95A0-4CC7-4463-8D05-8485318EF552}" type="presOf" srcId="{34259B62-FD5D-492E-9836-489E7700439C}" destId="{91E90937-2E93-4378-A395-9C38FF5683BA}" srcOrd="0" destOrd="0" presId="urn:microsoft.com/office/officeart/2016/7/layout/RepeatingBendingProcessNew"/>
    <dgm:cxn modelId="{CD9E56A3-A930-4E9C-A41B-D5552658D91B}" type="presOf" srcId="{F1267E19-2CB1-4382-9F86-D68A8D0BD454}" destId="{00ADB95D-2577-471E-BC35-A2EA92D70C7C}" srcOrd="1" destOrd="0" presId="urn:microsoft.com/office/officeart/2016/7/layout/RepeatingBendingProcessNew"/>
    <dgm:cxn modelId="{AB079CA9-9C04-46D7-A733-6B13A37A1E3A}" type="presOf" srcId="{2138C26B-3718-452B-AA53-F3A9B0E78216}" destId="{86A43A28-4204-4876-8312-33D1C6BDABA3}" srcOrd="1" destOrd="0" presId="urn:microsoft.com/office/officeart/2016/7/layout/RepeatingBendingProcessNew"/>
    <dgm:cxn modelId="{2C6A1BB0-929C-4582-81F8-0FBCD8A6DC42}" type="presOf" srcId="{2138C26B-3718-452B-AA53-F3A9B0E78216}" destId="{88B53C72-EE28-46C6-9925-947BA7BA2B9B}" srcOrd="0" destOrd="0" presId="urn:microsoft.com/office/officeart/2016/7/layout/RepeatingBendingProcessNew"/>
    <dgm:cxn modelId="{4DCC31B9-2A2F-440E-AC68-DAB544E1D351}" type="presOf" srcId="{42AFD37B-3D7E-41C5-9C8E-52137B2B5E54}" destId="{D60C2655-9AF1-4BE8-A1F4-17651F0B7E65}" srcOrd="0" destOrd="0" presId="urn:microsoft.com/office/officeart/2016/7/layout/RepeatingBendingProcessNew"/>
    <dgm:cxn modelId="{0F10F1C0-AABE-4E49-BE84-55E3411241A4}" type="presOf" srcId="{1945CAF8-E3FC-4341-B5DA-F397E1D689FB}" destId="{F13EA37D-C03D-4D8F-8323-F5D8D04DA67E}" srcOrd="0" destOrd="0" presId="urn:microsoft.com/office/officeart/2016/7/layout/RepeatingBendingProcessNew"/>
    <dgm:cxn modelId="{9AB2EFC5-B219-40F7-BB43-79BEC724B387}" srcId="{BD509492-A165-40C8-872A-15F6E9479A38}" destId="{0DAEEAE1-9F70-40C7-8E5F-4B53A56DA5C0}" srcOrd="0" destOrd="0" parTransId="{9C2FDF9D-1F1D-41BE-B9B1-FA4929CF9C87}" sibTransId="{9D5C14C8-74AF-47AC-8E22-C6F743D8B906}"/>
    <dgm:cxn modelId="{F07A70CF-3564-4F16-9499-EE40EB7D64F9}" srcId="{BD509492-A165-40C8-872A-15F6E9479A38}" destId="{C1068599-D785-42E7-8A89-BCEB43A21E59}" srcOrd="3" destOrd="0" parTransId="{D45F8A02-3267-49B9-AA4F-8397A26D6DE9}" sibTransId="{1D668B8F-BEFE-4563-A0BB-1F211D0CCE58}"/>
    <dgm:cxn modelId="{5C03A5D0-BEB7-44BC-BF19-A1942F218404}" srcId="{BD509492-A165-40C8-872A-15F6E9479A38}" destId="{42AFD37B-3D7E-41C5-9C8E-52137B2B5E54}" srcOrd="7" destOrd="0" parTransId="{3D288809-A729-4ADD-B7F2-9B811C501AD6}" sibTransId="{B1547774-FA88-4C85-8093-8E8E32E8B3FC}"/>
    <dgm:cxn modelId="{9ADA82D5-493A-4EEE-AF94-86A917E0EB7E}" type="presOf" srcId="{9D5C14C8-74AF-47AC-8E22-C6F743D8B906}" destId="{9193B9CD-21C8-4D5B-B06B-2F9A00C5CE56}" srcOrd="0" destOrd="0" presId="urn:microsoft.com/office/officeart/2016/7/layout/RepeatingBendingProcessNew"/>
    <dgm:cxn modelId="{70E1E6DA-AD72-443A-B9E3-A674B8D21E0E}" type="presOf" srcId="{1D668B8F-BEFE-4563-A0BB-1F211D0CCE58}" destId="{C0460F44-D6DC-4491-B2B3-7EAC1996AB4E}" srcOrd="0" destOrd="0" presId="urn:microsoft.com/office/officeart/2016/7/layout/RepeatingBendingProcessNew"/>
    <dgm:cxn modelId="{439AEFE1-AF05-4474-A700-06ADF4A48723}" srcId="{BD509492-A165-40C8-872A-15F6E9479A38}" destId="{B1A1752C-D980-406C-86C3-54B075DAB64F}" srcOrd="4" destOrd="0" parTransId="{63510253-9D9D-4718-8EDA-E3A9FB664ED5}" sibTransId="{34259B62-FD5D-492E-9836-489E7700439C}"/>
    <dgm:cxn modelId="{55A815EF-DBF2-4A3C-A31A-9B98D02C7705}" type="presOf" srcId="{0DAEEAE1-9F70-40C7-8E5F-4B53A56DA5C0}" destId="{8517127E-BDB1-401C-9145-C2B97688FB62}" srcOrd="0" destOrd="0" presId="urn:microsoft.com/office/officeart/2016/7/layout/RepeatingBendingProcessNew"/>
    <dgm:cxn modelId="{FB10ADF4-691D-4BC3-9F80-2589FD53743A}" type="presOf" srcId="{F1267E19-2CB1-4382-9F86-D68A8D0BD454}" destId="{C52CA188-EFA1-4F97-8C23-05141AE04F4D}" srcOrd="0" destOrd="0" presId="urn:microsoft.com/office/officeart/2016/7/layout/RepeatingBendingProcessNew"/>
    <dgm:cxn modelId="{C3FBA75E-C5D5-4704-B52A-BA64D8A15509}" type="presParOf" srcId="{17AC2511-712C-46D2-90DE-9A9DFC921A02}" destId="{8517127E-BDB1-401C-9145-C2B97688FB62}" srcOrd="0" destOrd="0" presId="urn:microsoft.com/office/officeart/2016/7/layout/RepeatingBendingProcessNew"/>
    <dgm:cxn modelId="{54111E02-231C-428E-8CF6-03943526D6FA}" type="presParOf" srcId="{17AC2511-712C-46D2-90DE-9A9DFC921A02}" destId="{9193B9CD-21C8-4D5B-B06B-2F9A00C5CE56}" srcOrd="1" destOrd="0" presId="urn:microsoft.com/office/officeart/2016/7/layout/RepeatingBendingProcessNew"/>
    <dgm:cxn modelId="{109DA053-45DB-44A5-A578-5573CE119FA4}" type="presParOf" srcId="{9193B9CD-21C8-4D5B-B06B-2F9A00C5CE56}" destId="{AA4BABB1-D5A9-43C1-9D0A-6D0252875ACF}" srcOrd="0" destOrd="0" presId="urn:microsoft.com/office/officeart/2016/7/layout/RepeatingBendingProcessNew"/>
    <dgm:cxn modelId="{F45DBF9A-BD35-48D1-9A83-1952EF21D78D}" type="presParOf" srcId="{17AC2511-712C-46D2-90DE-9A9DFC921A02}" destId="{B04BBCA9-0ED1-4E9D-91C0-E2A54601E57B}" srcOrd="2" destOrd="0" presId="urn:microsoft.com/office/officeart/2016/7/layout/RepeatingBendingProcessNew"/>
    <dgm:cxn modelId="{3DEDDAB8-4896-4C6E-9386-78C59E57A7DE}" type="presParOf" srcId="{17AC2511-712C-46D2-90DE-9A9DFC921A02}" destId="{A1C914F3-6B86-4F66-BE10-4368ADDFE6D5}" srcOrd="3" destOrd="0" presId="urn:microsoft.com/office/officeart/2016/7/layout/RepeatingBendingProcessNew"/>
    <dgm:cxn modelId="{967036E5-F10C-4EC9-AD65-CAEF1E564080}" type="presParOf" srcId="{A1C914F3-6B86-4F66-BE10-4368ADDFE6D5}" destId="{98D3DDF4-1F66-4251-A3E9-0DE735BE2B69}" srcOrd="0" destOrd="0" presId="urn:microsoft.com/office/officeart/2016/7/layout/RepeatingBendingProcessNew"/>
    <dgm:cxn modelId="{2CD662B9-BC6C-403B-BAFE-B694FF8567EA}" type="presParOf" srcId="{17AC2511-712C-46D2-90DE-9A9DFC921A02}" destId="{0DF61F4F-3B5D-49A8-BA06-2B97C22E2820}" srcOrd="4" destOrd="0" presId="urn:microsoft.com/office/officeart/2016/7/layout/RepeatingBendingProcessNew"/>
    <dgm:cxn modelId="{C3777C7F-ED34-4576-BFEB-9CAF0A765AAD}" type="presParOf" srcId="{17AC2511-712C-46D2-90DE-9A9DFC921A02}" destId="{88B53C72-EE28-46C6-9925-947BA7BA2B9B}" srcOrd="5" destOrd="0" presId="urn:microsoft.com/office/officeart/2016/7/layout/RepeatingBendingProcessNew"/>
    <dgm:cxn modelId="{A7957AA7-DCF0-4182-A3D5-6B11C6EA1752}" type="presParOf" srcId="{88B53C72-EE28-46C6-9925-947BA7BA2B9B}" destId="{86A43A28-4204-4876-8312-33D1C6BDABA3}" srcOrd="0" destOrd="0" presId="urn:microsoft.com/office/officeart/2016/7/layout/RepeatingBendingProcessNew"/>
    <dgm:cxn modelId="{4F1D0467-B850-421A-80F4-D6E903D0E269}" type="presParOf" srcId="{17AC2511-712C-46D2-90DE-9A9DFC921A02}" destId="{A9E7E2AD-06D8-4169-BE01-4343D4846AB7}" srcOrd="6" destOrd="0" presId="urn:microsoft.com/office/officeart/2016/7/layout/RepeatingBendingProcessNew"/>
    <dgm:cxn modelId="{4EAFE660-71FB-4F9F-B7DB-705CC1DAFEEF}" type="presParOf" srcId="{17AC2511-712C-46D2-90DE-9A9DFC921A02}" destId="{C0460F44-D6DC-4491-B2B3-7EAC1996AB4E}" srcOrd="7" destOrd="0" presId="urn:microsoft.com/office/officeart/2016/7/layout/RepeatingBendingProcessNew"/>
    <dgm:cxn modelId="{45E6A220-8E82-4A5A-AFFD-9567485E0808}" type="presParOf" srcId="{C0460F44-D6DC-4491-B2B3-7EAC1996AB4E}" destId="{50C86F78-EEFC-47CC-892C-DF4E97D4BC8E}" srcOrd="0" destOrd="0" presId="urn:microsoft.com/office/officeart/2016/7/layout/RepeatingBendingProcessNew"/>
    <dgm:cxn modelId="{81268EB0-1B69-47B4-B98B-003F5C805382}" type="presParOf" srcId="{17AC2511-712C-46D2-90DE-9A9DFC921A02}" destId="{20B213B2-19BD-4D82-8632-7D6C96C88A37}" srcOrd="8" destOrd="0" presId="urn:microsoft.com/office/officeart/2016/7/layout/RepeatingBendingProcessNew"/>
    <dgm:cxn modelId="{AD277AD5-D117-4068-959D-D941D04B79F9}" type="presParOf" srcId="{17AC2511-712C-46D2-90DE-9A9DFC921A02}" destId="{91E90937-2E93-4378-A395-9C38FF5683BA}" srcOrd="9" destOrd="0" presId="urn:microsoft.com/office/officeart/2016/7/layout/RepeatingBendingProcessNew"/>
    <dgm:cxn modelId="{5C07918D-B6EA-48A4-9D3C-2232E776C883}" type="presParOf" srcId="{91E90937-2E93-4378-A395-9C38FF5683BA}" destId="{3222DF96-3F32-4754-8597-C2B6FE5E66BD}" srcOrd="0" destOrd="0" presId="urn:microsoft.com/office/officeart/2016/7/layout/RepeatingBendingProcessNew"/>
    <dgm:cxn modelId="{C91DE96B-1B74-47AB-B602-68E88632858D}" type="presParOf" srcId="{17AC2511-712C-46D2-90DE-9A9DFC921A02}" destId="{2891CD9A-AEC7-4D43-9751-6D9E3E923F70}" srcOrd="10" destOrd="0" presId="urn:microsoft.com/office/officeart/2016/7/layout/RepeatingBendingProcessNew"/>
    <dgm:cxn modelId="{C5D1A2B2-6B7A-4397-B7F2-38C99DDC3255}" type="presParOf" srcId="{17AC2511-712C-46D2-90DE-9A9DFC921A02}" destId="{C52CA188-EFA1-4F97-8C23-05141AE04F4D}" srcOrd="11" destOrd="0" presId="urn:microsoft.com/office/officeart/2016/7/layout/RepeatingBendingProcessNew"/>
    <dgm:cxn modelId="{D73A9708-02C4-4BC1-9E5C-F7B603ED71D9}" type="presParOf" srcId="{C52CA188-EFA1-4F97-8C23-05141AE04F4D}" destId="{00ADB95D-2577-471E-BC35-A2EA92D70C7C}" srcOrd="0" destOrd="0" presId="urn:microsoft.com/office/officeart/2016/7/layout/RepeatingBendingProcessNew"/>
    <dgm:cxn modelId="{24AD4DA5-0F94-4527-8473-DCB900B8B7BD}" type="presParOf" srcId="{17AC2511-712C-46D2-90DE-9A9DFC921A02}" destId="{4E99CD06-4D7E-4345-B8E7-4CD2ECE85B12}" srcOrd="12" destOrd="0" presId="urn:microsoft.com/office/officeart/2016/7/layout/RepeatingBendingProcessNew"/>
    <dgm:cxn modelId="{60E31EAE-AD53-4744-A7B6-ED006C0AC96A}" type="presParOf" srcId="{17AC2511-712C-46D2-90DE-9A9DFC921A02}" destId="{F13EA37D-C03D-4D8F-8323-F5D8D04DA67E}" srcOrd="13" destOrd="0" presId="urn:microsoft.com/office/officeart/2016/7/layout/RepeatingBendingProcessNew"/>
    <dgm:cxn modelId="{D61A26C3-9F70-4526-8EA7-8B77391A52B6}" type="presParOf" srcId="{F13EA37D-C03D-4D8F-8323-F5D8D04DA67E}" destId="{CE62F8D0-C1BF-42BF-B4CC-B669EF965FDC}" srcOrd="0" destOrd="0" presId="urn:microsoft.com/office/officeart/2016/7/layout/RepeatingBendingProcessNew"/>
    <dgm:cxn modelId="{5A9FD548-F937-4950-B1B1-DFA246F98405}" type="presParOf" srcId="{17AC2511-712C-46D2-90DE-9A9DFC921A02}" destId="{D60C2655-9AF1-4BE8-A1F4-17651F0B7E65}" srcOrd="14"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FCF27-4261-4DB5-9C6E-EF2C52B61167}">
      <dsp:nvSpPr>
        <dsp:cNvPr id="0" name=""/>
        <dsp:cNvSpPr/>
      </dsp:nvSpPr>
      <dsp:spPr>
        <a:xfrm>
          <a:off x="604851" y="383491"/>
          <a:ext cx="878574" cy="8785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33F175-9024-4548-90C9-A47D6CAAFAC9}">
      <dsp:nvSpPr>
        <dsp:cNvPr id="0" name=""/>
        <dsp:cNvSpPr/>
      </dsp:nvSpPr>
      <dsp:spPr>
        <a:xfrm>
          <a:off x="67945" y="1596308"/>
          <a:ext cx="1952387"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i="1" kern="1200" dirty="0">
              <a:latin typeface="+mj-lt"/>
            </a:rPr>
            <a:t>36 years of Retail experience in Ghana </a:t>
          </a:r>
          <a:r>
            <a:rPr lang="en-US" sz="1200" kern="1200" dirty="0">
              <a:latin typeface="+mj-lt"/>
            </a:rPr>
            <a:t>– “The </a:t>
          </a:r>
          <a:r>
            <a:rPr lang="en-US" sz="1200" kern="1200" dirty="0" err="1">
              <a:latin typeface="+mj-lt"/>
            </a:rPr>
            <a:t>largestorganized</a:t>
          </a:r>
          <a:r>
            <a:rPr lang="en-US" sz="1200" kern="1200" dirty="0">
              <a:latin typeface="+mj-lt"/>
            </a:rPr>
            <a:t> home grown retail entity”, Truly where GHANASHOPS.</a:t>
          </a:r>
        </a:p>
      </dsp:txBody>
      <dsp:txXfrm>
        <a:off x="67945" y="1596308"/>
        <a:ext cx="1952387" cy="945000"/>
      </dsp:txXfrm>
    </dsp:sp>
    <dsp:sp modelId="{41DB5773-DFF4-4605-8B04-60DC19390204}">
      <dsp:nvSpPr>
        <dsp:cNvPr id="0" name=""/>
        <dsp:cNvSpPr/>
      </dsp:nvSpPr>
      <dsp:spPr>
        <a:xfrm>
          <a:off x="2898906" y="383491"/>
          <a:ext cx="878574" cy="8785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875EC6-3824-451F-B355-519305AF2B2D}">
      <dsp:nvSpPr>
        <dsp:cNvPr id="0" name=""/>
        <dsp:cNvSpPr/>
      </dsp:nvSpPr>
      <dsp:spPr>
        <a:xfrm>
          <a:off x="2361999" y="1596308"/>
          <a:ext cx="1952387"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i="1" kern="1200" dirty="0">
              <a:latin typeface="+mj-lt"/>
            </a:rPr>
            <a:t>We know the customers </a:t>
          </a:r>
          <a:r>
            <a:rPr lang="en-US" sz="1200" i="1" kern="1200" dirty="0">
              <a:latin typeface="+mj-lt"/>
            </a:rPr>
            <a:t>better </a:t>
          </a:r>
          <a:r>
            <a:rPr lang="en-US" sz="1200" kern="1200" dirty="0">
              <a:latin typeface="+mj-lt"/>
            </a:rPr>
            <a:t>than anyone else does.</a:t>
          </a:r>
        </a:p>
      </dsp:txBody>
      <dsp:txXfrm>
        <a:off x="2361999" y="1596308"/>
        <a:ext cx="1952387" cy="945000"/>
      </dsp:txXfrm>
    </dsp:sp>
    <dsp:sp modelId="{22A40447-E374-4995-8154-850AA9BC9E84}">
      <dsp:nvSpPr>
        <dsp:cNvPr id="0" name=""/>
        <dsp:cNvSpPr/>
      </dsp:nvSpPr>
      <dsp:spPr>
        <a:xfrm>
          <a:off x="5192961" y="383491"/>
          <a:ext cx="878574" cy="8785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E317A6-8DF3-44DA-B42A-DAC282B80D75}">
      <dsp:nvSpPr>
        <dsp:cNvPr id="0" name=""/>
        <dsp:cNvSpPr/>
      </dsp:nvSpPr>
      <dsp:spPr>
        <a:xfrm>
          <a:off x="4656054" y="1596308"/>
          <a:ext cx="1952387"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i="1" kern="1200" dirty="0">
              <a:latin typeface="+mj-lt"/>
            </a:rPr>
            <a:t>Expanse / Network </a:t>
          </a:r>
          <a:r>
            <a:rPr lang="en-US" sz="1200" kern="1200" dirty="0">
              <a:latin typeface="+mj-lt"/>
            </a:rPr>
            <a:t>– 80 + multi format retail stores </a:t>
          </a:r>
        </a:p>
      </dsp:txBody>
      <dsp:txXfrm>
        <a:off x="4656054" y="1596308"/>
        <a:ext cx="1952387" cy="945000"/>
      </dsp:txXfrm>
    </dsp:sp>
    <dsp:sp modelId="{188C94D6-9612-4F72-A84B-662389CD803F}">
      <dsp:nvSpPr>
        <dsp:cNvPr id="0" name=""/>
        <dsp:cNvSpPr/>
      </dsp:nvSpPr>
      <dsp:spPr>
        <a:xfrm>
          <a:off x="604851" y="3029404"/>
          <a:ext cx="878574" cy="87857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1C373F-B2F5-4D36-BCD5-998E264D60B1}">
      <dsp:nvSpPr>
        <dsp:cNvPr id="0" name=""/>
        <dsp:cNvSpPr/>
      </dsp:nvSpPr>
      <dsp:spPr>
        <a:xfrm>
          <a:off x="67945" y="4242221"/>
          <a:ext cx="1952387"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i="1" kern="1200" dirty="0">
              <a:latin typeface="+mj-lt"/>
            </a:rPr>
            <a:t>The Value chain </a:t>
          </a:r>
          <a:r>
            <a:rPr lang="en-US" sz="1200" kern="1200" dirty="0">
              <a:latin typeface="+mj-lt"/>
            </a:rPr>
            <a:t>– Sourcing , Warehousing, Logistics &amp; Sales(Retail Wholesale &amp; Online ) all under the same roof.</a:t>
          </a:r>
        </a:p>
      </dsp:txBody>
      <dsp:txXfrm>
        <a:off x="67945" y="4242221"/>
        <a:ext cx="1952387" cy="945000"/>
      </dsp:txXfrm>
    </dsp:sp>
    <dsp:sp modelId="{1BC2A308-DC7B-49FA-BBD6-A85FDEDE6F8D}">
      <dsp:nvSpPr>
        <dsp:cNvPr id="0" name=""/>
        <dsp:cNvSpPr/>
      </dsp:nvSpPr>
      <dsp:spPr>
        <a:xfrm>
          <a:off x="2898906" y="3029404"/>
          <a:ext cx="878574" cy="87857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7F6B43-9699-45FF-991E-BD92629F3755}">
      <dsp:nvSpPr>
        <dsp:cNvPr id="0" name=""/>
        <dsp:cNvSpPr/>
      </dsp:nvSpPr>
      <dsp:spPr>
        <a:xfrm>
          <a:off x="2361999" y="4242221"/>
          <a:ext cx="1952387"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i="1" kern="1200" dirty="0">
              <a:latin typeface="+mj-lt"/>
            </a:rPr>
            <a:t>Brick to Click </a:t>
          </a:r>
          <a:r>
            <a:rPr lang="en-US" sz="1200" kern="1200" dirty="0">
              <a:latin typeface="+mj-lt"/>
            </a:rPr>
            <a:t>– 2</a:t>
          </a:r>
          <a:r>
            <a:rPr lang="en-US" sz="1200" kern="1200" baseline="30000" dirty="0">
              <a:latin typeface="+mj-lt"/>
            </a:rPr>
            <a:t>ND</a:t>
          </a:r>
          <a:r>
            <a:rPr lang="en-US" sz="1200" kern="1200" dirty="0">
              <a:latin typeface="+mj-lt"/>
            </a:rPr>
            <a:t> largest Ecommerce platform with MAU </a:t>
          </a:r>
          <a:r>
            <a:rPr lang="en-US" sz="1200" kern="1200" dirty="0" err="1">
              <a:latin typeface="+mj-lt"/>
            </a:rPr>
            <a:t>inexcess</a:t>
          </a:r>
          <a:r>
            <a:rPr lang="en-US" sz="1200" kern="1200" dirty="0">
              <a:latin typeface="+mj-lt"/>
            </a:rPr>
            <a:t> of 200,000.</a:t>
          </a:r>
        </a:p>
      </dsp:txBody>
      <dsp:txXfrm>
        <a:off x="2361999" y="4242221"/>
        <a:ext cx="1952387" cy="945000"/>
      </dsp:txXfrm>
    </dsp:sp>
    <dsp:sp modelId="{3D40B035-CF20-4951-B981-1C15AD1361A1}">
      <dsp:nvSpPr>
        <dsp:cNvPr id="0" name=""/>
        <dsp:cNvSpPr/>
      </dsp:nvSpPr>
      <dsp:spPr>
        <a:xfrm>
          <a:off x="5192961" y="3029404"/>
          <a:ext cx="878574" cy="87857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447817-DADB-4FF5-837F-D81B4A13662C}">
      <dsp:nvSpPr>
        <dsp:cNvPr id="0" name=""/>
        <dsp:cNvSpPr/>
      </dsp:nvSpPr>
      <dsp:spPr>
        <a:xfrm>
          <a:off x="4457907" y="4206935"/>
          <a:ext cx="1952387"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i="1" kern="1200" dirty="0">
              <a:latin typeface="+mj-lt"/>
            </a:rPr>
            <a:t>Loyal Customer Base </a:t>
          </a:r>
          <a:r>
            <a:rPr lang="en-US" sz="1200" kern="1200" dirty="0">
              <a:latin typeface="+mj-lt"/>
            </a:rPr>
            <a:t>– The Supersaver Club - the </a:t>
          </a:r>
          <a:r>
            <a:rPr lang="en-US" sz="1200" kern="1200" dirty="0" err="1">
              <a:latin typeface="+mj-lt"/>
            </a:rPr>
            <a:t>largestRetail</a:t>
          </a:r>
          <a:r>
            <a:rPr lang="en-US" sz="1200" kern="1200" dirty="0">
              <a:latin typeface="+mj-lt"/>
            </a:rPr>
            <a:t> Loyalty program in the region with 1 million members. </a:t>
          </a:r>
        </a:p>
      </dsp:txBody>
      <dsp:txXfrm>
        <a:off x="4457907" y="4206935"/>
        <a:ext cx="1952387" cy="94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A57102-18EF-4E09-BBDE-98998DE31DBE}">
      <dsp:nvSpPr>
        <dsp:cNvPr id="0" name=""/>
        <dsp:cNvSpPr/>
      </dsp:nvSpPr>
      <dsp:spPr>
        <a:xfrm>
          <a:off x="1369394" y="642783"/>
          <a:ext cx="4287179" cy="4287179"/>
        </a:xfrm>
        <a:prstGeom prst="blockArc">
          <a:avLst>
            <a:gd name="adj1" fmla="val 10800000"/>
            <a:gd name="adj2" fmla="val 16200000"/>
            <a:gd name="adj3" fmla="val 4638"/>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15D4CDE-2A25-4E20-B425-1BC0EC634819}">
      <dsp:nvSpPr>
        <dsp:cNvPr id="0" name=""/>
        <dsp:cNvSpPr/>
      </dsp:nvSpPr>
      <dsp:spPr>
        <a:xfrm>
          <a:off x="1369394" y="642783"/>
          <a:ext cx="4287179" cy="4287179"/>
        </a:xfrm>
        <a:prstGeom prst="blockArc">
          <a:avLst>
            <a:gd name="adj1" fmla="val 5400000"/>
            <a:gd name="adj2" fmla="val 10800000"/>
            <a:gd name="adj3" fmla="val 4638"/>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029368D-808A-4698-92C1-0C1E00C64221}">
      <dsp:nvSpPr>
        <dsp:cNvPr id="0" name=""/>
        <dsp:cNvSpPr/>
      </dsp:nvSpPr>
      <dsp:spPr>
        <a:xfrm>
          <a:off x="1369394" y="642783"/>
          <a:ext cx="4287179" cy="4287179"/>
        </a:xfrm>
        <a:prstGeom prst="blockArc">
          <a:avLst>
            <a:gd name="adj1" fmla="val 0"/>
            <a:gd name="adj2" fmla="val 5400000"/>
            <a:gd name="adj3" fmla="val 4638"/>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3D94C57-4C81-45C3-87DD-5FF9028EF6D1}">
      <dsp:nvSpPr>
        <dsp:cNvPr id="0" name=""/>
        <dsp:cNvSpPr/>
      </dsp:nvSpPr>
      <dsp:spPr>
        <a:xfrm>
          <a:off x="1369394" y="642783"/>
          <a:ext cx="4287179" cy="4287179"/>
        </a:xfrm>
        <a:prstGeom prst="blockArc">
          <a:avLst>
            <a:gd name="adj1" fmla="val 16200000"/>
            <a:gd name="adj2" fmla="val 0"/>
            <a:gd name="adj3" fmla="val 4638"/>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3361DFF-22A1-4B06-A380-4C94A47FBBF1}">
      <dsp:nvSpPr>
        <dsp:cNvPr id="0" name=""/>
        <dsp:cNvSpPr/>
      </dsp:nvSpPr>
      <dsp:spPr>
        <a:xfrm>
          <a:off x="2526672" y="1800061"/>
          <a:ext cx="1972623" cy="1972623"/>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i="1" kern="1200" dirty="0">
              <a:latin typeface="+mj-lt"/>
            </a:rPr>
            <a:t>Melcom Connect </a:t>
          </a:r>
        </a:p>
      </dsp:txBody>
      <dsp:txXfrm>
        <a:off x="2815556" y="2088945"/>
        <a:ext cx="1394855" cy="1394855"/>
      </dsp:txXfrm>
    </dsp:sp>
    <dsp:sp modelId="{6707B033-2895-439B-B6E2-1CB81B8929B0}">
      <dsp:nvSpPr>
        <dsp:cNvPr id="0" name=""/>
        <dsp:cNvSpPr/>
      </dsp:nvSpPr>
      <dsp:spPr>
        <a:xfrm>
          <a:off x="2822566" y="2075"/>
          <a:ext cx="1380836" cy="1380836"/>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B2B- GT</a:t>
          </a:r>
        </a:p>
      </dsp:txBody>
      <dsp:txXfrm>
        <a:off x="3024785" y="204294"/>
        <a:ext cx="976398" cy="976398"/>
      </dsp:txXfrm>
    </dsp:sp>
    <dsp:sp modelId="{146886DF-651B-4633-8987-CFCE96E40A4F}">
      <dsp:nvSpPr>
        <dsp:cNvPr id="0" name=""/>
        <dsp:cNvSpPr/>
      </dsp:nvSpPr>
      <dsp:spPr>
        <a:xfrm>
          <a:off x="4916446" y="2095954"/>
          <a:ext cx="1380836" cy="1380836"/>
        </a:xfrm>
        <a:prstGeom prst="ellipse">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Electronic &amp; Mobile Commerce </a:t>
          </a:r>
        </a:p>
      </dsp:txBody>
      <dsp:txXfrm>
        <a:off x="5118665" y="2298173"/>
        <a:ext cx="976398" cy="976398"/>
      </dsp:txXfrm>
    </dsp:sp>
    <dsp:sp modelId="{BE5225ED-B852-473A-8CEC-27C6C36E17CF}">
      <dsp:nvSpPr>
        <dsp:cNvPr id="0" name=""/>
        <dsp:cNvSpPr/>
      </dsp:nvSpPr>
      <dsp:spPr>
        <a:xfrm>
          <a:off x="2822566" y="4189834"/>
          <a:ext cx="1380836" cy="1380836"/>
        </a:xfrm>
        <a:prstGeom prst="ellipse">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Social Media </a:t>
          </a:r>
        </a:p>
      </dsp:txBody>
      <dsp:txXfrm>
        <a:off x="3024785" y="4392053"/>
        <a:ext cx="976398" cy="976398"/>
      </dsp:txXfrm>
    </dsp:sp>
    <dsp:sp modelId="{E6DBD4E3-AE70-40BE-9A1E-56B5F3C4C604}">
      <dsp:nvSpPr>
        <dsp:cNvPr id="0" name=""/>
        <dsp:cNvSpPr/>
      </dsp:nvSpPr>
      <dsp:spPr>
        <a:xfrm>
          <a:off x="728686" y="2095954"/>
          <a:ext cx="1380836" cy="1380836"/>
        </a:xfrm>
        <a:prstGeom prst="ellipse">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Brick &amp; Mortar</a:t>
          </a:r>
        </a:p>
      </dsp:txBody>
      <dsp:txXfrm>
        <a:off x="930905" y="2298173"/>
        <a:ext cx="976398" cy="9763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560901-4EF8-426A-B123-ABD2D400012D}">
      <dsp:nvSpPr>
        <dsp:cNvPr id="0" name=""/>
        <dsp:cNvSpPr/>
      </dsp:nvSpPr>
      <dsp:spPr>
        <a:xfrm>
          <a:off x="0" y="2921212"/>
          <a:ext cx="11693317" cy="0"/>
        </a:xfrm>
        <a:prstGeom prst="lin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8C71BE88-99D8-44F3-9905-9FF9BAFA51C2}">
      <dsp:nvSpPr>
        <dsp:cNvPr id="0" name=""/>
        <dsp:cNvSpPr/>
      </dsp:nvSpPr>
      <dsp:spPr>
        <a:xfrm rot="8100000">
          <a:off x="82607" y="699739"/>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1EBBC0-E991-4684-8BF0-9077C412C88D}">
      <dsp:nvSpPr>
        <dsp:cNvPr id="0" name=""/>
        <dsp:cNvSpPr/>
      </dsp:nvSpPr>
      <dsp:spPr>
        <a:xfrm>
          <a:off x="124446" y="741578"/>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174B200E-1B7D-4FB1-BEC0-F3B63763B78D}">
      <dsp:nvSpPr>
        <dsp:cNvPr id="0" name=""/>
        <dsp:cNvSpPr/>
      </dsp:nvSpPr>
      <dsp:spPr>
        <a:xfrm>
          <a:off x="537224" y="1191854"/>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7ECFC34C-2AE6-47FF-B6CE-B0E0F2F44D46}">
      <dsp:nvSpPr>
        <dsp:cNvPr id="0" name=""/>
        <dsp:cNvSpPr/>
      </dsp:nvSpPr>
      <dsp:spPr>
        <a:xfrm>
          <a:off x="537224" y="584242"/>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dirty="0">
              <a:latin typeface="+mj-lt"/>
            </a:rPr>
            <a:t>60+ Melcom retail stores </a:t>
          </a:r>
        </a:p>
      </dsp:txBody>
      <dsp:txXfrm>
        <a:off x="537224" y="584242"/>
        <a:ext cx="1422351" cy="607612"/>
      </dsp:txXfrm>
    </dsp:sp>
    <dsp:sp modelId="{25D7DF2B-BDB7-4B74-A748-7D9E0E2A147E}">
      <dsp:nvSpPr>
        <dsp:cNvPr id="0" name=""/>
        <dsp:cNvSpPr/>
      </dsp:nvSpPr>
      <dsp:spPr>
        <a:xfrm>
          <a:off x="270916" y="1191854"/>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263779FF-6B5B-43AD-A65B-174C1D2BD3AA}">
      <dsp:nvSpPr>
        <dsp:cNvPr id="0" name=""/>
        <dsp:cNvSpPr/>
      </dsp:nvSpPr>
      <dsp:spPr>
        <a:xfrm>
          <a:off x="260477"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54694E-18BB-4594-94ED-8110846C54B8}">
      <dsp:nvSpPr>
        <dsp:cNvPr id="0" name=""/>
        <dsp:cNvSpPr/>
      </dsp:nvSpPr>
      <dsp:spPr>
        <a:xfrm rot="18900000">
          <a:off x="1055520" y="4766066"/>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CD28A6-752E-4D1F-85A1-07A6283E2CAF}">
      <dsp:nvSpPr>
        <dsp:cNvPr id="0" name=""/>
        <dsp:cNvSpPr/>
      </dsp:nvSpPr>
      <dsp:spPr>
        <a:xfrm>
          <a:off x="1097359" y="4807905"/>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992AB4A5-9F66-4EE2-9F69-EAD56C3F10A3}">
      <dsp:nvSpPr>
        <dsp:cNvPr id="0" name=""/>
        <dsp:cNvSpPr/>
      </dsp:nvSpPr>
      <dsp:spPr>
        <a:xfrm>
          <a:off x="1510138" y="2921212"/>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E6E8098F-B832-4A33-9E37-FC2C7D89B587}">
      <dsp:nvSpPr>
        <dsp:cNvPr id="0" name=""/>
        <dsp:cNvSpPr/>
      </dsp:nvSpPr>
      <dsp:spPr>
        <a:xfrm>
          <a:off x="1510138" y="4650569"/>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a:latin typeface="+mj-lt"/>
            </a:rPr>
            <a:t>2 </a:t>
          </a:r>
          <a:r>
            <a:rPr lang="en-US" sz="1600" kern="1200" err="1">
              <a:latin typeface="+mj-lt"/>
            </a:rPr>
            <a:t>Melcom</a:t>
          </a:r>
          <a:r>
            <a:rPr lang="en-US" sz="1600" kern="1200">
              <a:latin typeface="+mj-lt"/>
            </a:rPr>
            <a:t> Electric stores </a:t>
          </a:r>
        </a:p>
      </dsp:txBody>
      <dsp:txXfrm>
        <a:off x="1510138" y="4650569"/>
        <a:ext cx="1422351" cy="607612"/>
      </dsp:txXfrm>
    </dsp:sp>
    <dsp:sp modelId="{3C460C5A-EE90-4910-BFDB-A6FA16C5651F}">
      <dsp:nvSpPr>
        <dsp:cNvPr id="0" name=""/>
        <dsp:cNvSpPr/>
      </dsp:nvSpPr>
      <dsp:spPr>
        <a:xfrm>
          <a:off x="1243829" y="2921212"/>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25FFEFB-EC7E-4C62-9A39-6BA643F31D24}">
      <dsp:nvSpPr>
        <dsp:cNvPr id="0" name=""/>
        <dsp:cNvSpPr/>
      </dsp:nvSpPr>
      <dsp:spPr>
        <a:xfrm>
          <a:off x="1233391"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954747-AA47-48A7-A923-22790E934C97}">
      <dsp:nvSpPr>
        <dsp:cNvPr id="0" name=""/>
        <dsp:cNvSpPr/>
      </dsp:nvSpPr>
      <dsp:spPr>
        <a:xfrm rot="8100000">
          <a:off x="2028434" y="699739"/>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07990D-AC8E-41FA-A670-380B27FE7A1B}">
      <dsp:nvSpPr>
        <dsp:cNvPr id="0" name=""/>
        <dsp:cNvSpPr/>
      </dsp:nvSpPr>
      <dsp:spPr>
        <a:xfrm>
          <a:off x="2070272" y="741578"/>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F10690A5-1289-4CB9-AB0E-C4B06AD73DCE}">
      <dsp:nvSpPr>
        <dsp:cNvPr id="0" name=""/>
        <dsp:cNvSpPr/>
      </dsp:nvSpPr>
      <dsp:spPr>
        <a:xfrm>
          <a:off x="2483051" y="1191854"/>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F1E2814C-4821-4827-B136-8048ED930F25}">
      <dsp:nvSpPr>
        <dsp:cNvPr id="0" name=""/>
        <dsp:cNvSpPr/>
      </dsp:nvSpPr>
      <dsp:spPr>
        <a:xfrm>
          <a:off x="2483051" y="584242"/>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dirty="0">
              <a:latin typeface="+mj-lt"/>
            </a:rPr>
            <a:t>12 Cash &amp; Carry depots </a:t>
          </a:r>
        </a:p>
      </dsp:txBody>
      <dsp:txXfrm>
        <a:off x="2483051" y="584242"/>
        <a:ext cx="1422351" cy="607612"/>
      </dsp:txXfrm>
    </dsp:sp>
    <dsp:sp modelId="{77439D1C-CB3F-44E1-87BF-9E558F560D35}">
      <dsp:nvSpPr>
        <dsp:cNvPr id="0" name=""/>
        <dsp:cNvSpPr/>
      </dsp:nvSpPr>
      <dsp:spPr>
        <a:xfrm>
          <a:off x="2216742" y="1191854"/>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7FC24E6-DA8D-4A94-940A-9E5B4E60E5A2}">
      <dsp:nvSpPr>
        <dsp:cNvPr id="0" name=""/>
        <dsp:cNvSpPr/>
      </dsp:nvSpPr>
      <dsp:spPr>
        <a:xfrm>
          <a:off x="2206304"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F0A03F-9053-409C-8B49-39051937E266}">
      <dsp:nvSpPr>
        <dsp:cNvPr id="0" name=""/>
        <dsp:cNvSpPr/>
      </dsp:nvSpPr>
      <dsp:spPr>
        <a:xfrm rot="18900000">
          <a:off x="3001347" y="4766066"/>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77DBC3-7CBC-4842-825E-D6A49E3226B0}">
      <dsp:nvSpPr>
        <dsp:cNvPr id="0" name=""/>
        <dsp:cNvSpPr/>
      </dsp:nvSpPr>
      <dsp:spPr>
        <a:xfrm>
          <a:off x="3043186" y="4807905"/>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0DCF38DF-8B74-4DAF-B4EE-BB868FFC900E}">
      <dsp:nvSpPr>
        <dsp:cNvPr id="0" name=""/>
        <dsp:cNvSpPr/>
      </dsp:nvSpPr>
      <dsp:spPr>
        <a:xfrm>
          <a:off x="3455964" y="2921212"/>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89DC3506-6F43-4E48-8B56-3FBD4C1E1B62}">
      <dsp:nvSpPr>
        <dsp:cNvPr id="0" name=""/>
        <dsp:cNvSpPr/>
      </dsp:nvSpPr>
      <dsp:spPr>
        <a:xfrm>
          <a:off x="3455964" y="4650569"/>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a:latin typeface="+mj-lt"/>
            </a:rPr>
            <a:t>9 </a:t>
          </a:r>
          <a:r>
            <a:rPr lang="en-US" sz="1600" kern="1200" err="1">
              <a:latin typeface="+mj-lt"/>
            </a:rPr>
            <a:t>Melcom</a:t>
          </a:r>
          <a:r>
            <a:rPr lang="en-US" sz="1600" kern="1200">
              <a:latin typeface="+mj-lt"/>
            </a:rPr>
            <a:t> Mini (7 / 11) stores </a:t>
          </a:r>
        </a:p>
      </dsp:txBody>
      <dsp:txXfrm>
        <a:off x="3455964" y="4650569"/>
        <a:ext cx="1422351" cy="607612"/>
      </dsp:txXfrm>
    </dsp:sp>
    <dsp:sp modelId="{0AC2771A-98D5-4053-A13D-64362D7CFF9D}">
      <dsp:nvSpPr>
        <dsp:cNvPr id="0" name=""/>
        <dsp:cNvSpPr/>
      </dsp:nvSpPr>
      <dsp:spPr>
        <a:xfrm>
          <a:off x="3189656" y="2921212"/>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A795E48-AAEC-471B-B72B-9F01595B53DB}">
      <dsp:nvSpPr>
        <dsp:cNvPr id="0" name=""/>
        <dsp:cNvSpPr/>
      </dsp:nvSpPr>
      <dsp:spPr>
        <a:xfrm>
          <a:off x="3179217"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B22CA5-1B0D-4D0C-AF52-14B91CEE448B}">
      <dsp:nvSpPr>
        <dsp:cNvPr id="0" name=""/>
        <dsp:cNvSpPr/>
      </dsp:nvSpPr>
      <dsp:spPr>
        <a:xfrm rot="8100000">
          <a:off x="3974260" y="699739"/>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6D263A-C353-4169-9544-2810E525E1BA}">
      <dsp:nvSpPr>
        <dsp:cNvPr id="0" name=""/>
        <dsp:cNvSpPr/>
      </dsp:nvSpPr>
      <dsp:spPr>
        <a:xfrm>
          <a:off x="4016099" y="741578"/>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B0E511C8-B0C9-46A8-BEC4-6070F1D2DDA0}">
      <dsp:nvSpPr>
        <dsp:cNvPr id="0" name=""/>
        <dsp:cNvSpPr/>
      </dsp:nvSpPr>
      <dsp:spPr>
        <a:xfrm>
          <a:off x="4428878" y="1191854"/>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FEFC74F5-F535-4DC9-96F5-0EB2A2292DA9}">
      <dsp:nvSpPr>
        <dsp:cNvPr id="0" name=""/>
        <dsp:cNvSpPr/>
      </dsp:nvSpPr>
      <dsp:spPr>
        <a:xfrm>
          <a:off x="4428878" y="584242"/>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dirty="0">
              <a:latin typeface="+mj-lt"/>
            </a:rPr>
            <a:t>5000+ employees  </a:t>
          </a:r>
        </a:p>
      </dsp:txBody>
      <dsp:txXfrm>
        <a:off x="4428878" y="584242"/>
        <a:ext cx="1422351" cy="607612"/>
      </dsp:txXfrm>
    </dsp:sp>
    <dsp:sp modelId="{1C07B901-1C29-4C59-93DB-3FBC42EDE900}">
      <dsp:nvSpPr>
        <dsp:cNvPr id="0" name=""/>
        <dsp:cNvSpPr/>
      </dsp:nvSpPr>
      <dsp:spPr>
        <a:xfrm>
          <a:off x="4162569" y="1191854"/>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210AF1CF-9D85-48FF-9BE5-A970A3F5062D}">
      <dsp:nvSpPr>
        <dsp:cNvPr id="0" name=""/>
        <dsp:cNvSpPr/>
      </dsp:nvSpPr>
      <dsp:spPr>
        <a:xfrm>
          <a:off x="4152131"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E2E331-0C27-405C-B2DD-DB30FC0A1B6D}">
      <dsp:nvSpPr>
        <dsp:cNvPr id="0" name=""/>
        <dsp:cNvSpPr/>
      </dsp:nvSpPr>
      <dsp:spPr>
        <a:xfrm rot="18900000">
          <a:off x="4947173" y="4766066"/>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210714-B105-4864-B0CD-454147286E8A}">
      <dsp:nvSpPr>
        <dsp:cNvPr id="0" name=""/>
        <dsp:cNvSpPr/>
      </dsp:nvSpPr>
      <dsp:spPr>
        <a:xfrm>
          <a:off x="4989012" y="4807905"/>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0C7DFD79-3386-4AD4-A3AE-8740BCC4DE69}">
      <dsp:nvSpPr>
        <dsp:cNvPr id="0" name=""/>
        <dsp:cNvSpPr/>
      </dsp:nvSpPr>
      <dsp:spPr>
        <a:xfrm>
          <a:off x="5401791" y="2921212"/>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EEBE54D7-84CF-497F-A45D-9EFB2C7791BE}">
      <dsp:nvSpPr>
        <dsp:cNvPr id="0" name=""/>
        <dsp:cNvSpPr/>
      </dsp:nvSpPr>
      <dsp:spPr>
        <a:xfrm>
          <a:off x="5401791" y="4650569"/>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dirty="0">
              <a:latin typeface="+mj-lt"/>
            </a:rPr>
            <a:t>2M+ sq ft of retail space </a:t>
          </a:r>
        </a:p>
      </dsp:txBody>
      <dsp:txXfrm>
        <a:off x="5401791" y="4650569"/>
        <a:ext cx="1422351" cy="607612"/>
      </dsp:txXfrm>
    </dsp:sp>
    <dsp:sp modelId="{F2F91921-E9CC-4F78-9740-70547919C3BF}">
      <dsp:nvSpPr>
        <dsp:cNvPr id="0" name=""/>
        <dsp:cNvSpPr/>
      </dsp:nvSpPr>
      <dsp:spPr>
        <a:xfrm>
          <a:off x="5135482" y="2921212"/>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A40D150-E46D-4092-9347-3E9D7B4A1154}">
      <dsp:nvSpPr>
        <dsp:cNvPr id="0" name=""/>
        <dsp:cNvSpPr/>
      </dsp:nvSpPr>
      <dsp:spPr>
        <a:xfrm>
          <a:off x="5125044"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8C0E27-B263-43E8-B68B-AE7008850284}">
      <dsp:nvSpPr>
        <dsp:cNvPr id="0" name=""/>
        <dsp:cNvSpPr/>
      </dsp:nvSpPr>
      <dsp:spPr>
        <a:xfrm rot="8100000">
          <a:off x="5920087" y="699739"/>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62C5AD-614B-42B6-B930-DC1C7B955A69}">
      <dsp:nvSpPr>
        <dsp:cNvPr id="0" name=""/>
        <dsp:cNvSpPr/>
      </dsp:nvSpPr>
      <dsp:spPr>
        <a:xfrm>
          <a:off x="5961926" y="741578"/>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859D2422-83FF-4B9C-94FB-1B4D951EEFEE}">
      <dsp:nvSpPr>
        <dsp:cNvPr id="0" name=""/>
        <dsp:cNvSpPr/>
      </dsp:nvSpPr>
      <dsp:spPr>
        <a:xfrm>
          <a:off x="6374704" y="1191854"/>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A14C673B-2097-4A9E-95AC-D39D2498DCF1}">
      <dsp:nvSpPr>
        <dsp:cNvPr id="0" name=""/>
        <dsp:cNvSpPr/>
      </dsp:nvSpPr>
      <dsp:spPr>
        <a:xfrm>
          <a:off x="6374704" y="584242"/>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dirty="0">
              <a:latin typeface="+mj-lt"/>
            </a:rPr>
            <a:t>700,000 sq ft warehouse space </a:t>
          </a:r>
        </a:p>
      </dsp:txBody>
      <dsp:txXfrm>
        <a:off x="6374704" y="584242"/>
        <a:ext cx="1422351" cy="607612"/>
      </dsp:txXfrm>
    </dsp:sp>
    <dsp:sp modelId="{FCE18023-BAC4-47DF-B7C5-8E6FF0793E17}">
      <dsp:nvSpPr>
        <dsp:cNvPr id="0" name=""/>
        <dsp:cNvSpPr/>
      </dsp:nvSpPr>
      <dsp:spPr>
        <a:xfrm>
          <a:off x="6108395" y="1191854"/>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CE681CE-CA03-4A14-90F0-FBD7F0B47A6E}">
      <dsp:nvSpPr>
        <dsp:cNvPr id="0" name=""/>
        <dsp:cNvSpPr/>
      </dsp:nvSpPr>
      <dsp:spPr>
        <a:xfrm>
          <a:off x="6097957"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C82D8A-291F-4CBF-AE52-7593CCEBA917}">
      <dsp:nvSpPr>
        <dsp:cNvPr id="0" name=""/>
        <dsp:cNvSpPr/>
      </dsp:nvSpPr>
      <dsp:spPr>
        <a:xfrm rot="18900000">
          <a:off x="6893000" y="4766066"/>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29521B-7A84-48AE-B6C3-C52D53EE2695}">
      <dsp:nvSpPr>
        <dsp:cNvPr id="0" name=""/>
        <dsp:cNvSpPr/>
      </dsp:nvSpPr>
      <dsp:spPr>
        <a:xfrm>
          <a:off x="6934839" y="4807905"/>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C9ED4240-E2EF-4965-914B-744E7DDF4EE8}">
      <dsp:nvSpPr>
        <dsp:cNvPr id="0" name=""/>
        <dsp:cNvSpPr/>
      </dsp:nvSpPr>
      <dsp:spPr>
        <a:xfrm>
          <a:off x="7347617" y="2921212"/>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7E7396BC-37C3-4E62-8F02-9771B9D4BD9B}">
      <dsp:nvSpPr>
        <dsp:cNvPr id="0" name=""/>
        <dsp:cNvSpPr/>
      </dsp:nvSpPr>
      <dsp:spPr>
        <a:xfrm>
          <a:off x="7347617" y="4650569"/>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dirty="0">
              <a:latin typeface="+mj-lt"/>
            </a:rPr>
            <a:t> Serving 25M+ customers annually </a:t>
          </a:r>
        </a:p>
      </dsp:txBody>
      <dsp:txXfrm>
        <a:off x="7347617" y="4650569"/>
        <a:ext cx="1422351" cy="607612"/>
      </dsp:txXfrm>
    </dsp:sp>
    <dsp:sp modelId="{5C75D24B-480A-41D6-8CC4-83E111945BCC}">
      <dsp:nvSpPr>
        <dsp:cNvPr id="0" name=""/>
        <dsp:cNvSpPr/>
      </dsp:nvSpPr>
      <dsp:spPr>
        <a:xfrm>
          <a:off x="7081309" y="2921212"/>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BE8CE22-AB9E-47F8-B19E-8936BD362A35}">
      <dsp:nvSpPr>
        <dsp:cNvPr id="0" name=""/>
        <dsp:cNvSpPr/>
      </dsp:nvSpPr>
      <dsp:spPr>
        <a:xfrm>
          <a:off x="7070870"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9A7062-3B75-42A7-9071-33C481BF8642}">
      <dsp:nvSpPr>
        <dsp:cNvPr id="0" name=""/>
        <dsp:cNvSpPr/>
      </dsp:nvSpPr>
      <dsp:spPr>
        <a:xfrm rot="8100000">
          <a:off x="7865913" y="699739"/>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6CB0E5-E196-4BB7-8E82-5DBA547A9D2D}">
      <dsp:nvSpPr>
        <dsp:cNvPr id="0" name=""/>
        <dsp:cNvSpPr/>
      </dsp:nvSpPr>
      <dsp:spPr>
        <a:xfrm>
          <a:off x="7907752" y="741578"/>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839B8F40-1C0D-43F8-943B-6D7A9EC69E97}">
      <dsp:nvSpPr>
        <dsp:cNvPr id="0" name=""/>
        <dsp:cNvSpPr/>
      </dsp:nvSpPr>
      <dsp:spPr>
        <a:xfrm>
          <a:off x="8320531" y="1191854"/>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7CF69BC3-84A3-4E5E-AEF2-B4BD15D47FD4}">
      <dsp:nvSpPr>
        <dsp:cNvPr id="0" name=""/>
        <dsp:cNvSpPr/>
      </dsp:nvSpPr>
      <dsp:spPr>
        <a:xfrm>
          <a:off x="8320531" y="584242"/>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dirty="0">
              <a:latin typeface="+mj-lt"/>
            </a:rPr>
            <a:t>4 international franchises  </a:t>
          </a:r>
        </a:p>
      </dsp:txBody>
      <dsp:txXfrm>
        <a:off x="8320531" y="584242"/>
        <a:ext cx="1422351" cy="607612"/>
      </dsp:txXfrm>
    </dsp:sp>
    <dsp:sp modelId="{77AE1CDD-1859-4F90-8B58-68807311A414}">
      <dsp:nvSpPr>
        <dsp:cNvPr id="0" name=""/>
        <dsp:cNvSpPr/>
      </dsp:nvSpPr>
      <dsp:spPr>
        <a:xfrm>
          <a:off x="8054222" y="1191854"/>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A1164E5-F753-4AC8-8252-B1BEC302FECA}">
      <dsp:nvSpPr>
        <dsp:cNvPr id="0" name=""/>
        <dsp:cNvSpPr/>
      </dsp:nvSpPr>
      <dsp:spPr>
        <a:xfrm>
          <a:off x="8043784"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3663D7-2AFC-4F2B-AA3A-EC82F15175C8}">
      <dsp:nvSpPr>
        <dsp:cNvPr id="0" name=""/>
        <dsp:cNvSpPr/>
      </dsp:nvSpPr>
      <dsp:spPr>
        <a:xfrm rot="18900000">
          <a:off x="8838827" y="4766066"/>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29E8FD-4072-40FB-8286-1790D0C71FFC}">
      <dsp:nvSpPr>
        <dsp:cNvPr id="0" name=""/>
        <dsp:cNvSpPr/>
      </dsp:nvSpPr>
      <dsp:spPr>
        <a:xfrm>
          <a:off x="8880665" y="4807905"/>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6D030DBE-95C2-4CF3-BB20-72A45E870A0A}">
      <dsp:nvSpPr>
        <dsp:cNvPr id="0" name=""/>
        <dsp:cNvSpPr/>
      </dsp:nvSpPr>
      <dsp:spPr>
        <a:xfrm>
          <a:off x="9293444" y="2921212"/>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DC2AE191-B741-41FE-B935-677211497470}">
      <dsp:nvSpPr>
        <dsp:cNvPr id="0" name=""/>
        <dsp:cNvSpPr/>
      </dsp:nvSpPr>
      <dsp:spPr>
        <a:xfrm>
          <a:off x="9293444" y="4650569"/>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a:latin typeface="+mj-lt"/>
            </a:rPr>
            <a:t> 45 Restaurants </a:t>
          </a:r>
        </a:p>
      </dsp:txBody>
      <dsp:txXfrm>
        <a:off x="9293444" y="4650569"/>
        <a:ext cx="1422351" cy="607612"/>
      </dsp:txXfrm>
    </dsp:sp>
    <dsp:sp modelId="{6830E18A-567A-4366-8EE8-029A397F67E9}">
      <dsp:nvSpPr>
        <dsp:cNvPr id="0" name=""/>
        <dsp:cNvSpPr/>
      </dsp:nvSpPr>
      <dsp:spPr>
        <a:xfrm>
          <a:off x="9027135" y="2921212"/>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25509C0-C015-4557-9D8B-6F15346DF0DC}">
      <dsp:nvSpPr>
        <dsp:cNvPr id="0" name=""/>
        <dsp:cNvSpPr/>
      </dsp:nvSpPr>
      <dsp:spPr>
        <a:xfrm>
          <a:off x="9016697"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FED211-7B65-4EFA-9F1F-2561FF77FE65}">
      <dsp:nvSpPr>
        <dsp:cNvPr id="0" name=""/>
        <dsp:cNvSpPr/>
      </dsp:nvSpPr>
      <dsp:spPr>
        <a:xfrm rot="8100000">
          <a:off x="9811740" y="699739"/>
          <a:ext cx="376617" cy="376617"/>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E976EE-15E8-4D10-8F01-DB393CDEB710}">
      <dsp:nvSpPr>
        <dsp:cNvPr id="0" name=""/>
        <dsp:cNvSpPr/>
      </dsp:nvSpPr>
      <dsp:spPr>
        <a:xfrm>
          <a:off x="9853579" y="741578"/>
          <a:ext cx="292939" cy="292939"/>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2BA5F1F3-257C-4177-968C-1B0A5046938D}">
      <dsp:nvSpPr>
        <dsp:cNvPr id="0" name=""/>
        <dsp:cNvSpPr/>
      </dsp:nvSpPr>
      <dsp:spPr>
        <a:xfrm>
          <a:off x="10266357" y="1191854"/>
          <a:ext cx="1422351" cy="1729357"/>
        </a:xfrm>
        <a:prstGeom prst="rect">
          <a:avLst/>
        </a:prstGeom>
        <a:noFill/>
        <a:ln>
          <a:noFill/>
        </a:ln>
        <a:effectLst/>
      </dsp:spPr>
      <dsp:style>
        <a:lnRef idx="0">
          <a:scrgbClr r="0" g="0" b="0"/>
        </a:lnRef>
        <a:fillRef idx="0">
          <a:scrgbClr r="0" g="0" b="0"/>
        </a:fillRef>
        <a:effectRef idx="0">
          <a:scrgbClr r="0" g="0" b="0"/>
        </a:effectRef>
        <a:fontRef idx="minor"/>
      </dsp:style>
    </dsp:sp>
    <dsp:sp modelId="{4D1DBCDB-A124-452B-9AB5-4374E286336F}">
      <dsp:nvSpPr>
        <dsp:cNvPr id="0" name=""/>
        <dsp:cNvSpPr/>
      </dsp:nvSpPr>
      <dsp:spPr>
        <a:xfrm>
          <a:off x="10266357" y="584242"/>
          <a:ext cx="1422351" cy="60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kern="1200" dirty="0">
              <a:latin typeface="+mj-lt"/>
            </a:rPr>
            <a:t> An E-Commerce platform</a:t>
          </a:r>
        </a:p>
      </dsp:txBody>
      <dsp:txXfrm>
        <a:off x="10266357" y="584242"/>
        <a:ext cx="1422351" cy="607612"/>
      </dsp:txXfrm>
    </dsp:sp>
    <dsp:sp modelId="{B2E26D63-DBD0-4784-90C6-26ADA5D52ABD}">
      <dsp:nvSpPr>
        <dsp:cNvPr id="0" name=""/>
        <dsp:cNvSpPr/>
      </dsp:nvSpPr>
      <dsp:spPr>
        <a:xfrm>
          <a:off x="10000049" y="1191854"/>
          <a:ext cx="0" cy="172935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897D856-32A8-49C6-BA85-C3A788012D45}">
      <dsp:nvSpPr>
        <dsp:cNvPr id="0" name=""/>
        <dsp:cNvSpPr/>
      </dsp:nvSpPr>
      <dsp:spPr>
        <a:xfrm>
          <a:off x="9989610" y="2866526"/>
          <a:ext cx="95871" cy="109370"/>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93B9CD-21C8-4D5B-B06B-2F9A00C5CE56}">
      <dsp:nvSpPr>
        <dsp:cNvPr id="0" name=""/>
        <dsp:cNvSpPr/>
      </dsp:nvSpPr>
      <dsp:spPr>
        <a:xfrm>
          <a:off x="1940067" y="593569"/>
          <a:ext cx="414846" cy="91440"/>
        </a:xfrm>
        <a:custGeom>
          <a:avLst/>
          <a:gdLst/>
          <a:ahLst/>
          <a:cxnLst/>
          <a:rect l="0" t="0" r="0" b="0"/>
          <a:pathLst>
            <a:path>
              <a:moveTo>
                <a:pt x="0" y="45720"/>
              </a:moveTo>
              <a:lnTo>
                <a:pt x="41484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6354" y="637062"/>
        <a:ext cx="22272" cy="4454"/>
      </dsp:txXfrm>
    </dsp:sp>
    <dsp:sp modelId="{8517127E-BDB1-401C-9145-C2B97688FB62}">
      <dsp:nvSpPr>
        <dsp:cNvPr id="0" name=""/>
        <dsp:cNvSpPr/>
      </dsp:nvSpPr>
      <dsp:spPr>
        <a:xfrm>
          <a:off x="5144" y="58272"/>
          <a:ext cx="1936722" cy="1162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901" tIns="99615" rIns="94901" bIns="99615" numCol="1" spcCol="1270" anchor="ctr" anchorCtr="0">
          <a:noAutofit/>
        </a:bodyPr>
        <a:lstStyle/>
        <a:p>
          <a:pPr marL="0" lvl="0" indent="0" algn="ctr" defTabSz="711200" rtl="0">
            <a:lnSpc>
              <a:spcPct val="90000"/>
            </a:lnSpc>
            <a:spcBef>
              <a:spcPct val="0"/>
            </a:spcBef>
            <a:spcAft>
              <a:spcPct val="35000"/>
            </a:spcAft>
            <a:buNone/>
          </a:pPr>
          <a:r>
            <a:rPr lang="en-US" sz="1600" kern="1200" dirty="0" err="1"/>
            <a:t>Melcom</a:t>
          </a:r>
          <a:r>
            <a:rPr lang="en-US" sz="1600" kern="1200" dirty="0"/>
            <a:t> opens our Super </a:t>
          </a:r>
          <a:r>
            <a:rPr lang="en-US" sz="1600" kern="1200" dirty="0">
              <a:latin typeface="Aptos Display" panose="020F0302020204030204"/>
            </a:rPr>
            <a:t>store and mall</a:t>
          </a:r>
          <a:r>
            <a:rPr lang="en-US" sz="1600" kern="1200" dirty="0"/>
            <a:t> –</a:t>
          </a:r>
          <a:r>
            <a:rPr lang="en-US" sz="1600" b="1" kern="1200" dirty="0" err="1"/>
            <a:t>Melcom</a:t>
          </a:r>
          <a:r>
            <a:rPr lang="en-US" sz="1600" b="1" kern="1200" dirty="0"/>
            <a:t> Mall –Spintex</a:t>
          </a:r>
          <a:endParaRPr lang="en-US" sz="1600" kern="1200" dirty="0"/>
        </a:p>
      </dsp:txBody>
      <dsp:txXfrm>
        <a:off x="5144" y="58272"/>
        <a:ext cx="1936722" cy="1162033"/>
      </dsp:txXfrm>
    </dsp:sp>
    <dsp:sp modelId="{A1C914F3-6B86-4F66-BE10-4368ADDFE6D5}">
      <dsp:nvSpPr>
        <dsp:cNvPr id="0" name=""/>
        <dsp:cNvSpPr/>
      </dsp:nvSpPr>
      <dsp:spPr>
        <a:xfrm>
          <a:off x="4322236" y="593569"/>
          <a:ext cx="414846" cy="91440"/>
        </a:xfrm>
        <a:custGeom>
          <a:avLst/>
          <a:gdLst/>
          <a:ahLst/>
          <a:cxnLst/>
          <a:rect l="0" t="0" r="0" b="0"/>
          <a:pathLst>
            <a:path>
              <a:moveTo>
                <a:pt x="0" y="45720"/>
              </a:moveTo>
              <a:lnTo>
                <a:pt x="41484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18523" y="637062"/>
        <a:ext cx="22272" cy="4454"/>
      </dsp:txXfrm>
    </dsp:sp>
    <dsp:sp modelId="{B04BBCA9-0ED1-4E9D-91C0-E2A54601E57B}">
      <dsp:nvSpPr>
        <dsp:cNvPr id="0" name=""/>
        <dsp:cNvSpPr/>
      </dsp:nvSpPr>
      <dsp:spPr>
        <a:xfrm>
          <a:off x="2387313" y="58272"/>
          <a:ext cx="1936722" cy="1162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901" tIns="99615" rIns="94901" bIns="99615" numCol="1" spcCol="1270" anchor="ctr" anchorCtr="0">
          <a:noAutofit/>
        </a:bodyPr>
        <a:lstStyle/>
        <a:p>
          <a:pPr marL="0" lvl="0" indent="0" algn="ctr" defTabSz="711200">
            <a:lnSpc>
              <a:spcPct val="90000"/>
            </a:lnSpc>
            <a:spcBef>
              <a:spcPct val="0"/>
            </a:spcBef>
            <a:spcAft>
              <a:spcPct val="35000"/>
            </a:spcAft>
            <a:buNone/>
          </a:pPr>
          <a:r>
            <a:rPr lang="en-US" sz="1600" kern="1200" dirty="0" err="1"/>
            <a:t>Melcom</a:t>
          </a:r>
          <a:r>
            <a:rPr lang="en-US" sz="1600" kern="1200" dirty="0"/>
            <a:t> introduces its first state of art </a:t>
          </a:r>
          <a:r>
            <a:rPr lang="en-US" sz="1600" b="1" kern="1200" dirty="0"/>
            <a:t>GYM- Activate</a:t>
          </a:r>
          <a:endParaRPr lang="en-US" sz="1600" kern="1200" dirty="0"/>
        </a:p>
      </dsp:txBody>
      <dsp:txXfrm>
        <a:off x="2387313" y="58272"/>
        <a:ext cx="1936722" cy="1162033"/>
      </dsp:txXfrm>
    </dsp:sp>
    <dsp:sp modelId="{88B53C72-EE28-46C6-9925-947BA7BA2B9B}">
      <dsp:nvSpPr>
        <dsp:cNvPr id="0" name=""/>
        <dsp:cNvSpPr/>
      </dsp:nvSpPr>
      <dsp:spPr>
        <a:xfrm>
          <a:off x="973506" y="1218506"/>
          <a:ext cx="4764337" cy="414846"/>
        </a:xfrm>
        <a:custGeom>
          <a:avLst/>
          <a:gdLst/>
          <a:ahLst/>
          <a:cxnLst/>
          <a:rect l="0" t="0" r="0" b="0"/>
          <a:pathLst>
            <a:path>
              <a:moveTo>
                <a:pt x="4764337" y="0"/>
              </a:moveTo>
              <a:lnTo>
                <a:pt x="4764337" y="224523"/>
              </a:lnTo>
              <a:lnTo>
                <a:pt x="0" y="224523"/>
              </a:lnTo>
              <a:lnTo>
                <a:pt x="0" y="414846"/>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36047" y="1423701"/>
        <a:ext cx="239255" cy="4454"/>
      </dsp:txXfrm>
    </dsp:sp>
    <dsp:sp modelId="{0DF61F4F-3B5D-49A8-BA06-2B97C22E2820}">
      <dsp:nvSpPr>
        <dsp:cNvPr id="0" name=""/>
        <dsp:cNvSpPr/>
      </dsp:nvSpPr>
      <dsp:spPr>
        <a:xfrm>
          <a:off x="4769482" y="58272"/>
          <a:ext cx="1936722" cy="1162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901" tIns="99615" rIns="94901" bIns="99615" numCol="1" spcCol="1270" anchor="ctr" anchorCtr="0">
          <a:noAutofit/>
        </a:bodyPr>
        <a:lstStyle/>
        <a:p>
          <a:pPr marL="0" lvl="0" indent="0" algn="ctr" defTabSz="711200">
            <a:lnSpc>
              <a:spcPct val="90000"/>
            </a:lnSpc>
            <a:spcBef>
              <a:spcPct val="0"/>
            </a:spcBef>
            <a:spcAft>
              <a:spcPct val="35000"/>
            </a:spcAft>
            <a:buNone/>
          </a:pPr>
          <a:r>
            <a:rPr lang="en-US" sz="1600" b="1" kern="1200" dirty="0"/>
            <a:t>2024 - </a:t>
          </a:r>
          <a:r>
            <a:rPr lang="en-US" sz="1600" kern="1200" dirty="0" err="1"/>
            <a:t>Melcom</a:t>
          </a:r>
          <a:r>
            <a:rPr lang="en-US" sz="1600" kern="1200" dirty="0"/>
            <a:t> enters independent malls ​</a:t>
          </a:r>
        </a:p>
      </dsp:txBody>
      <dsp:txXfrm>
        <a:off x="4769482" y="58272"/>
        <a:ext cx="1936722" cy="1162033"/>
      </dsp:txXfrm>
    </dsp:sp>
    <dsp:sp modelId="{C0460F44-D6DC-4491-B2B3-7EAC1996AB4E}">
      <dsp:nvSpPr>
        <dsp:cNvPr id="0" name=""/>
        <dsp:cNvSpPr/>
      </dsp:nvSpPr>
      <dsp:spPr>
        <a:xfrm>
          <a:off x="1940067" y="2201048"/>
          <a:ext cx="414846" cy="91440"/>
        </a:xfrm>
        <a:custGeom>
          <a:avLst/>
          <a:gdLst/>
          <a:ahLst/>
          <a:cxnLst/>
          <a:rect l="0" t="0" r="0" b="0"/>
          <a:pathLst>
            <a:path>
              <a:moveTo>
                <a:pt x="0" y="45720"/>
              </a:moveTo>
              <a:lnTo>
                <a:pt x="41484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6354" y="2244541"/>
        <a:ext cx="22272" cy="4454"/>
      </dsp:txXfrm>
    </dsp:sp>
    <dsp:sp modelId="{A9E7E2AD-06D8-4169-BE01-4343D4846AB7}">
      <dsp:nvSpPr>
        <dsp:cNvPr id="0" name=""/>
        <dsp:cNvSpPr/>
      </dsp:nvSpPr>
      <dsp:spPr>
        <a:xfrm>
          <a:off x="5144" y="1665752"/>
          <a:ext cx="1936722" cy="1162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901" tIns="99615" rIns="94901" bIns="99615" numCol="1" spcCol="1270" anchor="ctr" anchorCtr="0">
          <a:noAutofit/>
        </a:bodyPr>
        <a:lstStyle/>
        <a:p>
          <a:pPr marL="0" lvl="0" indent="0" algn="ctr" defTabSz="711200">
            <a:lnSpc>
              <a:spcPct val="90000"/>
            </a:lnSpc>
            <a:spcBef>
              <a:spcPct val="0"/>
            </a:spcBef>
            <a:spcAft>
              <a:spcPct val="35000"/>
            </a:spcAft>
            <a:buNone/>
          </a:pPr>
          <a:r>
            <a:rPr lang="en-US" sz="1600" kern="1200" dirty="0"/>
            <a:t>West Hill Mall​</a:t>
          </a:r>
        </a:p>
      </dsp:txBody>
      <dsp:txXfrm>
        <a:off x="5144" y="1665752"/>
        <a:ext cx="1936722" cy="1162033"/>
      </dsp:txXfrm>
    </dsp:sp>
    <dsp:sp modelId="{91E90937-2E93-4378-A395-9C38FF5683BA}">
      <dsp:nvSpPr>
        <dsp:cNvPr id="0" name=""/>
        <dsp:cNvSpPr/>
      </dsp:nvSpPr>
      <dsp:spPr>
        <a:xfrm>
          <a:off x="4322236" y="2201048"/>
          <a:ext cx="414846" cy="91440"/>
        </a:xfrm>
        <a:custGeom>
          <a:avLst/>
          <a:gdLst/>
          <a:ahLst/>
          <a:cxnLst/>
          <a:rect l="0" t="0" r="0" b="0"/>
          <a:pathLst>
            <a:path>
              <a:moveTo>
                <a:pt x="0" y="45720"/>
              </a:moveTo>
              <a:lnTo>
                <a:pt x="41484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18523" y="2244541"/>
        <a:ext cx="22272" cy="4454"/>
      </dsp:txXfrm>
    </dsp:sp>
    <dsp:sp modelId="{20B213B2-19BD-4D82-8632-7D6C96C88A37}">
      <dsp:nvSpPr>
        <dsp:cNvPr id="0" name=""/>
        <dsp:cNvSpPr/>
      </dsp:nvSpPr>
      <dsp:spPr>
        <a:xfrm>
          <a:off x="2387313" y="1665752"/>
          <a:ext cx="1936722" cy="1162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901" tIns="99615" rIns="94901" bIns="99615" numCol="1" spcCol="1270" anchor="ctr" anchorCtr="0">
          <a:noAutofit/>
        </a:bodyPr>
        <a:lstStyle/>
        <a:p>
          <a:pPr marL="0" lvl="0" indent="0" algn="ctr" defTabSz="711200">
            <a:lnSpc>
              <a:spcPct val="90000"/>
            </a:lnSpc>
            <a:spcBef>
              <a:spcPct val="0"/>
            </a:spcBef>
            <a:spcAft>
              <a:spcPct val="35000"/>
            </a:spcAft>
            <a:buNone/>
          </a:pPr>
          <a:r>
            <a:rPr lang="en-US" sz="1600" kern="1200" dirty="0"/>
            <a:t>Accra Mall​</a:t>
          </a:r>
        </a:p>
      </dsp:txBody>
      <dsp:txXfrm>
        <a:off x="2387313" y="1665752"/>
        <a:ext cx="1936722" cy="1162033"/>
      </dsp:txXfrm>
    </dsp:sp>
    <dsp:sp modelId="{C52CA188-EFA1-4F97-8C23-05141AE04F4D}">
      <dsp:nvSpPr>
        <dsp:cNvPr id="0" name=""/>
        <dsp:cNvSpPr/>
      </dsp:nvSpPr>
      <dsp:spPr>
        <a:xfrm>
          <a:off x="973506" y="2825985"/>
          <a:ext cx="4764337" cy="414846"/>
        </a:xfrm>
        <a:custGeom>
          <a:avLst/>
          <a:gdLst/>
          <a:ahLst/>
          <a:cxnLst/>
          <a:rect l="0" t="0" r="0" b="0"/>
          <a:pathLst>
            <a:path>
              <a:moveTo>
                <a:pt x="4764337" y="0"/>
              </a:moveTo>
              <a:lnTo>
                <a:pt x="4764337" y="224523"/>
              </a:lnTo>
              <a:lnTo>
                <a:pt x="0" y="224523"/>
              </a:lnTo>
              <a:lnTo>
                <a:pt x="0" y="414846"/>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36047" y="3031181"/>
        <a:ext cx="239255" cy="4454"/>
      </dsp:txXfrm>
    </dsp:sp>
    <dsp:sp modelId="{2891CD9A-AEC7-4D43-9751-6D9E3E923F70}">
      <dsp:nvSpPr>
        <dsp:cNvPr id="0" name=""/>
        <dsp:cNvSpPr/>
      </dsp:nvSpPr>
      <dsp:spPr>
        <a:xfrm>
          <a:off x="4769482" y="1665752"/>
          <a:ext cx="1936722" cy="1162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901" tIns="99615" rIns="94901" bIns="99615" numCol="1" spcCol="1270" anchor="ctr" anchorCtr="0">
          <a:noAutofit/>
        </a:bodyPr>
        <a:lstStyle/>
        <a:p>
          <a:pPr marL="0" lvl="0" indent="0" algn="ctr" defTabSz="711200">
            <a:lnSpc>
              <a:spcPct val="90000"/>
            </a:lnSpc>
            <a:spcBef>
              <a:spcPct val="0"/>
            </a:spcBef>
            <a:spcAft>
              <a:spcPct val="35000"/>
            </a:spcAft>
            <a:buNone/>
          </a:pPr>
          <a:r>
            <a:rPr lang="en-US" sz="1600" kern="1200" dirty="0"/>
            <a:t>Kumasi Mall ​</a:t>
          </a:r>
        </a:p>
      </dsp:txBody>
      <dsp:txXfrm>
        <a:off x="4769482" y="1665752"/>
        <a:ext cx="1936722" cy="1162033"/>
      </dsp:txXfrm>
    </dsp:sp>
    <dsp:sp modelId="{F13EA37D-C03D-4D8F-8323-F5D8D04DA67E}">
      <dsp:nvSpPr>
        <dsp:cNvPr id="0" name=""/>
        <dsp:cNvSpPr/>
      </dsp:nvSpPr>
      <dsp:spPr>
        <a:xfrm>
          <a:off x="1940067" y="3808528"/>
          <a:ext cx="414846" cy="91440"/>
        </a:xfrm>
        <a:custGeom>
          <a:avLst/>
          <a:gdLst/>
          <a:ahLst/>
          <a:cxnLst/>
          <a:rect l="0" t="0" r="0" b="0"/>
          <a:pathLst>
            <a:path>
              <a:moveTo>
                <a:pt x="0" y="45720"/>
              </a:moveTo>
              <a:lnTo>
                <a:pt x="41484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6354" y="3852021"/>
        <a:ext cx="22272" cy="4454"/>
      </dsp:txXfrm>
    </dsp:sp>
    <dsp:sp modelId="{4E99CD06-4D7E-4345-B8E7-4CD2ECE85B12}">
      <dsp:nvSpPr>
        <dsp:cNvPr id="0" name=""/>
        <dsp:cNvSpPr/>
      </dsp:nvSpPr>
      <dsp:spPr>
        <a:xfrm>
          <a:off x="5144" y="3273231"/>
          <a:ext cx="1936722" cy="1162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901" tIns="99615" rIns="94901" bIns="99615" numCol="1" spcCol="1270" anchor="ctr" anchorCtr="0">
          <a:noAutofit/>
        </a:bodyPr>
        <a:lstStyle/>
        <a:p>
          <a:pPr marL="0" lvl="0" indent="0" algn="ctr" defTabSz="711200">
            <a:lnSpc>
              <a:spcPct val="90000"/>
            </a:lnSpc>
            <a:spcBef>
              <a:spcPct val="0"/>
            </a:spcBef>
            <a:spcAft>
              <a:spcPct val="35000"/>
            </a:spcAft>
            <a:buNone/>
          </a:pPr>
          <a:r>
            <a:rPr lang="en-US" sz="1600" kern="1200" dirty="0"/>
            <a:t>​2025 – New Concept restaurant​</a:t>
          </a:r>
        </a:p>
      </dsp:txBody>
      <dsp:txXfrm>
        <a:off x="5144" y="3273231"/>
        <a:ext cx="1936722" cy="1162033"/>
      </dsp:txXfrm>
    </dsp:sp>
    <dsp:sp modelId="{D60C2655-9AF1-4BE8-A1F4-17651F0B7E65}">
      <dsp:nvSpPr>
        <dsp:cNvPr id="0" name=""/>
        <dsp:cNvSpPr/>
      </dsp:nvSpPr>
      <dsp:spPr>
        <a:xfrm>
          <a:off x="2387313" y="3273231"/>
          <a:ext cx="1936722" cy="1162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901" tIns="99615" rIns="94901" bIns="99615" numCol="1" spcCol="1270" anchor="ctr" anchorCtr="0">
          <a:noAutofit/>
        </a:bodyPr>
        <a:lstStyle/>
        <a:p>
          <a:pPr marL="0" lvl="0" indent="0" algn="ctr" defTabSz="711200">
            <a:lnSpc>
              <a:spcPct val="90000"/>
            </a:lnSpc>
            <a:spcBef>
              <a:spcPct val="0"/>
            </a:spcBef>
            <a:spcAft>
              <a:spcPct val="35000"/>
            </a:spcAft>
            <a:buNone/>
          </a:pPr>
          <a:r>
            <a:rPr lang="en-US" sz="1600" kern="1200" dirty="0"/>
            <a:t>Japanese Cuisine . </a:t>
          </a:r>
          <a:r>
            <a:rPr lang="en-US" sz="1600" kern="1200" dirty="0" err="1"/>
            <a:t>Melcom</a:t>
          </a:r>
          <a:r>
            <a:rPr lang="en-US" sz="1600" kern="1200" dirty="0"/>
            <a:t> starts </a:t>
          </a:r>
          <a:r>
            <a:rPr lang="en-US" sz="1600" kern="1200" err="1"/>
            <a:t>AchimotaMall</a:t>
          </a:r>
          <a:r>
            <a:rPr lang="en-US" sz="1600" kern="1200"/>
            <a:t>​​</a:t>
          </a:r>
          <a:endParaRPr lang="en-US" sz="1600" kern="1200" dirty="0"/>
        </a:p>
      </dsp:txBody>
      <dsp:txXfrm>
        <a:off x="2387313" y="3273231"/>
        <a:ext cx="1936722" cy="116203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2.png"/><Relationship Id="rId16" Type="http://schemas.openxmlformats.org/officeDocument/2006/relationships/image" Target="../media/image18.svg"/><Relationship Id="rId1" Type="http://schemas.openxmlformats.org/officeDocument/2006/relationships/slideLayout" Target="../slideLayouts/slideLayout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hyperlink" Target="http://www.melcom.com/" TargetMode="External"/><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39.png"/><Relationship Id="rId7" Type="http://schemas.openxmlformats.org/officeDocument/2006/relationships/image" Target="../media/image43.jpe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2.jpe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jpeg"/></Relationships>
</file>

<file path=ppt/slides/_rels/slide10.xml.rels><?xml version="1.0" encoding="UTF-8" standalone="yes"?>
<Relationships xmlns="http://schemas.openxmlformats.org/package/2006/relationships"><Relationship Id="rId8" Type="http://schemas.openxmlformats.org/officeDocument/2006/relationships/image" Target="../media/image53.jp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jp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7.xml"/><Relationship Id="rId4" Type="http://schemas.openxmlformats.org/officeDocument/2006/relationships/image" Target="../media/image56.jpeg"/></Relationships>
</file>

<file path=ppt/slides/_rels/slide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jpg"/><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8" Type="http://schemas.openxmlformats.org/officeDocument/2006/relationships/image" Target="../media/image66.jpeg"/><Relationship Id="rId13" Type="http://schemas.openxmlformats.org/officeDocument/2006/relationships/image" Target="../media/image48.png"/><Relationship Id="rId3" Type="http://schemas.openxmlformats.org/officeDocument/2006/relationships/image" Target="../media/image62.jpeg"/><Relationship Id="rId7" Type="http://schemas.openxmlformats.org/officeDocument/2006/relationships/image" Target="../media/image65.png"/><Relationship Id="rId12" Type="http://schemas.openxmlformats.org/officeDocument/2006/relationships/image" Target="../media/image70.jpe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jpeg"/><Relationship Id="rId10" Type="http://schemas.openxmlformats.org/officeDocument/2006/relationships/image" Target="../media/image68.png"/><Relationship Id="rId4" Type="http://schemas.openxmlformats.org/officeDocument/2006/relationships/image" Target="../media/image4.jpeg"/><Relationship Id="rId9" Type="http://schemas.openxmlformats.org/officeDocument/2006/relationships/image" Target="../media/image67.png"/><Relationship Id="rId14" Type="http://schemas.openxmlformats.org/officeDocument/2006/relationships/image" Target="../media/image49.png"/></Relationships>
</file>

<file path=ppt/slides/_rels/slide1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2.png"/><Relationship Id="rId7" Type="http://schemas.openxmlformats.org/officeDocument/2006/relationships/diagramColors" Target="../diagrams/colors4.xml"/><Relationship Id="rId12" Type="http://schemas.openxmlformats.org/officeDocument/2006/relationships/image" Target="../media/image31.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QuickStyle" Target="../diagrams/quickStyle4.xml"/><Relationship Id="rId11" Type="http://schemas.openxmlformats.org/officeDocument/2006/relationships/image" Target="../media/image73.jpeg"/><Relationship Id="rId5" Type="http://schemas.openxmlformats.org/officeDocument/2006/relationships/diagramLayout" Target="../diagrams/layout4.xml"/><Relationship Id="rId10" Type="http://schemas.openxmlformats.org/officeDocument/2006/relationships/image" Target="../media/image72.jpeg"/><Relationship Id="rId4" Type="http://schemas.openxmlformats.org/officeDocument/2006/relationships/diagramData" Target="../diagrams/data4.xml"/><Relationship Id="rId9" Type="http://schemas.openxmlformats.org/officeDocument/2006/relationships/image" Target="../media/image71.jpe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80.jpeg"/><Relationship Id="rId3" Type="http://schemas.openxmlformats.org/officeDocument/2006/relationships/image" Target="../media/image75.jpeg"/><Relationship Id="rId7" Type="http://schemas.openxmlformats.org/officeDocument/2006/relationships/image" Target="../media/image79.jpeg"/><Relationship Id="rId2" Type="http://schemas.openxmlformats.org/officeDocument/2006/relationships/image" Target="../media/image74.jpeg"/><Relationship Id="rId1" Type="http://schemas.openxmlformats.org/officeDocument/2006/relationships/slideLayout" Target="../slideLayouts/slideLayout2.xml"/><Relationship Id="rId6" Type="http://schemas.openxmlformats.org/officeDocument/2006/relationships/image" Target="../media/image78.jpeg"/><Relationship Id="rId11" Type="http://schemas.openxmlformats.org/officeDocument/2006/relationships/image" Target="../media/image32.png"/><Relationship Id="rId5" Type="http://schemas.openxmlformats.org/officeDocument/2006/relationships/image" Target="../media/image77.jpeg"/><Relationship Id="rId10" Type="http://schemas.openxmlformats.org/officeDocument/2006/relationships/image" Target="../media/image82.jpeg"/><Relationship Id="rId4" Type="http://schemas.openxmlformats.org/officeDocument/2006/relationships/image" Target="../media/image76.jpeg"/><Relationship Id="rId9" Type="http://schemas.openxmlformats.org/officeDocument/2006/relationships/image" Target="../media/image81.jpeg"/></Relationships>
</file>

<file path=ppt/slides/_rels/slide17.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0.tmp"/></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ight Triangle 3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85241" y="1008993"/>
            <a:ext cx="9145146" cy="2089932"/>
          </a:xfrm>
        </p:spPr>
        <p:txBody>
          <a:bodyPr anchor="b">
            <a:normAutofit/>
          </a:bodyPr>
          <a:lstStyle/>
          <a:p>
            <a:pPr algn="l"/>
            <a:r>
              <a:rPr lang="en-US" sz="9600"/>
              <a:t>The </a:t>
            </a:r>
            <a:r>
              <a:rPr lang="en-US" sz="9600" err="1"/>
              <a:t>Melcom</a:t>
            </a:r>
            <a:r>
              <a:rPr lang="en-US" sz="9600"/>
              <a:t> Way</a:t>
            </a:r>
          </a:p>
        </p:txBody>
      </p:sp>
      <p:sp>
        <p:nvSpPr>
          <p:cNvPr id="3" name="Subtitle 2"/>
          <p:cNvSpPr>
            <a:spLocks noGrp="1"/>
          </p:cNvSpPr>
          <p:nvPr>
            <p:ph type="subTitle" idx="1"/>
          </p:nvPr>
        </p:nvSpPr>
        <p:spPr>
          <a:xfrm>
            <a:off x="1443392" y="3432625"/>
            <a:ext cx="8181882" cy="2218430"/>
          </a:xfrm>
        </p:spPr>
        <p:txBody>
          <a:bodyPr vert="horz" lIns="91440" tIns="45720" rIns="91440" bIns="45720" rtlCol="0" anchor="t">
            <a:normAutofit/>
          </a:bodyPr>
          <a:lstStyle/>
          <a:p>
            <a:r>
              <a:rPr lang="en-US" sz="3600" dirty="0">
                <a:latin typeface="+mj-lt"/>
              </a:rPr>
              <a:t>A Legacy of Innovation, Evolution </a:t>
            </a:r>
          </a:p>
          <a:p>
            <a:r>
              <a:rPr lang="en-US" sz="3600" dirty="0">
                <a:latin typeface="+mj-lt"/>
              </a:rPr>
              <a:t> &amp; </a:t>
            </a:r>
          </a:p>
          <a:p>
            <a:r>
              <a:rPr lang="en-US" sz="3600" dirty="0">
                <a:latin typeface="+mj-lt"/>
              </a:rPr>
              <a:t>Growth in Ghana</a:t>
            </a:r>
          </a:p>
        </p:txBody>
      </p:sp>
      <p:pic>
        <p:nvPicPr>
          <p:cNvPr id="4" name="object 5"/>
          <p:cNvPicPr/>
          <p:nvPr/>
        </p:nvPicPr>
        <p:blipFill>
          <a:blip r:embed="rId2" cstate="print"/>
          <a:stretch>
            <a:fillRect/>
          </a:stretch>
        </p:blipFill>
        <p:spPr>
          <a:xfrm>
            <a:off x="9952695" y="5653177"/>
            <a:ext cx="1573017" cy="566871"/>
          </a:xfrm>
          <a:prstGeom prst="rect">
            <a:avLst/>
          </a:prstGeom>
        </p:spPr>
      </p:pic>
      <p:sp>
        <p:nvSpPr>
          <p:cNvPr id="6" name="Rectangle 5">
            <a:extLst>
              <a:ext uri="{FF2B5EF4-FFF2-40B4-BE49-F238E27FC236}">
                <a16:creationId xmlns:a16="http://schemas.microsoft.com/office/drawing/2014/main" id="{9A8FD784-BF72-2B26-ADAD-019B110FD019}"/>
              </a:ext>
            </a:extLst>
          </p:cNvPr>
          <p:cNvSpPr/>
          <p:nvPr/>
        </p:nvSpPr>
        <p:spPr>
          <a:xfrm flipH="1">
            <a:off x="0" y="6696384"/>
            <a:ext cx="12192000" cy="16161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7" descr="Melcom Limited - Melcom">
            <a:extLst>
              <a:ext uri="{FF2B5EF4-FFF2-40B4-BE49-F238E27FC236}">
                <a16:creationId xmlns:a16="http://schemas.microsoft.com/office/drawing/2014/main" id="{7283755D-1088-57CE-C79D-C9F30154C2DA}"/>
              </a:ext>
            </a:extLst>
          </p:cNvPr>
          <p:cNvPicPr>
            <a:picLocks noChangeAspect="1"/>
          </p:cNvPicPr>
          <p:nvPr/>
        </p:nvPicPr>
        <p:blipFill>
          <a:blip r:embed="rId3"/>
          <a:stretch>
            <a:fillRect/>
          </a:stretch>
        </p:blipFill>
        <p:spPr>
          <a:xfrm>
            <a:off x="10762159" y="40276"/>
            <a:ext cx="1281253" cy="3684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EB8B59-3E29-4AAC-C0A0-B3AD48A01DA3}"/>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83A5C14-ED91-4CD1-809E-D29FF97C9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56065185-5C34-4F86-AA96-AA4D065B0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01600" sx="102000" sy="102000" algn="ctr"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A person sitting on a couch&#10;&#10;AI-generated content may be incorrect.">
            <a:extLst>
              <a:ext uri="{FF2B5EF4-FFF2-40B4-BE49-F238E27FC236}">
                <a16:creationId xmlns:a16="http://schemas.microsoft.com/office/drawing/2014/main" id="{D3EE1F73-FCDD-794F-D7B1-2C2DDDEB2C1F}"/>
              </a:ext>
            </a:extLst>
          </p:cNvPr>
          <p:cNvPicPr>
            <a:picLocks noChangeAspect="1"/>
          </p:cNvPicPr>
          <p:nvPr/>
        </p:nvPicPr>
        <p:blipFill>
          <a:blip r:embed="rId2"/>
          <a:srcRect t="2728" r="2" b="34979"/>
          <a:stretch/>
        </p:blipFill>
        <p:spPr>
          <a:xfrm>
            <a:off x="1291344" y="10"/>
            <a:ext cx="9483371" cy="6857990"/>
          </a:xfrm>
          <a:custGeom>
            <a:avLst/>
            <a:gdLst/>
            <a:ahLst/>
            <a:cxnLst/>
            <a:rect l="l" t="t" r="r" b="b"/>
            <a:pathLst>
              <a:path w="9948672" h="6858000">
                <a:moveTo>
                  <a:pt x="1593452" y="0"/>
                </a:moveTo>
                <a:lnTo>
                  <a:pt x="8355220" y="0"/>
                </a:lnTo>
                <a:lnTo>
                  <a:pt x="8491722" y="130333"/>
                </a:lnTo>
                <a:cubicBezTo>
                  <a:pt x="9391900" y="1031820"/>
                  <a:pt x="9948672" y="2277214"/>
                  <a:pt x="9948672" y="3652838"/>
                </a:cubicBezTo>
                <a:cubicBezTo>
                  <a:pt x="9948672" y="4856509"/>
                  <a:pt x="9522393" y="5960473"/>
                  <a:pt x="8812775" y="6821583"/>
                </a:cubicBezTo>
                <a:lnTo>
                  <a:pt x="8781276" y="6858000"/>
                </a:lnTo>
                <a:lnTo>
                  <a:pt x="1167397" y="6858000"/>
                </a:lnTo>
                <a:lnTo>
                  <a:pt x="1135897" y="6821583"/>
                </a:lnTo>
                <a:cubicBezTo>
                  <a:pt x="426279" y="5960473"/>
                  <a:pt x="0" y="4856509"/>
                  <a:pt x="0" y="3652838"/>
                </a:cubicBezTo>
                <a:cubicBezTo>
                  <a:pt x="0" y="2277214"/>
                  <a:pt x="556772" y="1031820"/>
                  <a:pt x="1456950" y="130333"/>
                </a:cubicBezTo>
                <a:close/>
              </a:path>
            </a:pathLst>
          </a:custGeom>
        </p:spPr>
      </p:pic>
      <p:pic>
        <p:nvPicPr>
          <p:cNvPr id="5" name="Picture 4" descr="Melcom Limited - Melcom">
            <a:extLst>
              <a:ext uri="{FF2B5EF4-FFF2-40B4-BE49-F238E27FC236}">
                <a16:creationId xmlns:a16="http://schemas.microsoft.com/office/drawing/2014/main" id="{CE448744-64A5-7C73-BECA-8358DDF3E5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6763" y="134765"/>
            <a:ext cx="1623934" cy="46508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3E6FE97-3C17-4709-9E64-45D6042CE6B3}"/>
              </a:ext>
            </a:extLst>
          </p:cNvPr>
          <p:cNvSpPr/>
          <p:nvPr/>
        </p:nvSpPr>
        <p:spPr>
          <a:xfrm flipH="1">
            <a:off x="0" y="6696384"/>
            <a:ext cx="12192000" cy="16161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Box 12">
            <a:extLst>
              <a:ext uri="{FF2B5EF4-FFF2-40B4-BE49-F238E27FC236}">
                <a16:creationId xmlns:a16="http://schemas.microsoft.com/office/drawing/2014/main" id="{043205B2-BA85-6383-7A11-15FA3F90C84C}"/>
              </a:ext>
            </a:extLst>
          </p:cNvPr>
          <p:cNvSpPr txBox="1"/>
          <p:nvPr/>
        </p:nvSpPr>
        <p:spPr>
          <a:xfrm>
            <a:off x="1409752" y="2690989"/>
            <a:ext cx="3513454"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8890" algn="ctr"/>
            <a:r>
              <a:rPr lang="en-US" sz="1400" b="1" i="1" spc="-99" dirty="0">
                <a:solidFill>
                  <a:schemeClr val="bg1"/>
                </a:solidFill>
                <a:latin typeface="+mj-lt"/>
              </a:rPr>
              <a:t>    </a:t>
            </a:r>
            <a:r>
              <a:rPr lang="en-US" sz="1400" b="1" i="1" spc="-99" dirty="0">
                <a:latin typeface="+mj-lt"/>
              </a:rPr>
              <a:t>  </a:t>
            </a:r>
            <a:r>
              <a:rPr lang="en-US" sz="1400" b="1" i="1" spc="-99" dirty="0">
                <a:solidFill>
                  <a:schemeClr val="bg1"/>
                </a:solidFill>
                <a:latin typeface="+mj-lt"/>
              </a:rPr>
              <a:t>“</a:t>
            </a:r>
            <a:r>
              <a:rPr lang="en-US" sz="1400" b="1" i="1" spc="-99" dirty="0">
                <a:solidFill>
                  <a:schemeClr val="bg1"/>
                </a:solidFill>
                <a:latin typeface="+mj-lt"/>
                <a:cs typeface="Aptos Serif"/>
              </a:rPr>
              <a:t>With</a:t>
            </a:r>
            <a:r>
              <a:rPr lang="en-US" sz="1400" b="1" i="1" spc="-90" dirty="0">
                <a:solidFill>
                  <a:schemeClr val="bg1"/>
                </a:solidFill>
                <a:latin typeface="+mj-lt"/>
                <a:cs typeface="Aptos Serif"/>
              </a:rPr>
              <a:t> hard</a:t>
            </a:r>
            <a:r>
              <a:rPr lang="en-US" sz="1400" b="1" i="1" spc="-96" dirty="0">
                <a:solidFill>
                  <a:schemeClr val="bg1"/>
                </a:solidFill>
                <a:latin typeface="+mj-lt"/>
                <a:cs typeface="Aptos Serif"/>
              </a:rPr>
              <a:t> </a:t>
            </a:r>
            <a:r>
              <a:rPr lang="en-US" sz="1400" b="1" i="1" spc="-80" dirty="0">
                <a:solidFill>
                  <a:schemeClr val="bg1"/>
                </a:solidFill>
                <a:latin typeface="+mj-lt"/>
                <a:cs typeface="Aptos Serif"/>
              </a:rPr>
              <a:t>work</a:t>
            </a:r>
            <a:r>
              <a:rPr lang="en-US" sz="1400" b="1" i="1" spc="-93" dirty="0">
                <a:solidFill>
                  <a:schemeClr val="bg1"/>
                </a:solidFill>
                <a:latin typeface="+mj-lt"/>
                <a:cs typeface="Aptos Serif"/>
              </a:rPr>
              <a:t> </a:t>
            </a:r>
            <a:r>
              <a:rPr lang="en-US" sz="1400" b="1" i="1" spc="-99" dirty="0">
                <a:solidFill>
                  <a:schemeClr val="bg1"/>
                </a:solidFill>
                <a:latin typeface="+mj-lt"/>
                <a:cs typeface="Aptos Serif"/>
              </a:rPr>
              <a:t>and,</a:t>
            </a:r>
            <a:r>
              <a:rPr lang="en-US" sz="1400" b="1" i="1" spc="-87" dirty="0">
                <a:solidFill>
                  <a:schemeClr val="bg1"/>
                </a:solidFill>
                <a:latin typeface="+mj-lt"/>
                <a:cs typeface="Aptos Serif"/>
              </a:rPr>
              <a:t> </a:t>
            </a:r>
            <a:r>
              <a:rPr lang="en-US" sz="1400" b="1" i="1" spc="-26" dirty="0">
                <a:solidFill>
                  <a:schemeClr val="bg1"/>
                </a:solidFill>
                <a:latin typeface="+mj-lt"/>
                <a:cs typeface="Aptos Serif"/>
              </a:rPr>
              <a:t>hopefully, </a:t>
            </a:r>
            <a:r>
              <a:rPr lang="en-US" sz="1400" b="1" i="1" spc="-103" dirty="0">
                <a:solidFill>
                  <a:schemeClr val="bg1"/>
                </a:solidFill>
                <a:latin typeface="+mj-lt"/>
                <a:cs typeface="Aptos Serif"/>
              </a:rPr>
              <a:t>a</a:t>
            </a:r>
            <a:r>
              <a:rPr lang="en-US" sz="1400" b="1" i="1" spc="-93" dirty="0">
                <a:solidFill>
                  <a:schemeClr val="bg1"/>
                </a:solidFill>
                <a:latin typeface="+mj-lt"/>
                <a:cs typeface="Aptos Serif"/>
              </a:rPr>
              <a:t> </a:t>
            </a:r>
            <a:r>
              <a:rPr lang="en-US" sz="1400" b="1" i="1" spc="-96" dirty="0">
                <a:solidFill>
                  <a:schemeClr val="bg1"/>
                </a:solidFill>
                <a:latin typeface="+mj-lt"/>
                <a:cs typeface="Aptos Serif"/>
              </a:rPr>
              <a:t>bit</a:t>
            </a:r>
            <a:r>
              <a:rPr lang="en-US" sz="1400" b="1" i="1" spc="-93" dirty="0">
                <a:solidFill>
                  <a:schemeClr val="bg1"/>
                </a:solidFill>
                <a:latin typeface="+mj-lt"/>
                <a:cs typeface="Aptos Serif"/>
              </a:rPr>
              <a:t> </a:t>
            </a:r>
            <a:r>
              <a:rPr lang="en-US" sz="1400" b="1" i="1" spc="-96" dirty="0">
                <a:solidFill>
                  <a:schemeClr val="bg1"/>
                </a:solidFill>
                <a:latin typeface="+mj-lt"/>
                <a:cs typeface="Aptos Serif"/>
              </a:rPr>
              <a:t>of</a:t>
            </a:r>
            <a:r>
              <a:rPr lang="en-US" sz="1400" b="1" i="1" spc="-112" dirty="0">
                <a:solidFill>
                  <a:schemeClr val="bg1"/>
                </a:solidFill>
                <a:latin typeface="+mj-lt"/>
                <a:cs typeface="Aptos Serif"/>
              </a:rPr>
              <a:t> </a:t>
            </a:r>
            <a:r>
              <a:rPr lang="en-US" sz="1400" b="1" i="1" spc="-67" dirty="0">
                <a:solidFill>
                  <a:schemeClr val="bg1"/>
                </a:solidFill>
                <a:latin typeface="+mj-lt"/>
                <a:cs typeface="Aptos Serif"/>
              </a:rPr>
              <a:t>luck</a:t>
            </a:r>
            <a:r>
              <a:rPr lang="en-US" sz="1400" b="1" i="1" spc="-93" dirty="0">
                <a:solidFill>
                  <a:schemeClr val="bg1"/>
                </a:solidFill>
                <a:latin typeface="+mj-lt"/>
                <a:cs typeface="Aptos Serif"/>
              </a:rPr>
              <a:t> </a:t>
            </a:r>
            <a:r>
              <a:rPr lang="en-US" sz="1400" b="1" i="1" spc="-73" dirty="0">
                <a:solidFill>
                  <a:schemeClr val="bg1"/>
                </a:solidFill>
                <a:latin typeface="+mj-lt"/>
                <a:cs typeface="Aptos Serif"/>
              </a:rPr>
              <a:t>along</a:t>
            </a:r>
            <a:r>
              <a:rPr lang="en-US" sz="1400" b="1" i="1" spc="-96" dirty="0">
                <a:solidFill>
                  <a:schemeClr val="bg1"/>
                </a:solidFill>
                <a:latin typeface="+mj-lt"/>
                <a:cs typeface="Aptos Serif"/>
              </a:rPr>
              <a:t> </a:t>
            </a:r>
            <a:r>
              <a:rPr lang="en-US" sz="1400" b="1" i="1" spc="-77" dirty="0">
                <a:solidFill>
                  <a:schemeClr val="bg1"/>
                </a:solidFill>
                <a:latin typeface="+mj-lt"/>
                <a:cs typeface="Aptos Serif"/>
              </a:rPr>
              <a:t>the</a:t>
            </a:r>
            <a:r>
              <a:rPr lang="en-US" sz="1400" b="1" i="1" spc="-99" dirty="0">
                <a:solidFill>
                  <a:schemeClr val="bg1"/>
                </a:solidFill>
                <a:latin typeface="+mj-lt"/>
                <a:cs typeface="Aptos Serif"/>
              </a:rPr>
              <a:t> </a:t>
            </a:r>
            <a:r>
              <a:rPr lang="en-US" sz="1400" b="1" i="1" spc="-128" dirty="0">
                <a:solidFill>
                  <a:schemeClr val="bg1"/>
                </a:solidFill>
                <a:latin typeface="+mj-lt"/>
                <a:cs typeface="Aptos Serif"/>
              </a:rPr>
              <a:t>way,</a:t>
            </a:r>
            <a:r>
              <a:rPr lang="en-US" sz="1400" b="1" i="1" spc="-90" dirty="0">
                <a:solidFill>
                  <a:schemeClr val="bg1"/>
                </a:solidFill>
                <a:latin typeface="+mj-lt"/>
                <a:cs typeface="Aptos Serif"/>
              </a:rPr>
              <a:t> </a:t>
            </a:r>
          </a:p>
          <a:p>
            <a:pPr marL="8890" algn="ctr"/>
            <a:r>
              <a:rPr lang="en-US" sz="1400" b="1" i="1" spc="-71" dirty="0">
                <a:solidFill>
                  <a:schemeClr val="bg1"/>
                </a:solidFill>
                <a:latin typeface="+mj-lt"/>
                <a:cs typeface="Aptos Serif"/>
              </a:rPr>
              <a:t>Surely you</a:t>
            </a:r>
            <a:r>
              <a:rPr lang="en-US" sz="1400" b="1" i="1" spc="-103" dirty="0">
                <a:solidFill>
                  <a:schemeClr val="bg1"/>
                </a:solidFill>
                <a:latin typeface="+mj-lt"/>
                <a:cs typeface="Aptos Serif"/>
              </a:rPr>
              <a:t> </a:t>
            </a:r>
            <a:r>
              <a:rPr lang="en-US" sz="1400" b="1" i="1" spc="-96" dirty="0">
                <a:solidFill>
                  <a:schemeClr val="bg1"/>
                </a:solidFill>
                <a:latin typeface="+mj-lt"/>
                <a:cs typeface="Aptos Serif"/>
              </a:rPr>
              <a:t>will </a:t>
            </a:r>
            <a:r>
              <a:rPr lang="en-US" sz="1400" b="1" i="1" spc="-106" dirty="0">
                <a:solidFill>
                  <a:schemeClr val="bg1"/>
                </a:solidFill>
                <a:latin typeface="+mj-lt"/>
                <a:cs typeface="Aptos Serif"/>
              </a:rPr>
              <a:t>fly</a:t>
            </a:r>
            <a:r>
              <a:rPr lang="en-US" sz="1400" b="1" i="1" spc="-125" dirty="0">
                <a:solidFill>
                  <a:schemeClr val="bg1"/>
                </a:solidFill>
                <a:latin typeface="+mj-lt"/>
                <a:cs typeface="Aptos Serif"/>
              </a:rPr>
              <a:t> </a:t>
            </a:r>
            <a:r>
              <a:rPr lang="en-US" sz="1400" b="1" i="1" spc="-67" dirty="0">
                <a:solidFill>
                  <a:schemeClr val="bg1"/>
                </a:solidFill>
                <a:latin typeface="+mj-lt"/>
                <a:cs typeface="Aptos Serif"/>
              </a:rPr>
              <a:t>with</a:t>
            </a:r>
            <a:r>
              <a:rPr lang="en-US" sz="1400" b="1" i="1" spc="-99" dirty="0">
                <a:solidFill>
                  <a:schemeClr val="bg1"/>
                </a:solidFill>
                <a:latin typeface="+mj-lt"/>
                <a:cs typeface="Aptos Serif"/>
              </a:rPr>
              <a:t> </a:t>
            </a:r>
            <a:r>
              <a:rPr lang="en-US" sz="1400" b="1" i="1" spc="-77" dirty="0">
                <a:solidFill>
                  <a:schemeClr val="bg1"/>
                </a:solidFill>
                <a:latin typeface="+mj-lt"/>
                <a:cs typeface="Aptos Serif"/>
              </a:rPr>
              <a:t>the</a:t>
            </a:r>
            <a:r>
              <a:rPr lang="en-US" sz="1400" b="1" i="1" spc="-93" dirty="0">
                <a:solidFill>
                  <a:schemeClr val="bg1"/>
                </a:solidFill>
                <a:latin typeface="+mj-lt"/>
                <a:cs typeface="Aptos Serif"/>
              </a:rPr>
              <a:t> </a:t>
            </a:r>
            <a:r>
              <a:rPr lang="en-US" sz="1400" b="1" i="1" spc="-109" dirty="0">
                <a:solidFill>
                  <a:schemeClr val="bg1"/>
                </a:solidFill>
                <a:latin typeface="+mj-lt"/>
                <a:cs typeface="Aptos Serif"/>
              </a:rPr>
              <a:t>birds,</a:t>
            </a:r>
            <a:r>
              <a:rPr lang="en-US" sz="1400" b="1" i="1" spc="-93" dirty="0">
                <a:solidFill>
                  <a:schemeClr val="bg1"/>
                </a:solidFill>
                <a:latin typeface="+mj-lt"/>
                <a:cs typeface="Aptos Serif"/>
              </a:rPr>
              <a:t> </a:t>
            </a:r>
            <a:r>
              <a:rPr lang="en-US" sz="1400" b="1" i="1" spc="-109" dirty="0">
                <a:solidFill>
                  <a:schemeClr val="bg1"/>
                </a:solidFill>
                <a:latin typeface="+mj-lt"/>
                <a:cs typeface="Aptos Serif"/>
              </a:rPr>
              <a:t>if</a:t>
            </a:r>
            <a:r>
              <a:rPr lang="en-US" sz="1400" b="1" i="1" spc="-112" dirty="0">
                <a:solidFill>
                  <a:schemeClr val="bg1"/>
                </a:solidFill>
                <a:latin typeface="+mj-lt"/>
                <a:cs typeface="Aptos Serif"/>
              </a:rPr>
              <a:t> </a:t>
            </a:r>
            <a:r>
              <a:rPr lang="en-US" sz="1400" b="1" i="1" spc="-16" dirty="0">
                <a:solidFill>
                  <a:schemeClr val="bg1"/>
                </a:solidFill>
                <a:latin typeface="+mj-lt"/>
                <a:cs typeface="Aptos Serif"/>
              </a:rPr>
              <a:t>not </a:t>
            </a:r>
            <a:r>
              <a:rPr lang="en-US" sz="1400" b="1" i="1" spc="-61" dirty="0">
                <a:solidFill>
                  <a:schemeClr val="bg1"/>
                </a:solidFill>
                <a:latin typeface="+mj-lt"/>
                <a:cs typeface="Aptos Serif"/>
              </a:rPr>
              <a:t>touch</a:t>
            </a:r>
            <a:r>
              <a:rPr lang="en-US" sz="1400" b="1" i="1" spc="-96" dirty="0">
                <a:solidFill>
                  <a:schemeClr val="bg1"/>
                </a:solidFill>
                <a:latin typeface="+mj-lt"/>
                <a:cs typeface="Aptos Serif"/>
              </a:rPr>
              <a:t> </a:t>
            </a:r>
            <a:r>
              <a:rPr lang="en-US" sz="1400" b="1" i="1" spc="-77" dirty="0">
                <a:solidFill>
                  <a:schemeClr val="bg1"/>
                </a:solidFill>
                <a:latin typeface="+mj-lt"/>
                <a:cs typeface="Aptos Serif"/>
              </a:rPr>
              <a:t>the</a:t>
            </a:r>
            <a:r>
              <a:rPr lang="en-US" sz="1400" b="1" i="1" spc="-87" dirty="0">
                <a:solidFill>
                  <a:schemeClr val="bg1"/>
                </a:solidFill>
                <a:latin typeface="+mj-lt"/>
                <a:cs typeface="Aptos Serif"/>
              </a:rPr>
              <a:t> </a:t>
            </a:r>
            <a:r>
              <a:rPr lang="en-US" sz="1400" b="1" i="1" spc="-61" dirty="0">
                <a:solidFill>
                  <a:schemeClr val="bg1"/>
                </a:solidFill>
                <a:latin typeface="+mj-lt"/>
                <a:cs typeface="Aptos Serif"/>
              </a:rPr>
              <a:t>stars.”</a:t>
            </a:r>
          </a:p>
          <a:p>
            <a:pPr algn="ctr"/>
            <a:r>
              <a:rPr lang="en-US" sz="1400" b="1" dirty="0">
                <a:solidFill>
                  <a:schemeClr val="bg1"/>
                </a:solidFill>
                <a:latin typeface="+mj-lt"/>
                <a:cs typeface="Tahoma"/>
              </a:rPr>
              <a:t>-</a:t>
            </a:r>
            <a:r>
              <a:rPr lang="en-US" sz="1400" b="1" spc="144" dirty="0">
                <a:solidFill>
                  <a:schemeClr val="bg1"/>
                </a:solidFill>
                <a:latin typeface="+mj-lt"/>
                <a:cs typeface="Tahoma"/>
              </a:rPr>
              <a:t> </a:t>
            </a:r>
            <a:r>
              <a:rPr lang="en-US" sz="1400" b="1" spc="-16" dirty="0">
                <a:solidFill>
                  <a:schemeClr val="bg1"/>
                </a:solidFill>
                <a:latin typeface="+mj-lt"/>
                <a:cs typeface="Tahoma"/>
              </a:rPr>
              <a:t>BHAGWAN</a:t>
            </a:r>
            <a:r>
              <a:rPr lang="en-US" sz="1400" b="1" spc="-32" dirty="0">
                <a:solidFill>
                  <a:schemeClr val="bg1"/>
                </a:solidFill>
                <a:latin typeface="+mj-lt"/>
                <a:cs typeface="Tahoma"/>
              </a:rPr>
              <a:t> </a:t>
            </a:r>
            <a:r>
              <a:rPr lang="en-US" sz="1400" b="1" spc="-13" dirty="0">
                <a:solidFill>
                  <a:schemeClr val="bg1"/>
                </a:solidFill>
                <a:latin typeface="+mj-lt"/>
                <a:cs typeface="Tahoma"/>
              </a:rPr>
              <a:t>RAMCHAND</a:t>
            </a:r>
            <a:r>
              <a:rPr lang="en-US" sz="1400" b="1" spc="-35" dirty="0">
                <a:solidFill>
                  <a:schemeClr val="bg1"/>
                </a:solidFill>
                <a:latin typeface="+mj-lt"/>
                <a:cs typeface="Tahoma"/>
              </a:rPr>
              <a:t> </a:t>
            </a:r>
            <a:r>
              <a:rPr lang="en-US" sz="1400" b="1" spc="-6" dirty="0">
                <a:solidFill>
                  <a:schemeClr val="bg1"/>
                </a:solidFill>
                <a:latin typeface="+mj-lt"/>
                <a:cs typeface="Tahoma"/>
              </a:rPr>
              <a:t>KHUBCHANDANI</a:t>
            </a:r>
          </a:p>
          <a:p>
            <a:pPr algn="ctr"/>
            <a:r>
              <a:rPr lang="en-US" sz="1400" b="1" spc="-6" dirty="0">
                <a:solidFill>
                  <a:schemeClr val="bg1"/>
                </a:solidFill>
                <a:latin typeface="+mj-lt"/>
                <a:cs typeface="Tahoma"/>
              </a:rPr>
              <a:t>FOUNDER</a:t>
            </a:r>
          </a:p>
        </p:txBody>
      </p:sp>
      <p:pic>
        <p:nvPicPr>
          <p:cNvPr id="15" name="object 5">
            <a:extLst>
              <a:ext uri="{FF2B5EF4-FFF2-40B4-BE49-F238E27FC236}">
                <a16:creationId xmlns:a16="http://schemas.microsoft.com/office/drawing/2014/main" id="{EC7F6F69-C372-9C64-BF43-000F594DD030}"/>
              </a:ext>
            </a:extLst>
          </p:cNvPr>
          <p:cNvPicPr/>
          <p:nvPr/>
        </p:nvPicPr>
        <p:blipFill>
          <a:blip r:embed="rId4" cstate="print"/>
          <a:stretch>
            <a:fillRect/>
          </a:stretch>
        </p:blipFill>
        <p:spPr>
          <a:xfrm>
            <a:off x="10614053" y="6127630"/>
            <a:ext cx="1573017" cy="566871"/>
          </a:xfrm>
          <a:prstGeom prst="rect">
            <a:avLst/>
          </a:prstGeom>
        </p:spPr>
      </p:pic>
    </p:spTree>
    <p:extLst>
      <p:ext uri="{BB962C8B-B14F-4D97-AF65-F5344CB8AC3E}">
        <p14:creationId xmlns:p14="http://schemas.microsoft.com/office/powerpoint/2010/main" val="107539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FB0DB1-D941-B344-5C73-D9229FFAC650}"/>
            </a:ext>
          </a:extLst>
        </p:cNvPr>
        <p:cNvGrpSpPr/>
        <p:nvPr/>
      </p:nvGrpSpPr>
      <p:grpSpPr>
        <a:xfrm>
          <a:off x="0" y="0"/>
          <a:ext cx="0" cy="0"/>
          <a:chOff x="0" y="0"/>
          <a:chExt cx="0" cy="0"/>
        </a:xfrm>
      </p:grpSpPr>
      <p:sp useBgFill="1">
        <p:nvSpPr>
          <p:cNvPr id="6211" name="Rectangle 621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DCA43EC5-F124-6166-8CE1-9846A4EEE1E8}"/>
              </a:ext>
            </a:extLst>
          </p:cNvPr>
          <p:cNvSpPr>
            <a:spLocks noGrp="1"/>
          </p:cNvSpPr>
          <p:nvPr>
            <p:ph type="title"/>
          </p:nvPr>
        </p:nvSpPr>
        <p:spPr>
          <a:xfrm>
            <a:off x="838200" y="365125"/>
            <a:ext cx="5393361" cy="1325563"/>
          </a:xfrm>
        </p:spPr>
        <p:txBody>
          <a:bodyPr vert="horz" lIns="91440" tIns="45720" rIns="91440" bIns="45720" rtlCol="0" anchor="ctr">
            <a:normAutofit/>
          </a:bodyPr>
          <a:lstStyle/>
          <a:p>
            <a:r>
              <a:rPr lang="en-US" kern="1200" dirty="0">
                <a:solidFill>
                  <a:schemeClr val="tx1"/>
                </a:solidFill>
                <a:latin typeface="+mj-lt"/>
                <a:ea typeface="+mj-ea"/>
                <a:cs typeface="+mj-cs"/>
              </a:rPr>
              <a:t>Who We Are..</a:t>
            </a:r>
          </a:p>
          <a:p>
            <a:endParaRPr lang="en-US" b="1" kern="1200" dirty="0">
              <a:solidFill>
                <a:schemeClr val="tx1"/>
              </a:solidFill>
              <a:latin typeface="+mj-lt"/>
              <a:ea typeface="+mj-ea"/>
              <a:cs typeface="+mj-cs"/>
            </a:endParaRPr>
          </a:p>
        </p:txBody>
      </p:sp>
      <p:sp>
        <p:nvSpPr>
          <p:cNvPr id="6213" name="Freeform: Shape 621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06" name="TextBox 6205">
            <a:extLst>
              <a:ext uri="{FF2B5EF4-FFF2-40B4-BE49-F238E27FC236}">
                <a16:creationId xmlns:a16="http://schemas.microsoft.com/office/drawing/2014/main" id="{D57D9D00-D676-1BDB-CFEF-DDB413A6E85E}"/>
              </a:ext>
            </a:extLst>
          </p:cNvPr>
          <p:cNvSpPr txBox="1"/>
          <p:nvPr/>
        </p:nvSpPr>
        <p:spPr>
          <a:xfrm>
            <a:off x="7441722" y="1388852"/>
            <a:ext cx="4468481" cy="38625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spcAft>
                <a:spcPts val="600"/>
              </a:spcAft>
              <a:buFont typeface="Arial"/>
              <a:buChar char="•"/>
            </a:pPr>
            <a:r>
              <a:rPr lang="en-US" sz="2400" dirty="0">
                <a:latin typeface="+mj-lt"/>
              </a:rPr>
              <a:t>Melcom Group is one of  Ghana’s largest and most diversified business conglomerate with interests in</a:t>
            </a:r>
            <a:endParaRPr lang="en-US" dirty="0">
              <a:latin typeface="+mj-lt"/>
            </a:endParaRPr>
          </a:p>
          <a:p>
            <a:pPr marL="342900" indent="-342900">
              <a:lnSpc>
                <a:spcPct val="150000"/>
              </a:lnSpc>
              <a:buFont typeface="Arial"/>
              <a:buChar char="•"/>
            </a:pPr>
            <a:r>
              <a:rPr lang="en-US" sz="2400" dirty="0">
                <a:latin typeface="+mj-lt"/>
              </a:rPr>
              <a:t>Founded in 1989, Melcom is “ Where Ghana Shops”</a:t>
            </a:r>
          </a:p>
          <a:p>
            <a:pPr algn="just">
              <a:spcAft>
                <a:spcPts val="600"/>
              </a:spcAft>
            </a:pPr>
            <a:endParaRPr lang="en-US" sz="2400" dirty="0">
              <a:latin typeface="+mj-lt"/>
            </a:endParaRPr>
          </a:p>
        </p:txBody>
      </p:sp>
      <p:sp>
        <p:nvSpPr>
          <p:cNvPr id="6215" name="Oval 621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7" name="Freeform: Shape 621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6219" name="Straight Connector 621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6221" name="Freeform: Shape 622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6223" name="Freeform: Shape 622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25" name="Freeform: Shape 622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6" name="Rectangle 5">
            <a:extLst>
              <a:ext uri="{FF2B5EF4-FFF2-40B4-BE49-F238E27FC236}">
                <a16:creationId xmlns:a16="http://schemas.microsoft.com/office/drawing/2014/main" id="{CE0C65EC-F30A-450B-5093-2A6D8A7504B1}"/>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6549" name="Picture 6548" descr="Melcom Limited - Melcom">
            <a:extLst>
              <a:ext uri="{FF2B5EF4-FFF2-40B4-BE49-F238E27FC236}">
                <a16:creationId xmlns:a16="http://schemas.microsoft.com/office/drawing/2014/main" id="{4EEF79CB-51C3-28F0-19A7-E0E669DE6E1A}"/>
              </a:ext>
            </a:extLst>
          </p:cNvPr>
          <p:cNvPicPr>
            <a:picLocks noChangeAspect="1"/>
          </p:cNvPicPr>
          <p:nvPr/>
        </p:nvPicPr>
        <p:blipFill>
          <a:blip r:embed="rId2"/>
          <a:stretch>
            <a:fillRect/>
          </a:stretch>
        </p:blipFill>
        <p:spPr>
          <a:xfrm>
            <a:off x="10790913" y="-2856"/>
            <a:ext cx="1353140" cy="368483"/>
          </a:xfrm>
          <a:prstGeom prst="rect">
            <a:avLst/>
          </a:prstGeom>
        </p:spPr>
      </p:pic>
      <p:pic>
        <p:nvPicPr>
          <p:cNvPr id="4" name="Graphic 3" descr="Shopping cart with solid fill">
            <a:extLst>
              <a:ext uri="{FF2B5EF4-FFF2-40B4-BE49-F238E27FC236}">
                <a16:creationId xmlns:a16="http://schemas.microsoft.com/office/drawing/2014/main" id="{EEACB1F6-5492-EFE5-7DE7-60EF6D54D6B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377" y="1690688"/>
            <a:ext cx="914400" cy="914400"/>
          </a:xfrm>
          <a:prstGeom prst="rect">
            <a:avLst/>
          </a:prstGeom>
        </p:spPr>
      </p:pic>
      <p:pic>
        <p:nvPicPr>
          <p:cNvPr id="7" name="Graphic 6" descr="Social network with solid fill">
            <a:extLst>
              <a:ext uri="{FF2B5EF4-FFF2-40B4-BE49-F238E27FC236}">
                <a16:creationId xmlns:a16="http://schemas.microsoft.com/office/drawing/2014/main" id="{2FB887D5-3B72-4B4E-3E0C-94C0D2115E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01654" y="4565592"/>
            <a:ext cx="914400" cy="914400"/>
          </a:xfrm>
          <a:prstGeom prst="rect">
            <a:avLst/>
          </a:prstGeom>
        </p:spPr>
      </p:pic>
      <p:pic>
        <p:nvPicPr>
          <p:cNvPr id="9" name="Graphic 8" descr="Heartbeat with solid fill">
            <a:extLst>
              <a:ext uri="{FF2B5EF4-FFF2-40B4-BE49-F238E27FC236}">
                <a16:creationId xmlns:a16="http://schemas.microsoft.com/office/drawing/2014/main" id="{A9174B8B-1AB0-B018-3C86-4489ABB70D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89463" y="3258464"/>
            <a:ext cx="914400" cy="914400"/>
          </a:xfrm>
          <a:prstGeom prst="rect">
            <a:avLst/>
          </a:prstGeom>
        </p:spPr>
      </p:pic>
      <p:pic>
        <p:nvPicPr>
          <p:cNvPr id="11" name="Graphic 10" descr="Table setting with solid fill">
            <a:extLst>
              <a:ext uri="{FF2B5EF4-FFF2-40B4-BE49-F238E27FC236}">
                <a16:creationId xmlns:a16="http://schemas.microsoft.com/office/drawing/2014/main" id="{EAE8D699-5E5F-333F-7519-4B6ACAAC043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22927" y="3281537"/>
            <a:ext cx="914400" cy="914400"/>
          </a:xfrm>
          <a:prstGeom prst="rect">
            <a:avLst/>
          </a:prstGeom>
        </p:spPr>
      </p:pic>
      <p:pic>
        <p:nvPicPr>
          <p:cNvPr id="13" name="Graphic 12" descr="Computer with solid fill">
            <a:extLst>
              <a:ext uri="{FF2B5EF4-FFF2-40B4-BE49-F238E27FC236}">
                <a16:creationId xmlns:a16="http://schemas.microsoft.com/office/drawing/2014/main" id="{4617A9DD-3AB8-8C5E-54BD-FC7E2F1F8CC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34880" y="1713751"/>
            <a:ext cx="914400" cy="914400"/>
          </a:xfrm>
          <a:prstGeom prst="rect">
            <a:avLst/>
          </a:prstGeom>
        </p:spPr>
      </p:pic>
      <p:pic>
        <p:nvPicPr>
          <p:cNvPr id="15" name="Graphic 14" descr="Factory with solid fill">
            <a:extLst>
              <a:ext uri="{FF2B5EF4-FFF2-40B4-BE49-F238E27FC236}">
                <a16:creationId xmlns:a16="http://schemas.microsoft.com/office/drawing/2014/main" id="{65B3B62E-CBEF-4130-D5B8-CF295193030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79307" y="1699892"/>
            <a:ext cx="914400" cy="914400"/>
          </a:xfrm>
          <a:prstGeom prst="rect">
            <a:avLst/>
          </a:prstGeom>
        </p:spPr>
      </p:pic>
      <p:pic>
        <p:nvPicPr>
          <p:cNvPr id="17" name="Graphic 16" descr="Airplane with solid fill">
            <a:extLst>
              <a:ext uri="{FF2B5EF4-FFF2-40B4-BE49-F238E27FC236}">
                <a16:creationId xmlns:a16="http://schemas.microsoft.com/office/drawing/2014/main" id="{E6A92F5D-0F2A-70B1-112E-87114865A0B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12234" y="3281589"/>
            <a:ext cx="914400" cy="914400"/>
          </a:xfrm>
          <a:prstGeom prst="rect">
            <a:avLst/>
          </a:prstGeom>
        </p:spPr>
      </p:pic>
      <p:grpSp>
        <p:nvGrpSpPr>
          <p:cNvPr id="18" name="Group 17">
            <a:extLst>
              <a:ext uri="{FF2B5EF4-FFF2-40B4-BE49-F238E27FC236}">
                <a16:creationId xmlns:a16="http://schemas.microsoft.com/office/drawing/2014/main" id="{E506E5B1-4757-0FA0-36F3-FF8F1D9A628F}"/>
              </a:ext>
            </a:extLst>
          </p:cNvPr>
          <p:cNvGrpSpPr/>
          <p:nvPr/>
        </p:nvGrpSpPr>
        <p:grpSpPr>
          <a:xfrm>
            <a:off x="116258" y="4341633"/>
            <a:ext cx="1455468" cy="582187"/>
            <a:chOff x="342" y="1368415"/>
            <a:chExt cx="1455468" cy="582187"/>
          </a:xfrm>
        </p:grpSpPr>
        <p:sp>
          <p:nvSpPr>
            <p:cNvPr id="37" name="Rectangle 36">
              <a:extLst>
                <a:ext uri="{FF2B5EF4-FFF2-40B4-BE49-F238E27FC236}">
                  <a16:creationId xmlns:a16="http://schemas.microsoft.com/office/drawing/2014/main" id="{9B532A5B-6E2A-936D-D183-BCD8424CA68B}"/>
                </a:ext>
              </a:extLst>
            </p:cNvPr>
            <p:cNvSpPr/>
            <p:nvPr/>
          </p:nvSpPr>
          <p:spPr>
            <a:xfrm>
              <a:off x="342" y="1368415"/>
              <a:ext cx="1455468" cy="5821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8" name="TextBox 37">
              <a:extLst>
                <a:ext uri="{FF2B5EF4-FFF2-40B4-BE49-F238E27FC236}">
                  <a16:creationId xmlns:a16="http://schemas.microsoft.com/office/drawing/2014/main" id="{E9C38674-11BC-A064-CFCB-323FB4BD9DB9}"/>
                </a:ext>
              </a:extLst>
            </p:cNvPr>
            <p:cNvSpPr txBox="1"/>
            <p:nvPr/>
          </p:nvSpPr>
          <p:spPr>
            <a:xfrm>
              <a:off x="342" y="1368415"/>
              <a:ext cx="1455468" cy="58218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rtl="0">
                <a:lnSpc>
                  <a:spcPct val="100000"/>
                </a:lnSpc>
                <a:spcBef>
                  <a:spcPct val="0"/>
                </a:spcBef>
                <a:spcAft>
                  <a:spcPct val="35000"/>
                </a:spcAft>
                <a:buNone/>
              </a:pPr>
              <a:r>
                <a:rPr lang="en-US" sz="1800" kern="1200" dirty="0">
                  <a:solidFill>
                    <a:srgbClr val="000000"/>
                  </a:solidFill>
                  <a:latin typeface="Calibri"/>
                  <a:ea typeface="Calibri"/>
                  <a:cs typeface="Calibri"/>
                </a:rPr>
                <a:t>Travel</a:t>
              </a:r>
              <a:endParaRPr lang="en-US" sz="1800" kern="1200" dirty="0">
                <a:latin typeface="Aptos Display" panose="020F0302020204030204"/>
              </a:endParaRPr>
            </a:p>
          </p:txBody>
        </p:sp>
      </p:grpSp>
      <p:grpSp>
        <p:nvGrpSpPr>
          <p:cNvPr id="19" name="Group 18">
            <a:extLst>
              <a:ext uri="{FF2B5EF4-FFF2-40B4-BE49-F238E27FC236}">
                <a16:creationId xmlns:a16="http://schemas.microsoft.com/office/drawing/2014/main" id="{2669C642-8055-ABB6-2BDD-63062C4C7649}"/>
              </a:ext>
            </a:extLst>
          </p:cNvPr>
          <p:cNvGrpSpPr/>
          <p:nvPr/>
        </p:nvGrpSpPr>
        <p:grpSpPr>
          <a:xfrm>
            <a:off x="1600000" y="2665203"/>
            <a:ext cx="1513942" cy="973473"/>
            <a:chOff x="1652044" y="977129"/>
            <a:chExt cx="1513942" cy="973473"/>
          </a:xfrm>
        </p:grpSpPr>
        <p:sp>
          <p:nvSpPr>
            <p:cNvPr id="35" name="Rectangle 34">
              <a:extLst>
                <a:ext uri="{FF2B5EF4-FFF2-40B4-BE49-F238E27FC236}">
                  <a16:creationId xmlns:a16="http://schemas.microsoft.com/office/drawing/2014/main" id="{A14F26B9-331C-01C2-75EE-8ECBCEABE388}"/>
                </a:ext>
              </a:extLst>
            </p:cNvPr>
            <p:cNvSpPr/>
            <p:nvPr/>
          </p:nvSpPr>
          <p:spPr>
            <a:xfrm>
              <a:off x="1710518" y="1368415"/>
              <a:ext cx="1455468" cy="5821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6" name="TextBox 35">
              <a:extLst>
                <a:ext uri="{FF2B5EF4-FFF2-40B4-BE49-F238E27FC236}">
                  <a16:creationId xmlns:a16="http://schemas.microsoft.com/office/drawing/2014/main" id="{AD892FFB-A3CB-6864-EC5D-17FC1BBDF65D}"/>
                </a:ext>
              </a:extLst>
            </p:cNvPr>
            <p:cNvSpPr txBox="1"/>
            <p:nvPr/>
          </p:nvSpPr>
          <p:spPr>
            <a:xfrm>
              <a:off x="1652044" y="977129"/>
              <a:ext cx="1455468" cy="58218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Aptos Display" panose="020F0302020204030204"/>
                </a:rPr>
                <a:t>Manufacturing</a:t>
              </a:r>
            </a:p>
          </p:txBody>
        </p:sp>
      </p:grpSp>
      <p:grpSp>
        <p:nvGrpSpPr>
          <p:cNvPr id="20" name="Group 19">
            <a:extLst>
              <a:ext uri="{FF2B5EF4-FFF2-40B4-BE49-F238E27FC236}">
                <a16:creationId xmlns:a16="http://schemas.microsoft.com/office/drawing/2014/main" id="{B8DE6E1B-9AFD-D3F9-5FBE-AE708596C788}"/>
              </a:ext>
            </a:extLst>
          </p:cNvPr>
          <p:cNvGrpSpPr/>
          <p:nvPr/>
        </p:nvGrpSpPr>
        <p:grpSpPr>
          <a:xfrm>
            <a:off x="3339412" y="2651214"/>
            <a:ext cx="1455468" cy="582187"/>
            <a:chOff x="3420694" y="1368415"/>
            <a:chExt cx="1455468" cy="582187"/>
          </a:xfrm>
        </p:grpSpPr>
        <p:sp>
          <p:nvSpPr>
            <p:cNvPr id="33" name="Rectangle 32">
              <a:extLst>
                <a:ext uri="{FF2B5EF4-FFF2-40B4-BE49-F238E27FC236}">
                  <a16:creationId xmlns:a16="http://schemas.microsoft.com/office/drawing/2014/main" id="{CB21DC26-506C-A830-4C83-1BDFEA22AD6E}"/>
                </a:ext>
              </a:extLst>
            </p:cNvPr>
            <p:cNvSpPr/>
            <p:nvPr/>
          </p:nvSpPr>
          <p:spPr>
            <a:xfrm>
              <a:off x="3420694" y="1368415"/>
              <a:ext cx="1455468" cy="5821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4" name="TextBox 33">
              <a:extLst>
                <a:ext uri="{FF2B5EF4-FFF2-40B4-BE49-F238E27FC236}">
                  <a16:creationId xmlns:a16="http://schemas.microsoft.com/office/drawing/2014/main" id="{FAF3E9D1-FB05-EA87-230C-C2A2831C2333}"/>
                </a:ext>
              </a:extLst>
            </p:cNvPr>
            <p:cNvSpPr txBox="1"/>
            <p:nvPr/>
          </p:nvSpPr>
          <p:spPr>
            <a:xfrm>
              <a:off x="3420694" y="1368415"/>
              <a:ext cx="1455468" cy="58218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Aptos Display" panose="020F0302020204030204"/>
                </a:rPr>
                <a:t>Electronics </a:t>
              </a:r>
            </a:p>
          </p:txBody>
        </p:sp>
      </p:grpSp>
      <p:grpSp>
        <p:nvGrpSpPr>
          <p:cNvPr id="21" name="Group 20">
            <a:extLst>
              <a:ext uri="{FF2B5EF4-FFF2-40B4-BE49-F238E27FC236}">
                <a16:creationId xmlns:a16="http://schemas.microsoft.com/office/drawing/2014/main" id="{647408E4-2741-A8F6-92A4-860F6D341CD8}"/>
              </a:ext>
            </a:extLst>
          </p:cNvPr>
          <p:cNvGrpSpPr/>
          <p:nvPr/>
        </p:nvGrpSpPr>
        <p:grpSpPr>
          <a:xfrm>
            <a:off x="180145" y="2661523"/>
            <a:ext cx="6354147" cy="902035"/>
            <a:chOff x="232190" y="1048567"/>
            <a:chExt cx="6354147" cy="902035"/>
          </a:xfrm>
        </p:grpSpPr>
        <p:sp>
          <p:nvSpPr>
            <p:cNvPr id="31" name="Rectangle 30">
              <a:extLst>
                <a:ext uri="{FF2B5EF4-FFF2-40B4-BE49-F238E27FC236}">
                  <a16:creationId xmlns:a16="http://schemas.microsoft.com/office/drawing/2014/main" id="{5D775D63-EECD-9F5D-14CB-920F24BFD621}"/>
                </a:ext>
              </a:extLst>
            </p:cNvPr>
            <p:cNvSpPr/>
            <p:nvPr/>
          </p:nvSpPr>
          <p:spPr>
            <a:xfrm>
              <a:off x="5130869" y="1368415"/>
              <a:ext cx="1455468" cy="5821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TextBox 31">
              <a:extLst>
                <a:ext uri="{FF2B5EF4-FFF2-40B4-BE49-F238E27FC236}">
                  <a16:creationId xmlns:a16="http://schemas.microsoft.com/office/drawing/2014/main" id="{E64857D9-5FAA-C858-D89B-8BD03DF480C0}"/>
                </a:ext>
              </a:extLst>
            </p:cNvPr>
            <p:cNvSpPr txBox="1"/>
            <p:nvPr/>
          </p:nvSpPr>
          <p:spPr>
            <a:xfrm>
              <a:off x="232190" y="1048567"/>
              <a:ext cx="1455468" cy="58218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Aptos Display" panose="020F0302020204030204"/>
                </a:rPr>
                <a:t> </a:t>
              </a:r>
              <a:r>
                <a:rPr lang="en-US" sz="1800" kern="1200" dirty="0">
                  <a:solidFill>
                    <a:srgbClr val="000000"/>
                  </a:solidFill>
                  <a:latin typeface="Calibri"/>
                  <a:ea typeface="Calibri"/>
                  <a:cs typeface="Calibri"/>
                </a:rPr>
                <a:t>Retail</a:t>
              </a:r>
            </a:p>
          </p:txBody>
        </p:sp>
      </p:grpSp>
      <p:grpSp>
        <p:nvGrpSpPr>
          <p:cNvPr id="22" name="Group 21">
            <a:extLst>
              <a:ext uri="{FF2B5EF4-FFF2-40B4-BE49-F238E27FC236}">
                <a16:creationId xmlns:a16="http://schemas.microsoft.com/office/drawing/2014/main" id="{8DD672FC-BC8D-ABB9-AE26-666C5029D930}"/>
              </a:ext>
            </a:extLst>
          </p:cNvPr>
          <p:cNvGrpSpPr/>
          <p:nvPr/>
        </p:nvGrpSpPr>
        <p:grpSpPr>
          <a:xfrm>
            <a:off x="803385" y="4314307"/>
            <a:ext cx="2160856" cy="1106171"/>
            <a:chOff x="855430" y="2701351"/>
            <a:chExt cx="2160856" cy="1106171"/>
          </a:xfrm>
        </p:grpSpPr>
        <p:sp>
          <p:nvSpPr>
            <p:cNvPr id="29" name="Rectangle 28">
              <a:extLst>
                <a:ext uri="{FF2B5EF4-FFF2-40B4-BE49-F238E27FC236}">
                  <a16:creationId xmlns:a16="http://schemas.microsoft.com/office/drawing/2014/main" id="{966E00F7-501B-AFFC-6C81-7C166C019F3E}"/>
                </a:ext>
              </a:extLst>
            </p:cNvPr>
            <p:cNvSpPr/>
            <p:nvPr/>
          </p:nvSpPr>
          <p:spPr>
            <a:xfrm>
              <a:off x="855430" y="3225335"/>
              <a:ext cx="1455468" cy="5821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0" name="TextBox 29">
              <a:extLst>
                <a:ext uri="{FF2B5EF4-FFF2-40B4-BE49-F238E27FC236}">
                  <a16:creationId xmlns:a16="http://schemas.microsoft.com/office/drawing/2014/main" id="{80497751-F3C6-B3B0-8B07-4FFA8F01F874}"/>
                </a:ext>
              </a:extLst>
            </p:cNvPr>
            <p:cNvSpPr txBox="1"/>
            <p:nvPr/>
          </p:nvSpPr>
          <p:spPr>
            <a:xfrm>
              <a:off x="1560818" y="2701351"/>
              <a:ext cx="1455468" cy="58218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Aptos Display" panose="020F0302020204030204"/>
                </a:rPr>
                <a:t>Hospitality </a:t>
              </a:r>
              <a:endParaRPr lang="en-US" sz="1800" kern="1200" dirty="0"/>
            </a:p>
          </p:txBody>
        </p:sp>
      </p:grpSp>
      <p:grpSp>
        <p:nvGrpSpPr>
          <p:cNvPr id="23" name="Group 22">
            <a:extLst>
              <a:ext uri="{FF2B5EF4-FFF2-40B4-BE49-F238E27FC236}">
                <a16:creationId xmlns:a16="http://schemas.microsoft.com/office/drawing/2014/main" id="{A229BC14-3890-553E-109F-41065E4D27EA}"/>
              </a:ext>
            </a:extLst>
          </p:cNvPr>
          <p:cNvGrpSpPr/>
          <p:nvPr/>
        </p:nvGrpSpPr>
        <p:grpSpPr>
          <a:xfrm>
            <a:off x="2371771" y="4278146"/>
            <a:ext cx="2660231" cy="1485430"/>
            <a:chOff x="2565606" y="2322092"/>
            <a:chExt cx="2660231" cy="1485430"/>
          </a:xfrm>
        </p:grpSpPr>
        <p:sp>
          <p:nvSpPr>
            <p:cNvPr id="27" name="Rectangle 26">
              <a:extLst>
                <a:ext uri="{FF2B5EF4-FFF2-40B4-BE49-F238E27FC236}">
                  <a16:creationId xmlns:a16="http://schemas.microsoft.com/office/drawing/2014/main" id="{C4E94268-984E-D2F6-C1EE-9460D050BBF4}"/>
                </a:ext>
              </a:extLst>
            </p:cNvPr>
            <p:cNvSpPr/>
            <p:nvPr/>
          </p:nvSpPr>
          <p:spPr>
            <a:xfrm>
              <a:off x="2565606" y="3225335"/>
              <a:ext cx="1455468" cy="5821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8" name="TextBox 27">
              <a:extLst>
                <a:ext uri="{FF2B5EF4-FFF2-40B4-BE49-F238E27FC236}">
                  <a16:creationId xmlns:a16="http://schemas.microsoft.com/office/drawing/2014/main" id="{5A7C5BB7-F8AA-8B85-6340-1DCAC798FB34}"/>
                </a:ext>
              </a:extLst>
            </p:cNvPr>
            <p:cNvSpPr txBox="1"/>
            <p:nvPr/>
          </p:nvSpPr>
          <p:spPr>
            <a:xfrm>
              <a:off x="3305531" y="2322092"/>
              <a:ext cx="1920306" cy="58218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Aptos Display" panose="020F0302020204030204"/>
                </a:rPr>
                <a:t>Health &amp; Wellness</a:t>
              </a:r>
              <a:endParaRPr lang="en-US" sz="1800" kern="1200" dirty="0"/>
            </a:p>
          </p:txBody>
        </p:sp>
      </p:grpSp>
      <p:grpSp>
        <p:nvGrpSpPr>
          <p:cNvPr id="24" name="Group 23">
            <a:extLst>
              <a:ext uri="{FF2B5EF4-FFF2-40B4-BE49-F238E27FC236}">
                <a16:creationId xmlns:a16="http://schemas.microsoft.com/office/drawing/2014/main" id="{D9B6E79F-7599-614C-581A-F2EF922C2A66}"/>
              </a:ext>
            </a:extLst>
          </p:cNvPr>
          <p:cNvGrpSpPr/>
          <p:nvPr/>
        </p:nvGrpSpPr>
        <p:grpSpPr>
          <a:xfrm>
            <a:off x="1612098" y="5528791"/>
            <a:ext cx="1455468" cy="582187"/>
            <a:chOff x="4275781" y="3225335"/>
            <a:chExt cx="1455468" cy="582187"/>
          </a:xfrm>
        </p:grpSpPr>
        <p:sp>
          <p:nvSpPr>
            <p:cNvPr id="25" name="Rectangle 24">
              <a:extLst>
                <a:ext uri="{FF2B5EF4-FFF2-40B4-BE49-F238E27FC236}">
                  <a16:creationId xmlns:a16="http://schemas.microsoft.com/office/drawing/2014/main" id="{35AFC21A-3F85-E2D4-229A-C38BF7057307}"/>
                </a:ext>
              </a:extLst>
            </p:cNvPr>
            <p:cNvSpPr/>
            <p:nvPr/>
          </p:nvSpPr>
          <p:spPr>
            <a:xfrm>
              <a:off x="4275781" y="3225335"/>
              <a:ext cx="1455468" cy="5821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6" name="TextBox 25">
              <a:extLst>
                <a:ext uri="{FF2B5EF4-FFF2-40B4-BE49-F238E27FC236}">
                  <a16:creationId xmlns:a16="http://schemas.microsoft.com/office/drawing/2014/main" id="{B9DDD596-F2C4-E44D-C3CC-A1CFCC0444CA}"/>
                </a:ext>
              </a:extLst>
            </p:cNvPr>
            <p:cNvSpPr txBox="1"/>
            <p:nvPr/>
          </p:nvSpPr>
          <p:spPr>
            <a:xfrm>
              <a:off x="4275781" y="3225335"/>
              <a:ext cx="1455468" cy="58218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a:latin typeface="Aptos Display" panose="020F0302020204030204"/>
                </a:rPr>
                <a:t>Social impact</a:t>
              </a:r>
              <a:r>
                <a:rPr lang="en-US" sz="1800" kern="1200"/>
                <a:t>. </a:t>
              </a:r>
              <a:endParaRPr lang="en-US" sz="1800" kern="1200">
                <a:latin typeface="Aptos Display" panose="020F0302020204030204"/>
              </a:endParaRPr>
            </a:p>
          </p:txBody>
        </p:sp>
      </p:grpSp>
    </p:spTree>
    <p:extLst>
      <p:ext uri="{BB962C8B-B14F-4D97-AF65-F5344CB8AC3E}">
        <p14:creationId xmlns:p14="http://schemas.microsoft.com/office/powerpoint/2010/main" val="1356017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5F7A09-6094-834B-113B-FBEA049FD14B}"/>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929B141-8953-8452-0C6E-30F38A81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17D3908D-6D58-2B33-2365-92DC99B8D7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6" name="Rectangle 15">
              <a:extLst>
                <a:ext uri="{FF2B5EF4-FFF2-40B4-BE49-F238E27FC236}">
                  <a16:creationId xmlns:a16="http://schemas.microsoft.com/office/drawing/2014/main" id="{39DE3D7F-91EE-2852-2883-796B598ADC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A420682-48E5-D7FB-4B29-8F32A29CA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20148948-9EC9-40F0-1CC7-3C41089EA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F32ADDF-0CF3-A405-CCFB-522A4B78D8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1752110-E7CB-DD71-81D3-06FB6ABB5240}"/>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210" name="Picture 209" descr="Melcom Limited - Melcom">
            <a:extLst>
              <a:ext uri="{FF2B5EF4-FFF2-40B4-BE49-F238E27FC236}">
                <a16:creationId xmlns:a16="http://schemas.microsoft.com/office/drawing/2014/main" id="{5A8F278B-F8F4-F665-64D9-65B382ED5C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964" y="133699"/>
            <a:ext cx="1623934" cy="46508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1" name="TextBox 6205">
            <a:extLst>
              <a:ext uri="{FF2B5EF4-FFF2-40B4-BE49-F238E27FC236}">
                <a16:creationId xmlns:a16="http://schemas.microsoft.com/office/drawing/2014/main" id="{40EB03D7-9775-F769-55EA-97518A772B91}"/>
              </a:ext>
            </a:extLst>
          </p:cNvPr>
          <p:cNvGraphicFramePr/>
          <p:nvPr>
            <p:extLst>
              <p:ext uri="{D42A27DB-BD31-4B8C-83A1-F6EECF244321}">
                <p14:modId xmlns:p14="http://schemas.microsoft.com/office/powerpoint/2010/main" val="446564987"/>
              </p:ext>
            </p:extLst>
          </p:nvPr>
        </p:nvGraphicFramePr>
        <p:xfrm>
          <a:off x="5373511" y="1126293"/>
          <a:ext cx="6676387" cy="5570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0" name="TextBox 239">
            <a:extLst>
              <a:ext uri="{FF2B5EF4-FFF2-40B4-BE49-F238E27FC236}">
                <a16:creationId xmlns:a16="http://schemas.microsoft.com/office/drawing/2014/main" id="{621A9EF0-04B8-52FF-596B-621DE9B4D4E4}"/>
              </a:ext>
            </a:extLst>
          </p:cNvPr>
          <p:cNvSpPr txBox="1"/>
          <p:nvPr/>
        </p:nvSpPr>
        <p:spPr>
          <a:xfrm>
            <a:off x="723501" y="2404587"/>
            <a:ext cx="5020147" cy="2208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7345" indent="-347345">
              <a:lnSpc>
                <a:spcPct val="200000"/>
              </a:lnSpc>
            </a:pPr>
            <a:r>
              <a:rPr lang="en-US" sz="2400" dirty="0"/>
              <a:t>•Retail Experience  </a:t>
            </a:r>
            <a:endParaRPr lang="en-US" dirty="0"/>
          </a:p>
          <a:p>
            <a:pPr marL="347345" indent="-347345">
              <a:lnSpc>
                <a:spcPct val="200000"/>
              </a:lnSpc>
            </a:pPr>
            <a:r>
              <a:rPr lang="en-US" sz="2400" dirty="0"/>
              <a:t>•Products &amp; Processes</a:t>
            </a:r>
          </a:p>
          <a:p>
            <a:pPr marL="347345" indent="-347345">
              <a:lnSpc>
                <a:spcPct val="200000"/>
              </a:lnSpc>
            </a:pPr>
            <a:r>
              <a:rPr lang="en-US" sz="2400" dirty="0"/>
              <a:t>•Customer &amp; Brand  Centricity</a:t>
            </a:r>
          </a:p>
        </p:txBody>
      </p:sp>
      <p:sp>
        <p:nvSpPr>
          <p:cNvPr id="242" name="Title 1">
            <a:extLst>
              <a:ext uri="{FF2B5EF4-FFF2-40B4-BE49-F238E27FC236}">
                <a16:creationId xmlns:a16="http://schemas.microsoft.com/office/drawing/2014/main" id="{760E6170-3792-474A-AAA2-19544E883549}"/>
              </a:ext>
            </a:extLst>
          </p:cNvPr>
          <p:cNvSpPr txBox="1">
            <a:spLocks/>
          </p:cNvSpPr>
          <p:nvPr/>
        </p:nvSpPr>
        <p:spPr>
          <a:xfrm>
            <a:off x="632692" y="1086218"/>
            <a:ext cx="5279408" cy="1128068"/>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STRATEGY :Our Pillars </a:t>
            </a:r>
          </a:p>
        </p:txBody>
      </p:sp>
    </p:spTree>
    <p:extLst>
      <p:ext uri="{BB962C8B-B14F-4D97-AF65-F5344CB8AC3E}">
        <p14:creationId xmlns:p14="http://schemas.microsoft.com/office/powerpoint/2010/main" val="597162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FDCA15-6D16-6E24-58CA-F1044896E947}"/>
            </a:ext>
          </a:extLst>
        </p:cNvPr>
        <p:cNvGrpSpPr/>
        <p:nvPr/>
      </p:nvGrpSpPr>
      <p:grpSpPr>
        <a:xfrm>
          <a:off x="0" y="0"/>
          <a:ext cx="0" cy="0"/>
          <a:chOff x="0" y="0"/>
          <a:chExt cx="0" cy="0"/>
        </a:xfrm>
      </p:grpSpPr>
      <p:sp useBgFill="1">
        <p:nvSpPr>
          <p:cNvPr id="259" name="Rectangle 25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61" name="Arc 26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42" name="Title 1">
            <a:extLst>
              <a:ext uri="{FF2B5EF4-FFF2-40B4-BE49-F238E27FC236}">
                <a16:creationId xmlns:a16="http://schemas.microsoft.com/office/drawing/2014/main" id="{E14DCACB-9C4D-1279-471F-9EFBAC37B359}"/>
              </a:ext>
            </a:extLst>
          </p:cNvPr>
          <p:cNvSpPr txBox="1">
            <a:spLocks/>
          </p:cNvSpPr>
          <p:nvPr/>
        </p:nvSpPr>
        <p:spPr>
          <a:xfrm>
            <a:off x="632849" y="378851"/>
            <a:ext cx="54588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2800" b="1" i="1" kern="1200">
                <a:solidFill>
                  <a:schemeClr val="tx1"/>
                </a:solidFill>
                <a:latin typeface="+mj-lt"/>
                <a:ea typeface="+mj-ea"/>
                <a:cs typeface="+mj-cs"/>
              </a:rPr>
              <a:t>Hence an Omni Channel Retail Platform .</a:t>
            </a:r>
            <a:br>
              <a:rPr lang="en-US" sz="2800" b="1" i="1" u="sng" kern="1200">
                <a:solidFill>
                  <a:schemeClr val="tx1"/>
                </a:solidFill>
                <a:latin typeface="+mj-lt"/>
                <a:ea typeface="+mj-ea"/>
                <a:cs typeface="+mj-cs"/>
              </a:rPr>
            </a:br>
            <a:endParaRPr lang="en-US" sz="2800" kern="1200">
              <a:solidFill>
                <a:schemeClr val="tx1"/>
              </a:solidFill>
              <a:latin typeface="+mj-lt"/>
              <a:ea typeface="+mj-ea"/>
              <a:cs typeface="+mj-cs"/>
            </a:endParaRPr>
          </a:p>
        </p:txBody>
      </p:sp>
      <p:sp>
        <p:nvSpPr>
          <p:cNvPr id="263" name="Freeform: Shape 26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0" name="TextBox 239">
            <a:extLst>
              <a:ext uri="{FF2B5EF4-FFF2-40B4-BE49-F238E27FC236}">
                <a16:creationId xmlns:a16="http://schemas.microsoft.com/office/drawing/2014/main" id="{A9F40698-A9F4-EBE9-443C-A9AECE596906}"/>
              </a:ext>
            </a:extLst>
          </p:cNvPr>
          <p:cNvSpPr txBox="1"/>
          <p:nvPr/>
        </p:nvSpPr>
        <p:spPr>
          <a:xfrm>
            <a:off x="723501" y="2404587"/>
            <a:ext cx="5090702" cy="16797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00000"/>
              </a:lnSpc>
              <a:spcAft>
                <a:spcPts val="600"/>
              </a:spcAft>
            </a:pPr>
            <a:r>
              <a:rPr lang="en-US" b="1" i="1" dirty="0">
                <a:latin typeface="+mj-lt"/>
              </a:rPr>
              <a:t>Creating a seamless Omni channel for the brand and customers via our One View platform – MELCOM CONNECT</a:t>
            </a:r>
            <a:endParaRPr lang="en-US" sz="2400" dirty="0">
              <a:latin typeface="+mj-lt"/>
            </a:endParaRPr>
          </a:p>
        </p:txBody>
      </p:sp>
      <p:sp>
        <p:nvSpPr>
          <p:cNvPr id="10" name="Rectangle 9">
            <a:extLst>
              <a:ext uri="{FF2B5EF4-FFF2-40B4-BE49-F238E27FC236}">
                <a16:creationId xmlns:a16="http://schemas.microsoft.com/office/drawing/2014/main" id="{1C5D7791-FE33-434D-72D5-DABF66E55B37}"/>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210" name="Picture 209" descr="Melcom Limited - Melcom">
            <a:extLst>
              <a:ext uri="{FF2B5EF4-FFF2-40B4-BE49-F238E27FC236}">
                <a16:creationId xmlns:a16="http://schemas.microsoft.com/office/drawing/2014/main" id="{A3EE65A6-5CBA-8544-1454-1D59C7004A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32956" y="133699"/>
            <a:ext cx="1316941" cy="3771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7" name="Diagram 36">
            <a:extLst>
              <a:ext uri="{FF2B5EF4-FFF2-40B4-BE49-F238E27FC236}">
                <a16:creationId xmlns:a16="http://schemas.microsoft.com/office/drawing/2014/main" id="{270135B0-BEDD-CD62-E30E-55501C594DC0}"/>
              </a:ext>
            </a:extLst>
          </p:cNvPr>
          <p:cNvGraphicFramePr/>
          <p:nvPr>
            <p:extLst>
              <p:ext uri="{D42A27DB-BD31-4B8C-83A1-F6EECF244321}">
                <p14:modId xmlns:p14="http://schemas.microsoft.com/office/powerpoint/2010/main" val="824274547"/>
              </p:ext>
            </p:extLst>
          </p:nvPr>
        </p:nvGraphicFramePr>
        <p:xfrm>
          <a:off x="5276736" y="906142"/>
          <a:ext cx="7025969" cy="5572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38823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5213F-6FAE-B390-504C-3849618B4DF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22C4C32-9DF2-EFBA-FAAD-EA1B7159C814}"/>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14" name="object 5">
            <a:extLst>
              <a:ext uri="{FF2B5EF4-FFF2-40B4-BE49-F238E27FC236}">
                <a16:creationId xmlns:a16="http://schemas.microsoft.com/office/drawing/2014/main" id="{72A045C4-07CE-CBFD-5F74-472B78F4C36F}"/>
              </a:ext>
            </a:extLst>
          </p:cNvPr>
          <p:cNvPicPr/>
          <p:nvPr/>
        </p:nvPicPr>
        <p:blipFill>
          <a:blip r:embed="rId2" cstate="print"/>
          <a:stretch>
            <a:fillRect/>
          </a:stretch>
        </p:blipFill>
        <p:spPr>
          <a:xfrm>
            <a:off x="10614053" y="6127630"/>
            <a:ext cx="1573017" cy="566871"/>
          </a:xfrm>
          <a:prstGeom prst="rect">
            <a:avLst/>
          </a:prstGeom>
        </p:spPr>
      </p:pic>
      <p:sp>
        <p:nvSpPr>
          <p:cNvPr id="2" name="TextBox 1">
            <a:extLst>
              <a:ext uri="{FF2B5EF4-FFF2-40B4-BE49-F238E27FC236}">
                <a16:creationId xmlns:a16="http://schemas.microsoft.com/office/drawing/2014/main" id="{B4D75A01-E827-E1FA-0B4F-F65B785145C2}"/>
              </a:ext>
            </a:extLst>
          </p:cNvPr>
          <p:cNvSpPr txBox="1"/>
          <p:nvPr/>
        </p:nvSpPr>
        <p:spPr>
          <a:xfrm>
            <a:off x="3042249" y="368060"/>
            <a:ext cx="626565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a:latin typeface="Aptos Display"/>
                <a:ea typeface="Calibri"/>
                <a:cs typeface="Calibri"/>
              </a:rPr>
              <a:t>What We’ve Built so far…..</a:t>
            </a:r>
            <a:endParaRPr lang="en-US">
              <a:latin typeface="Aptos Display"/>
            </a:endParaRPr>
          </a:p>
        </p:txBody>
      </p:sp>
      <p:graphicFrame>
        <p:nvGraphicFramePr>
          <p:cNvPr id="4" name="Diagram 3">
            <a:extLst>
              <a:ext uri="{FF2B5EF4-FFF2-40B4-BE49-F238E27FC236}">
                <a16:creationId xmlns:a16="http://schemas.microsoft.com/office/drawing/2014/main" id="{6782856C-D438-9BDF-B4B5-18557380965C}"/>
              </a:ext>
            </a:extLst>
          </p:cNvPr>
          <p:cNvGraphicFramePr/>
          <p:nvPr>
            <p:extLst>
              <p:ext uri="{D42A27DB-BD31-4B8C-83A1-F6EECF244321}">
                <p14:modId xmlns:p14="http://schemas.microsoft.com/office/powerpoint/2010/main" val="1846298784"/>
              </p:ext>
            </p:extLst>
          </p:nvPr>
        </p:nvGraphicFramePr>
        <p:xfrm>
          <a:off x="201283" y="1011528"/>
          <a:ext cx="11693317" cy="5842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12" name="Picture 211" descr="Melcom Limited - Melcom">
            <a:extLst>
              <a:ext uri="{FF2B5EF4-FFF2-40B4-BE49-F238E27FC236}">
                <a16:creationId xmlns:a16="http://schemas.microsoft.com/office/drawing/2014/main" id="{3D991055-129B-5F8E-AFF3-AD717FC9317E}"/>
              </a:ext>
            </a:extLst>
          </p:cNvPr>
          <p:cNvPicPr>
            <a:picLocks noChangeAspect="1"/>
          </p:cNvPicPr>
          <p:nvPr/>
        </p:nvPicPr>
        <p:blipFill>
          <a:blip r:embed="rId8"/>
          <a:stretch>
            <a:fillRect/>
          </a:stretch>
        </p:blipFill>
        <p:spPr>
          <a:xfrm>
            <a:off x="10762159" y="40276"/>
            <a:ext cx="1281253" cy="368483"/>
          </a:xfrm>
          <a:prstGeom prst="rect">
            <a:avLst/>
          </a:prstGeom>
        </p:spPr>
      </p:pic>
    </p:spTree>
    <p:extLst>
      <p:ext uri="{BB962C8B-B14F-4D97-AF65-F5344CB8AC3E}">
        <p14:creationId xmlns:p14="http://schemas.microsoft.com/office/powerpoint/2010/main" val="3068778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CBD1E8-09C0-034A-AF18-1544DEFB4BF3}"/>
            </a:ext>
          </a:extLst>
        </p:cNvPr>
        <p:cNvGrpSpPr/>
        <p:nvPr/>
      </p:nvGrpSpPr>
      <p:grpSpPr>
        <a:xfrm>
          <a:off x="0" y="0"/>
          <a:ext cx="0" cy="0"/>
          <a:chOff x="0" y="0"/>
          <a:chExt cx="0" cy="0"/>
        </a:xfrm>
      </p:grpSpPr>
      <p:sp useBgFill="1">
        <p:nvSpPr>
          <p:cNvPr id="239" name="Rectangle 23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Melcom Mall - Children — City Life Accra">
            <a:extLst>
              <a:ext uri="{FF2B5EF4-FFF2-40B4-BE49-F238E27FC236}">
                <a16:creationId xmlns:a16="http://schemas.microsoft.com/office/drawing/2014/main" id="{93A8F503-AC30-8E88-F24A-4BA59E91EF9B}"/>
              </a:ext>
            </a:extLst>
          </p:cNvPr>
          <p:cNvPicPr>
            <a:picLocks noChangeAspect="1"/>
          </p:cNvPicPr>
          <p:nvPr/>
        </p:nvPicPr>
        <p:blipFill>
          <a:blip r:embed="rId2"/>
          <a:srcRect r="5882" b="-1"/>
          <a:stretch/>
        </p:blipFill>
        <p:spPr>
          <a:xfrm>
            <a:off x="2522356" y="10"/>
            <a:ext cx="9669642" cy="6857990"/>
          </a:xfrm>
          <a:prstGeom prst="rect">
            <a:avLst/>
          </a:prstGeom>
        </p:spPr>
      </p:pic>
      <p:sp>
        <p:nvSpPr>
          <p:cNvPr id="241" name="Rectangle 24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A48EEF-B0E7-1E4E-E822-EFDBAED1B23F}"/>
              </a:ext>
            </a:extLst>
          </p:cNvPr>
          <p:cNvSpPr txBox="1">
            <a:spLocks/>
          </p:cNvSpPr>
          <p:nvPr/>
        </p:nvSpPr>
        <p:spPr>
          <a:xfrm>
            <a:off x="171450" y="365125"/>
            <a:ext cx="4488939" cy="18999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000"/>
              <a:t>Retail Excellence</a:t>
            </a:r>
          </a:p>
        </p:txBody>
      </p:sp>
      <p:sp>
        <p:nvSpPr>
          <p:cNvPr id="38" name="TextBox 2">
            <a:extLst>
              <a:ext uri="{FF2B5EF4-FFF2-40B4-BE49-F238E27FC236}">
                <a16:creationId xmlns:a16="http://schemas.microsoft.com/office/drawing/2014/main" id="{4C7E8B06-2C5D-50E9-C9A3-27C328FBC144}"/>
              </a:ext>
            </a:extLst>
          </p:cNvPr>
          <p:cNvSpPr txBox="1"/>
          <p:nvPr/>
        </p:nvSpPr>
        <p:spPr>
          <a:xfrm>
            <a:off x="171451" y="1713022"/>
            <a:ext cx="5944902" cy="3742762"/>
          </a:xfrm>
          <a:prstGeom prst="rect">
            <a:avLst/>
          </a:prstGeom>
        </p:spPr>
        <p:txBody>
          <a:bodyPr rot="0" spcFirstLastPara="0" vert="horz" lIns="91440" tIns="45720" rIns="91440" bIns="45720" numCol="1" spcCol="0" rtlCol="0" fromWordArt="0" anchor="t" anchorCtr="0" forceAA="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28600" algn="just">
              <a:lnSpc>
                <a:spcPct val="150000"/>
              </a:lnSpc>
              <a:spcAft>
                <a:spcPts val="600"/>
              </a:spcAft>
              <a:buFont typeface="Arial" panose="020B0604020202020204" pitchFamily="34" charset="0"/>
              <a:buChar char="•"/>
            </a:pPr>
            <a:r>
              <a:rPr lang="en-US" sz="2000" err="1"/>
              <a:t>Melcom</a:t>
            </a:r>
            <a:r>
              <a:rPr lang="en-US" sz="2000"/>
              <a:t> Limited is Ghana’s #1 retail chain. Offering over 50,000 products across multiple categories </a:t>
            </a:r>
            <a:r>
              <a:rPr lang="en-US" sz="2000" err="1"/>
              <a:t>Melcom</a:t>
            </a:r>
            <a:r>
              <a:rPr lang="en-US" sz="2000"/>
              <a:t> serves as the go-to destination for household needs, an online store, loyalty program &amp; Omni-channel strategy further elevate its customer reach.</a:t>
            </a:r>
            <a:endParaRPr lang="en-US"/>
          </a:p>
        </p:txBody>
      </p:sp>
      <p:sp>
        <p:nvSpPr>
          <p:cNvPr id="10" name="Rectangle 9">
            <a:extLst>
              <a:ext uri="{FF2B5EF4-FFF2-40B4-BE49-F238E27FC236}">
                <a16:creationId xmlns:a16="http://schemas.microsoft.com/office/drawing/2014/main" id="{AAE46050-20A5-CB38-A3DB-C8058C1E9F60}"/>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42" name="Picture 41" descr="Melcom Limited - Melcom">
            <a:extLst>
              <a:ext uri="{FF2B5EF4-FFF2-40B4-BE49-F238E27FC236}">
                <a16:creationId xmlns:a16="http://schemas.microsoft.com/office/drawing/2014/main" id="{CB3634E9-D279-9C4E-2A9D-8203D7AE2FED}"/>
              </a:ext>
            </a:extLst>
          </p:cNvPr>
          <p:cNvPicPr>
            <a:picLocks noChangeAspect="1"/>
          </p:cNvPicPr>
          <p:nvPr/>
        </p:nvPicPr>
        <p:blipFill>
          <a:blip r:embed="rId3"/>
          <a:stretch>
            <a:fillRect/>
          </a:stretch>
        </p:blipFill>
        <p:spPr>
          <a:xfrm>
            <a:off x="10796411" y="-11642"/>
            <a:ext cx="1295400" cy="361950"/>
          </a:xfrm>
          <a:prstGeom prst="rect">
            <a:avLst/>
          </a:prstGeom>
        </p:spPr>
      </p:pic>
    </p:spTree>
    <p:extLst>
      <p:ext uri="{BB962C8B-B14F-4D97-AF65-F5344CB8AC3E}">
        <p14:creationId xmlns:p14="http://schemas.microsoft.com/office/powerpoint/2010/main" val="4006180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13541-CFE0-5D73-7C56-A94574010D4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AEE2459-BF77-D84F-4ED9-DA42B52A9791}"/>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Picture 10" descr="A blue and white logo&#10;&#10;AI-generated content may be incorrect.">
            <a:extLst>
              <a:ext uri="{FF2B5EF4-FFF2-40B4-BE49-F238E27FC236}">
                <a16:creationId xmlns:a16="http://schemas.microsoft.com/office/drawing/2014/main" id="{F224A0E7-12B4-0404-2118-613671DB9D13}"/>
              </a:ext>
            </a:extLst>
          </p:cNvPr>
          <p:cNvPicPr>
            <a:picLocks noChangeAspect="1"/>
          </p:cNvPicPr>
          <p:nvPr/>
        </p:nvPicPr>
        <p:blipFill>
          <a:blip r:embed="rId2"/>
          <a:stretch>
            <a:fillRect/>
          </a:stretch>
        </p:blipFill>
        <p:spPr>
          <a:xfrm>
            <a:off x="3641824" y="978815"/>
            <a:ext cx="2592058" cy="724260"/>
          </a:xfrm>
          <a:prstGeom prst="rect">
            <a:avLst/>
          </a:prstGeom>
        </p:spPr>
      </p:pic>
      <p:pic>
        <p:nvPicPr>
          <p:cNvPr id="15" name="Picture 14" descr="A blue and grey logo&#10;&#10;AI-generated content may be incorrect.">
            <a:extLst>
              <a:ext uri="{FF2B5EF4-FFF2-40B4-BE49-F238E27FC236}">
                <a16:creationId xmlns:a16="http://schemas.microsoft.com/office/drawing/2014/main" id="{197817D1-62F4-6305-DC74-A4EB9856C649}"/>
              </a:ext>
            </a:extLst>
          </p:cNvPr>
          <p:cNvPicPr>
            <a:picLocks noChangeAspect="1"/>
          </p:cNvPicPr>
          <p:nvPr/>
        </p:nvPicPr>
        <p:blipFill>
          <a:blip r:embed="rId3"/>
          <a:stretch>
            <a:fillRect/>
          </a:stretch>
        </p:blipFill>
        <p:spPr>
          <a:xfrm>
            <a:off x="8842513" y="2647077"/>
            <a:ext cx="1962150" cy="685800"/>
          </a:xfrm>
          <a:prstGeom prst="rect">
            <a:avLst/>
          </a:prstGeom>
        </p:spPr>
      </p:pic>
      <p:pic>
        <p:nvPicPr>
          <p:cNvPr id="18" name="Picture 17" descr="A blue and red logo&#10;&#10;AI-generated content may be incorrect.">
            <a:extLst>
              <a:ext uri="{FF2B5EF4-FFF2-40B4-BE49-F238E27FC236}">
                <a16:creationId xmlns:a16="http://schemas.microsoft.com/office/drawing/2014/main" id="{72945996-4CB4-A53A-D471-5CD13333F1B5}"/>
              </a:ext>
            </a:extLst>
          </p:cNvPr>
          <p:cNvPicPr>
            <a:picLocks noChangeAspect="1"/>
          </p:cNvPicPr>
          <p:nvPr/>
        </p:nvPicPr>
        <p:blipFill>
          <a:blip r:embed="rId4"/>
          <a:stretch>
            <a:fillRect/>
          </a:stretch>
        </p:blipFill>
        <p:spPr>
          <a:xfrm>
            <a:off x="113183" y="3539809"/>
            <a:ext cx="2219325" cy="838200"/>
          </a:xfrm>
          <a:prstGeom prst="rect">
            <a:avLst/>
          </a:prstGeom>
        </p:spPr>
      </p:pic>
      <p:sp>
        <p:nvSpPr>
          <p:cNvPr id="19" name="TextBox 18">
            <a:extLst>
              <a:ext uri="{FF2B5EF4-FFF2-40B4-BE49-F238E27FC236}">
                <a16:creationId xmlns:a16="http://schemas.microsoft.com/office/drawing/2014/main" id="{50EB7201-A4A0-8649-DE04-DC14898CD299}"/>
              </a:ext>
            </a:extLst>
          </p:cNvPr>
          <p:cNvSpPr txBox="1"/>
          <p:nvPr/>
        </p:nvSpPr>
        <p:spPr>
          <a:xfrm>
            <a:off x="2329286" y="4614516"/>
            <a:ext cx="3893388" cy="6759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ts val="1125"/>
              </a:lnSpc>
            </a:pPr>
            <a:r>
              <a:rPr lang="en-US" sz="1600" b="1">
                <a:solidFill>
                  <a:srgbClr val="FFFFFF"/>
                </a:solidFill>
                <a:latin typeface="Aptos Display"/>
                <a:cs typeface="Segoe UI"/>
              </a:rPr>
              <a:t>Melcom Travels Ltd.</a:t>
            </a:r>
            <a:r>
              <a:rPr lang="en-US" sz="1600">
                <a:solidFill>
                  <a:srgbClr val="FFFFFF"/>
                </a:solidFill>
                <a:latin typeface="Aptos Display"/>
                <a:cs typeface="Segoe UI"/>
              </a:rPr>
              <a:t>​</a:t>
            </a:r>
          </a:p>
          <a:p>
            <a:pPr algn="ctr">
              <a:lnSpc>
                <a:spcPts val="1125"/>
              </a:lnSpc>
            </a:pPr>
            <a:r>
              <a:rPr lang="en-US" sz="1600">
                <a:solidFill>
                  <a:srgbClr val="FFFFFF"/>
                </a:solidFill>
                <a:latin typeface="Aptos Display"/>
                <a:cs typeface="Segoe UI"/>
              </a:rPr>
              <a:t>Melcom Travel and Tours Limited was established in 2005 and launched its online booking site in 2019.​</a:t>
            </a:r>
          </a:p>
        </p:txBody>
      </p:sp>
      <p:sp>
        <p:nvSpPr>
          <p:cNvPr id="27" name="Cube 26">
            <a:extLst>
              <a:ext uri="{FF2B5EF4-FFF2-40B4-BE49-F238E27FC236}">
                <a16:creationId xmlns:a16="http://schemas.microsoft.com/office/drawing/2014/main" id="{33B22122-3F93-6A4D-68E2-3F7CDA6D98D1}"/>
              </a:ext>
            </a:extLst>
          </p:cNvPr>
          <p:cNvSpPr/>
          <p:nvPr/>
        </p:nvSpPr>
        <p:spPr>
          <a:xfrm>
            <a:off x="560071" y="4289609"/>
            <a:ext cx="4366179" cy="1626169"/>
          </a:xfrm>
          <a:prstGeom prst="cub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65760" algn="ctr">
              <a:lnSpc>
                <a:spcPct val="150000"/>
              </a:lnSpc>
            </a:pPr>
            <a:endParaRPr lang="en-US" sz="1600" b="1">
              <a:solidFill>
                <a:schemeClr val="bg1"/>
              </a:solidFill>
              <a:latin typeface="Aptos Display"/>
              <a:cs typeface="Segoe UI"/>
            </a:endParaRPr>
          </a:p>
          <a:p>
            <a:pPr marL="365760" algn="ctr">
              <a:lnSpc>
                <a:spcPct val="150000"/>
              </a:lnSpc>
            </a:pPr>
            <a:r>
              <a:rPr lang="en-US" sz="1600" b="1" err="1">
                <a:solidFill>
                  <a:schemeClr val="bg1"/>
                </a:solidFill>
                <a:latin typeface="Aptos Display"/>
                <a:cs typeface="Segoe UI"/>
              </a:rPr>
              <a:t>Melcom</a:t>
            </a:r>
            <a:r>
              <a:rPr lang="en-US" sz="1600" b="1">
                <a:solidFill>
                  <a:schemeClr val="bg1"/>
                </a:solidFill>
                <a:latin typeface="Aptos Display"/>
                <a:cs typeface="Segoe UI"/>
              </a:rPr>
              <a:t> Care Foundation</a:t>
            </a:r>
            <a:endParaRPr lang="en-US" sz="1600">
              <a:solidFill>
                <a:schemeClr val="bg1"/>
              </a:solidFill>
              <a:latin typeface="Aptos Display"/>
            </a:endParaRPr>
          </a:p>
          <a:p>
            <a:pPr marL="100330" indent="-91440" algn="ctr">
              <a:lnSpc>
                <a:spcPct val="150000"/>
              </a:lnSpc>
            </a:pPr>
            <a:r>
              <a:rPr lang="en-US" sz="1400" err="1">
                <a:solidFill>
                  <a:schemeClr val="bg1"/>
                </a:solidFill>
                <a:latin typeface="Aptos Display"/>
                <a:ea typeface="Segoe UI"/>
                <a:cs typeface="Segoe UI"/>
              </a:rPr>
              <a:t>Melcom</a:t>
            </a:r>
            <a:r>
              <a:rPr lang="en-US" sz="1400">
                <a:solidFill>
                  <a:schemeClr val="bg1"/>
                </a:solidFill>
                <a:latin typeface="Aptos Display"/>
                <a:ea typeface="Segoe UI"/>
                <a:cs typeface="Segoe UI"/>
              </a:rPr>
              <a:t> Care Foundation looks after the </a:t>
            </a:r>
            <a:r>
              <a:rPr lang="en-US" sz="1400" err="1">
                <a:solidFill>
                  <a:schemeClr val="bg1"/>
                </a:solidFill>
                <a:latin typeface="Aptos Display"/>
                <a:ea typeface="Segoe UI"/>
                <a:cs typeface="Segoe UI"/>
              </a:rPr>
              <a:t>Corportate</a:t>
            </a:r>
            <a:r>
              <a:rPr lang="en-US" sz="1400">
                <a:solidFill>
                  <a:schemeClr val="bg1"/>
                </a:solidFill>
                <a:latin typeface="Aptos Display"/>
                <a:ea typeface="Segoe UI"/>
                <a:cs typeface="Segoe UI"/>
              </a:rPr>
              <a:t> Social Responsibility and was established in 2006 focusing on Healthcare and Education.</a:t>
            </a:r>
          </a:p>
          <a:p>
            <a:pPr algn="ctr">
              <a:lnSpc>
                <a:spcPct val="150000"/>
              </a:lnSpc>
            </a:pPr>
            <a:endParaRPr lang="en-US">
              <a:latin typeface="Aptos Display"/>
              <a:cs typeface="Segoe UI"/>
            </a:endParaRPr>
          </a:p>
        </p:txBody>
      </p:sp>
      <p:sp>
        <p:nvSpPr>
          <p:cNvPr id="28" name="Cube 27">
            <a:extLst>
              <a:ext uri="{FF2B5EF4-FFF2-40B4-BE49-F238E27FC236}">
                <a16:creationId xmlns:a16="http://schemas.microsoft.com/office/drawing/2014/main" id="{E310E7D8-54E9-4697-8E46-7E89529C9D62}"/>
              </a:ext>
            </a:extLst>
          </p:cNvPr>
          <p:cNvSpPr/>
          <p:nvPr/>
        </p:nvSpPr>
        <p:spPr>
          <a:xfrm>
            <a:off x="2329000" y="3064966"/>
            <a:ext cx="4366179" cy="1626169"/>
          </a:xfrm>
          <a:prstGeom prst="cub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8890" algn="ctr"/>
            <a:endParaRPr lang="en-US" sz="1600" b="1">
              <a:solidFill>
                <a:schemeClr val="bg1"/>
              </a:solidFill>
              <a:latin typeface="Aptos Display"/>
              <a:cs typeface="Segoe UI"/>
            </a:endParaRPr>
          </a:p>
          <a:p>
            <a:pPr marL="8890" algn="ctr">
              <a:lnSpc>
                <a:spcPct val="150000"/>
              </a:lnSpc>
            </a:pPr>
            <a:r>
              <a:rPr lang="en-US" b="1" err="1">
                <a:solidFill>
                  <a:schemeClr val="bg1"/>
                </a:solidFill>
                <a:latin typeface="Aptos Display"/>
                <a:cs typeface="Segoe UI"/>
              </a:rPr>
              <a:t>Melcom</a:t>
            </a:r>
            <a:r>
              <a:rPr lang="en-US" b="1">
                <a:solidFill>
                  <a:schemeClr val="bg1"/>
                </a:solidFill>
                <a:latin typeface="Aptos Display"/>
                <a:cs typeface="Segoe UI"/>
              </a:rPr>
              <a:t> Travels Ltd.</a:t>
            </a:r>
            <a:endParaRPr lang="en-US">
              <a:solidFill>
                <a:schemeClr val="bg1"/>
              </a:solidFill>
              <a:latin typeface="Aptos Display"/>
            </a:endParaRPr>
          </a:p>
          <a:p>
            <a:pPr marL="27305" algn="ctr">
              <a:lnSpc>
                <a:spcPct val="150000"/>
              </a:lnSpc>
            </a:pPr>
            <a:r>
              <a:rPr lang="en-US" sz="1400" err="1">
                <a:solidFill>
                  <a:schemeClr val="bg1"/>
                </a:solidFill>
                <a:latin typeface="Aptos Display"/>
                <a:ea typeface="Segoe UI"/>
                <a:cs typeface="Segoe UI"/>
              </a:rPr>
              <a:t>Melcom</a:t>
            </a:r>
            <a:r>
              <a:rPr lang="en-US" sz="1400">
                <a:solidFill>
                  <a:schemeClr val="bg1"/>
                </a:solidFill>
                <a:latin typeface="Aptos Display"/>
                <a:ea typeface="Segoe UI"/>
                <a:cs typeface="Segoe UI"/>
              </a:rPr>
              <a:t> Travel and Tours Limited was established in 2005 and launched its online booking site in 2019.</a:t>
            </a:r>
          </a:p>
          <a:p>
            <a:pPr algn="ctr">
              <a:lnSpc>
                <a:spcPct val="150000"/>
              </a:lnSpc>
            </a:pPr>
            <a:endParaRPr lang="en-US" sz="1400">
              <a:solidFill>
                <a:schemeClr val="bg1"/>
              </a:solidFill>
              <a:latin typeface="Aptos Display"/>
              <a:cs typeface="Segoe UI"/>
            </a:endParaRPr>
          </a:p>
        </p:txBody>
      </p:sp>
      <p:pic>
        <p:nvPicPr>
          <p:cNvPr id="30" name="Picture 29" descr="A blue and red logo&#10;&#10;AI-generated content may be incorrect.">
            <a:extLst>
              <a:ext uri="{FF2B5EF4-FFF2-40B4-BE49-F238E27FC236}">
                <a16:creationId xmlns:a16="http://schemas.microsoft.com/office/drawing/2014/main" id="{175FC013-A671-6569-6861-66C2D9D9F3C2}"/>
              </a:ext>
            </a:extLst>
          </p:cNvPr>
          <p:cNvPicPr>
            <a:picLocks noChangeAspect="1"/>
          </p:cNvPicPr>
          <p:nvPr/>
        </p:nvPicPr>
        <p:blipFill>
          <a:blip r:embed="rId5"/>
          <a:stretch>
            <a:fillRect/>
          </a:stretch>
        </p:blipFill>
        <p:spPr>
          <a:xfrm>
            <a:off x="5135695" y="5370316"/>
            <a:ext cx="2171700" cy="771525"/>
          </a:xfrm>
          <a:prstGeom prst="rect">
            <a:avLst/>
          </a:prstGeom>
        </p:spPr>
      </p:pic>
      <p:sp>
        <p:nvSpPr>
          <p:cNvPr id="31" name="Cube 30">
            <a:extLst>
              <a:ext uri="{FF2B5EF4-FFF2-40B4-BE49-F238E27FC236}">
                <a16:creationId xmlns:a16="http://schemas.microsoft.com/office/drawing/2014/main" id="{CD9EC807-0F77-8D37-0E96-62A9DAD65EEE}"/>
              </a:ext>
            </a:extLst>
          </p:cNvPr>
          <p:cNvSpPr/>
          <p:nvPr/>
        </p:nvSpPr>
        <p:spPr>
          <a:xfrm>
            <a:off x="4478929" y="1908361"/>
            <a:ext cx="4366179" cy="1626169"/>
          </a:xfrm>
          <a:prstGeom prst="cub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lnSpc>
                <a:spcPct val="150000"/>
              </a:lnSpc>
            </a:pPr>
            <a:r>
              <a:rPr lang="en-US" b="1">
                <a:solidFill>
                  <a:srgbClr val="FFFFFF"/>
                </a:solidFill>
                <a:latin typeface="Aptos Display"/>
                <a:ea typeface="Segoe UI"/>
                <a:cs typeface="Segoe UI"/>
              </a:rPr>
              <a:t>Century Industries Limited</a:t>
            </a:r>
            <a:r>
              <a:rPr lang="en-US">
                <a:solidFill>
                  <a:srgbClr val="FFFFFF"/>
                </a:solidFill>
                <a:latin typeface="Aptos Display"/>
                <a:ea typeface="Segoe UI"/>
                <a:cs typeface="Segoe UI"/>
              </a:rPr>
              <a:t>​</a:t>
            </a:r>
            <a:r>
              <a:rPr lang="en-US">
                <a:latin typeface="Aptos Display"/>
                <a:ea typeface="Segoe UI"/>
                <a:cs typeface="Segoe UI"/>
              </a:rPr>
              <a:t>​</a:t>
            </a:r>
            <a:endParaRPr lang="en-US"/>
          </a:p>
          <a:p>
            <a:pPr algn="ctr" rtl="0">
              <a:lnSpc>
                <a:spcPct val="150000"/>
              </a:lnSpc>
            </a:pPr>
            <a:r>
              <a:rPr lang="en-US" sz="1400">
                <a:solidFill>
                  <a:srgbClr val="FFFFFF"/>
                </a:solidFill>
                <a:latin typeface="Aptos Display"/>
                <a:ea typeface="Segoe UI"/>
                <a:cs typeface="Segoe UI"/>
              </a:rPr>
              <a:t>Century Industries Limited was established in 2000 and expands every four years.​</a:t>
            </a:r>
            <a:r>
              <a:rPr lang="en-US" sz="1400">
                <a:latin typeface="Aptos Display"/>
                <a:ea typeface="Segoe UI"/>
                <a:cs typeface="Segoe UI"/>
              </a:rPr>
              <a:t>​</a:t>
            </a:r>
            <a:endParaRPr lang="en-US" sz="1400"/>
          </a:p>
        </p:txBody>
      </p:sp>
      <p:sp>
        <p:nvSpPr>
          <p:cNvPr id="32" name="Cube 31">
            <a:extLst>
              <a:ext uri="{FF2B5EF4-FFF2-40B4-BE49-F238E27FC236}">
                <a16:creationId xmlns:a16="http://schemas.microsoft.com/office/drawing/2014/main" id="{DF3314D4-D370-A212-CC0F-20A269E9D2BC}"/>
              </a:ext>
            </a:extLst>
          </p:cNvPr>
          <p:cNvSpPr/>
          <p:nvPr/>
        </p:nvSpPr>
        <p:spPr>
          <a:xfrm>
            <a:off x="6520000" y="710933"/>
            <a:ext cx="5223429" cy="1612562"/>
          </a:xfrm>
          <a:prstGeom prst="cub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TextBox 11">
            <a:extLst>
              <a:ext uri="{FF2B5EF4-FFF2-40B4-BE49-F238E27FC236}">
                <a16:creationId xmlns:a16="http://schemas.microsoft.com/office/drawing/2014/main" id="{49A67FF6-A826-99FA-2CF2-129950D842F3}"/>
              </a:ext>
            </a:extLst>
          </p:cNvPr>
          <p:cNvSpPr txBox="1"/>
          <p:nvPr/>
        </p:nvSpPr>
        <p:spPr>
          <a:xfrm>
            <a:off x="6523624" y="1086928"/>
            <a:ext cx="4844860" cy="123110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err="1">
                <a:solidFill>
                  <a:srgbClr val="FFFFFF"/>
                </a:solidFill>
                <a:latin typeface="Aptos Display"/>
                <a:cs typeface="Segoe UI"/>
              </a:rPr>
              <a:t>Melcom</a:t>
            </a:r>
            <a:r>
              <a:rPr lang="en-US" b="1">
                <a:solidFill>
                  <a:srgbClr val="FFFFFF"/>
                </a:solidFill>
                <a:latin typeface="Aptos Display"/>
                <a:cs typeface="Segoe UI"/>
              </a:rPr>
              <a:t> Limited</a:t>
            </a:r>
            <a:r>
              <a:rPr lang="en-US">
                <a:solidFill>
                  <a:srgbClr val="FFFFFF"/>
                </a:solidFill>
                <a:latin typeface="Aptos Display"/>
                <a:cs typeface="Segoe UI"/>
              </a:rPr>
              <a:t>​</a:t>
            </a:r>
            <a:endParaRPr lang="en-US"/>
          </a:p>
          <a:p>
            <a:pPr algn="just"/>
            <a:r>
              <a:rPr lang="en-US" sz="1200" err="1">
                <a:solidFill>
                  <a:srgbClr val="FFFFFF"/>
                </a:solidFill>
                <a:latin typeface="Aptos Display"/>
                <a:cs typeface="Segoe UI"/>
              </a:rPr>
              <a:t>M</a:t>
            </a:r>
            <a:r>
              <a:rPr lang="en-US" sz="1400" err="1">
                <a:solidFill>
                  <a:srgbClr val="FFFFFF"/>
                </a:solidFill>
                <a:latin typeface="Aptos Display"/>
                <a:cs typeface="Segoe UI"/>
              </a:rPr>
              <a:t>elcom</a:t>
            </a:r>
            <a:r>
              <a:rPr lang="en-US" sz="1400">
                <a:solidFill>
                  <a:srgbClr val="FFFFFF"/>
                </a:solidFill>
                <a:latin typeface="Aptos Display"/>
                <a:cs typeface="Segoe UI"/>
              </a:rPr>
              <a:t> Limited was established in 1989 and the doors of the first </a:t>
            </a:r>
            <a:r>
              <a:rPr lang="en-US" sz="1400" err="1">
                <a:solidFill>
                  <a:srgbClr val="FFFFFF"/>
                </a:solidFill>
                <a:latin typeface="Aptos Display"/>
                <a:cs typeface="Segoe UI"/>
              </a:rPr>
              <a:t>Melcom</a:t>
            </a:r>
            <a:r>
              <a:rPr lang="en-US" sz="1400">
                <a:solidFill>
                  <a:srgbClr val="FFFFFF"/>
                </a:solidFill>
                <a:latin typeface="Aptos Display"/>
                <a:cs typeface="Segoe UI"/>
              </a:rPr>
              <a:t> store in Accra Central opened. In 2017 </a:t>
            </a:r>
            <a:r>
              <a:rPr lang="en-US" sz="1400" err="1">
                <a:solidFill>
                  <a:srgbClr val="FFFFFF"/>
                </a:solidFill>
                <a:latin typeface="Aptos Display"/>
                <a:cs typeface="Segoe UI"/>
              </a:rPr>
              <a:t>Melcom</a:t>
            </a:r>
            <a:r>
              <a:rPr lang="en-US" sz="1400">
                <a:solidFill>
                  <a:srgbClr val="FFFFFF"/>
                </a:solidFill>
                <a:latin typeface="Aptos Display"/>
                <a:cs typeface="Segoe UI"/>
              </a:rPr>
              <a:t> Limited launched an online store - </a:t>
            </a:r>
            <a:r>
              <a:rPr lang="en-US" sz="1400" u="sng">
                <a:solidFill>
                  <a:srgbClr val="FFFFFF"/>
                </a:solidFill>
                <a:latin typeface="Aptos Display"/>
                <a:cs typeface="Segoe UI"/>
                <a:hlinkClick r:id="rId6">
                  <a:extLst>
                    <a:ext uri="{A12FA001-AC4F-418D-AE19-62706E023703}">
                      <ahyp:hlinkClr xmlns:ahyp="http://schemas.microsoft.com/office/drawing/2018/hyperlinkcolor" val="tx"/>
                    </a:ext>
                  </a:extLst>
                </a:hlinkClick>
              </a:rPr>
              <a:t>www.melcom.com.</a:t>
            </a:r>
            <a:r>
              <a:rPr lang="en-US" sz="1400">
                <a:solidFill>
                  <a:srgbClr val="FFFFFF"/>
                </a:solidFill>
                <a:latin typeface="Aptos Display"/>
                <a:cs typeface="Segoe UI"/>
              </a:rPr>
              <a:t> In 2020, </a:t>
            </a:r>
            <a:r>
              <a:rPr lang="en-US" sz="1400" err="1">
                <a:solidFill>
                  <a:srgbClr val="FFFFFF"/>
                </a:solidFill>
                <a:latin typeface="Aptos Display"/>
                <a:cs typeface="Segoe UI"/>
              </a:rPr>
              <a:t>Melcom</a:t>
            </a:r>
            <a:r>
              <a:rPr lang="en-US" sz="1400">
                <a:solidFill>
                  <a:srgbClr val="FFFFFF"/>
                </a:solidFill>
                <a:latin typeface="Aptos Display"/>
                <a:cs typeface="Segoe UI"/>
              </a:rPr>
              <a:t> Hospitality was merged into </a:t>
            </a:r>
            <a:r>
              <a:rPr lang="en-US" sz="1400" err="1">
                <a:solidFill>
                  <a:srgbClr val="FFFFFF"/>
                </a:solidFill>
                <a:latin typeface="Aptos Display"/>
                <a:cs typeface="Segoe UI"/>
              </a:rPr>
              <a:t>Melcom</a:t>
            </a:r>
            <a:r>
              <a:rPr lang="en-US" sz="1400">
                <a:solidFill>
                  <a:srgbClr val="FFFFFF"/>
                </a:solidFill>
                <a:latin typeface="Aptos Display"/>
                <a:cs typeface="Segoe UI"/>
              </a:rPr>
              <a:t> </a:t>
            </a:r>
            <a:r>
              <a:rPr lang="en-US" sz="1400" err="1">
                <a:solidFill>
                  <a:srgbClr val="FFFFFF"/>
                </a:solidFill>
                <a:latin typeface="Aptos Display"/>
                <a:cs typeface="Segoe UI"/>
              </a:rPr>
              <a:t>Limted</a:t>
            </a:r>
            <a:r>
              <a:rPr lang="en-US" sz="1400">
                <a:solidFill>
                  <a:srgbClr val="FFFFFF"/>
                </a:solidFill>
                <a:latin typeface="Aptos Display"/>
                <a:cs typeface="Segoe UI"/>
              </a:rPr>
              <a:t> ​</a:t>
            </a:r>
          </a:p>
        </p:txBody>
      </p:sp>
      <p:pic>
        <p:nvPicPr>
          <p:cNvPr id="34" name="Picture 33" descr="A close-up of a logo&#10;&#10;AI-generated content may be incorrect.">
            <a:extLst>
              <a:ext uri="{FF2B5EF4-FFF2-40B4-BE49-F238E27FC236}">
                <a16:creationId xmlns:a16="http://schemas.microsoft.com/office/drawing/2014/main" id="{BE7DEB1D-B0F7-7202-C5AB-B705DAA168DE}"/>
              </a:ext>
            </a:extLst>
          </p:cNvPr>
          <p:cNvPicPr>
            <a:picLocks noChangeAspect="1"/>
          </p:cNvPicPr>
          <p:nvPr/>
        </p:nvPicPr>
        <p:blipFill>
          <a:blip r:embed="rId7"/>
          <a:stretch>
            <a:fillRect/>
          </a:stretch>
        </p:blipFill>
        <p:spPr>
          <a:xfrm>
            <a:off x="254454" y="130629"/>
            <a:ext cx="2239736" cy="854529"/>
          </a:xfrm>
          <a:prstGeom prst="rect">
            <a:avLst/>
          </a:prstGeom>
        </p:spPr>
      </p:pic>
      <p:pic>
        <p:nvPicPr>
          <p:cNvPr id="3" name="Picture 2" descr="Melcom Limited - Melcom">
            <a:extLst>
              <a:ext uri="{FF2B5EF4-FFF2-40B4-BE49-F238E27FC236}">
                <a16:creationId xmlns:a16="http://schemas.microsoft.com/office/drawing/2014/main" id="{0A728564-842C-FF09-7DC5-6ABC45E77AD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609407" y="133699"/>
            <a:ext cx="1496935" cy="436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823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87D79-4612-B890-5881-4D0A8A872B19}"/>
            </a:ext>
          </a:extLst>
        </p:cNvPr>
        <p:cNvGrpSpPr/>
        <p:nvPr/>
      </p:nvGrpSpPr>
      <p:grpSpPr>
        <a:xfrm>
          <a:off x="0" y="0"/>
          <a:ext cx="0" cy="0"/>
          <a:chOff x="0" y="0"/>
          <a:chExt cx="0" cy="0"/>
        </a:xfrm>
      </p:grpSpPr>
      <p:pic>
        <p:nvPicPr>
          <p:cNvPr id="8" name="Picture 2" descr="A blue text on a black background&#10;&#10;AI-generated content may be incorrect.">
            <a:extLst>
              <a:ext uri="{FF2B5EF4-FFF2-40B4-BE49-F238E27FC236}">
                <a16:creationId xmlns:a16="http://schemas.microsoft.com/office/drawing/2014/main" id="{54779B3F-9066-8930-DFEB-03A63AE755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191" y="986828"/>
            <a:ext cx="1394518" cy="43737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5" descr="A blue text on a black background&#10;&#10;AI-generated content may be incorrect.">
            <a:extLst>
              <a:ext uri="{FF2B5EF4-FFF2-40B4-BE49-F238E27FC236}">
                <a16:creationId xmlns:a16="http://schemas.microsoft.com/office/drawing/2014/main" id="{4DE922FE-908B-CA39-0C25-F2B9BB506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1266" y="954417"/>
            <a:ext cx="1496848" cy="4643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A blue and grey logo&#10;&#10;AI-generated content may be incorrect.">
            <a:extLst>
              <a:ext uri="{FF2B5EF4-FFF2-40B4-BE49-F238E27FC236}">
                <a16:creationId xmlns:a16="http://schemas.microsoft.com/office/drawing/2014/main" id="{E7EC1126-8D5E-5C15-C143-FBDFAB451D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2010" y="971631"/>
            <a:ext cx="1451003" cy="36969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7">
            <a:extLst>
              <a:ext uri="{FF2B5EF4-FFF2-40B4-BE49-F238E27FC236}">
                <a16:creationId xmlns:a16="http://schemas.microsoft.com/office/drawing/2014/main" id="{6BE6FE66-349F-BF10-D3FB-4AC492B047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1361" y="4307388"/>
            <a:ext cx="1387280" cy="30666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8">
            <a:extLst>
              <a:ext uri="{FF2B5EF4-FFF2-40B4-BE49-F238E27FC236}">
                <a16:creationId xmlns:a16="http://schemas.microsoft.com/office/drawing/2014/main" id="{7226B29A-0C1F-93E5-5431-9080BF226C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2995" y="4276536"/>
            <a:ext cx="1420084" cy="25098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9" descr="A white text on a black background&#10;&#10;AI-generated content may be incorrect.">
            <a:extLst>
              <a:ext uri="{FF2B5EF4-FFF2-40B4-BE49-F238E27FC236}">
                <a16:creationId xmlns:a16="http://schemas.microsoft.com/office/drawing/2014/main" id="{D5A24F34-802D-C32C-5DC3-79429581747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64509" y="4207019"/>
            <a:ext cx="1154582" cy="40033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0">
            <a:extLst>
              <a:ext uri="{FF2B5EF4-FFF2-40B4-BE49-F238E27FC236}">
                <a16:creationId xmlns:a16="http://schemas.microsoft.com/office/drawing/2014/main" id="{314972F8-E421-E9FE-EF1E-47855226A4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5352" y="4163373"/>
            <a:ext cx="1476375" cy="45720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1" descr="A colorful text on a brick wall&#10;&#10;AI-generated content may be incorrect.">
            <a:extLst>
              <a:ext uri="{FF2B5EF4-FFF2-40B4-BE49-F238E27FC236}">
                <a16:creationId xmlns:a16="http://schemas.microsoft.com/office/drawing/2014/main" id="{E08C7735-EDD9-FF9D-85F1-77A2FDBE41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55996" y="4086584"/>
            <a:ext cx="1127976" cy="53398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A blue text on a black background&#10;&#10;AI-generated content may be incorrect.">
            <a:extLst>
              <a:ext uri="{FF2B5EF4-FFF2-40B4-BE49-F238E27FC236}">
                <a16:creationId xmlns:a16="http://schemas.microsoft.com/office/drawing/2014/main" id="{67C26311-6899-5AD1-DEFB-C536D39847A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0632" y="977661"/>
            <a:ext cx="1440247" cy="446539"/>
          </a:xfrm>
          <a:prstGeom prst="rect">
            <a:avLst/>
          </a:prstGeom>
          <a:noFill/>
          <a:extLst>
            <a:ext uri="{909E8E84-426E-40DD-AFC4-6F175D3DCCD1}">
              <a14:hiddenFill xmlns:a14="http://schemas.microsoft.com/office/drawing/2010/main">
                <a:solidFill>
                  <a:srgbClr val="FFFFFF"/>
                </a:solidFill>
              </a14:hiddenFill>
            </a:ext>
          </a:extLst>
        </p:spPr>
      </p:pic>
      <p:sp>
        <p:nvSpPr>
          <p:cNvPr id="9" name="Hexagon 8">
            <a:extLst>
              <a:ext uri="{FF2B5EF4-FFF2-40B4-BE49-F238E27FC236}">
                <a16:creationId xmlns:a16="http://schemas.microsoft.com/office/drawing/2014/main" id="{B6D9F3D1-5A85-F7AC-7AE4-5F596E97BAFA}"/>
              </a:ext>
            </a:extLst>
          </p:cNvPr>
          <p:cNvSpPr/>
          <p:nvPr/>
        </p:nvSpPr>
        <p:spPr>
          <a:xfrm>
            <a:off x="0" y="1525143"/>
            <a:ext cx="3045556" cy="2095304"/>
          </a:xfrm>
          <a:prstGeom prst="hexagon">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1" name="TextBox 10">
            <a:extLst>
              <a:ext uri="{FF2B5EF4-FFF2-40B4-BE49-F238E27FC236}">
                <a16:creationId xmlns:a16="http://schemas.microsoft.com/office/drawing/2014/main" id="{7524DA1E-880B-FF55-4354-A948C2A63A86}"/>
              </a:ext>
            </a:extLst>
          </p:cNvPr>
          <p:cNvSpPr txBox="1"/>
          <p:nvPr/>
        </p:nvSpPr>
        <p:spPr>
          <a:xfrm>
            <a:off x="451350" y="1835343"/>
            <a:ext cx="2362200" cy="1323439"/>
          </a:xfrm>
          <a:prstGeom prst="rect">
            <a:avLst/>
          </a:prstGeom>
          <a:noFill/>
        </p:spPr>
        <p:txBody>
          <a:bodyPr wrap="square" rtlCol="0">
            <a:spAutoFit/>
          </a:bodyPr>
          <a:lstStyle/>
          <a:p>
            <a:r>
              <a:rPr lang="en-US" sz="1000" b="1" dirty="0">
                <a:latin typeface="+mj-lt"/>
              </a:rPr>
              <a:t>At Melcom, we embrace emerging technologies to enhance customer satisfaction.</a:t>
            </a:r>
            <a:br>
              <a:rPr lang="en-US" sz="1000" dirty="0">
                <a:latin typeface="+mj-lt"/>
              </a:rPr>
            </a:br>
            <a:r>
              <a:rPr lang="en-US" sz="1000" dirty="0">
                <a:latin typeface="+mj-lt"/>
              </a:rPr>
              <a:t>We've launched an online shopping portal to guarantee quality service with every order. Our goal is to expand this safe, convenient shopping experience across all our locations and beyond.</a:t>
            </a:r>
          </a:p>
        </p:txBody>
      </p:sp>
      <p:sp>
        <p:nvSpPr>
          <p:cNvPr id="16" name="Hexagon 15">
            <a:extLst>
              <a:ext uri="{FF2B5EF4-FFF2-40B4-BE49-F238E27FC236}">
                <a16:creationId xmlns:a16="http://schemas.microsoft.com/office/drawing/2014/main" id="{0AF95154-3A46-34C8-9723-3E39E95C1D53}"/>
              </a:ext>
            </a:extLst>
          </p:cNvPr>
          <p:cNvSpPr/>
          <p:nvPr/>
        </p:nvSpPr>
        <p:spPr>
          <a:xfrm>
            <a:off x="3097184" y="1538214"/>
            <a:ext cx="3045556" cy="2095304"/>
          </a:xfrm>
          <a:prstGeom prst="hexagon">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050" dirty="0">
                <a:solidFill>
                  <a:srgbClr val="231F20"/>
                </a:solidFill>
                <a:latin typeface="+mj-lt"/>
                <a:cs typeface="Tahoma"/>
              </a:rPr>
              <a:t>Melcom Mini</a:t>
            </a:r>
            <a:r>
              <a:rPr lang="en-US" sz="1050" spc="-10" dirty="0">
                <a:solidFill>
                  <a:srgbClr val="231F20"/>
                </a:solidFill>
                <a:latin typeface="+mj-lt"/>
                <a:cs typeface="Tahoma"/>
              </a:rPr>
              <a:t> </a:t>
            </a:r>
            <a:r>
              <a:rPr lang="en-US" sz="1050" dirty="0">
                <a:solidFill>
                  <a:srgbClr val="231F20"/>
                </a:solidFill>
                <a:latin typeface="+mj-lt"/>
                <a:cs typeface="Tahoma"/>
              </a:rPr>
              <a:t>was</a:t>
            </a:r>
            <a:r>
              <a:rPr lang="en-US" sz="1050" spc="3" dirty="0">
                <a:solidFill>
                  <a:srgbClr val="231F20"/>
                </a:solidFill>
                <a:latin typeface="+mj-lt"/>
                <a:cs typeface="Tahoma"/>
              </a:rPr>
              <a:t> </a:t>
            </a:r>
            <a:r>
              <a:rPr lang="en-US" sz="1050" dirty="0">
                <a:solidFill>
                  <a:srgbClr val="231F20"/>
                </a:solidFill>
                <a:latin typeface="+mj-lt"/>
                <a:cs typeface="Tahoma"/>
              </a:rPr>
              <a:t>incorporated into</a:t>
            </a:r>
            <a:r>
              <a:rPr lang="en-US" sz="1050" spc="3" dirty="0">
                <a:solidFill>
                  <a:srgbClr val="231F20"/>
                </a:solidFill>
                <a:latin typeface="+mj-lt"/>
                <a:cs typeface="Tahoma"/>
              </a:rPr>
              <a:t> </a:t>
            </a:r>
            <a:r>
              <a:rPr lang="en-US" sz="1050" dirty="0">
                <a:solidFill>
                  <a:srgbClr val="231F20"/>
                </a:solidFill>
                <a:latin typeface="+mj-lt"/>
                <a:cs typeface="Tahoma"/>
              </a:rPr>
              <a:t>the</a:t>
            </a:r>
            <a:r>
              <a:rPr lang="en-US" sz="1050" spc="3" dirty="0">
                <a:solidFill>
                  <a:srgbClr val="231F20"/>
                </a:solidFill>
                <a:latin typeface="+mj-lt"/>
                <a:cs typeface="Tahoma"/>
              </a:rPr>
              <a:t> </a:t>
            </a:r>
            <a:r>
              <a:rPr lang="en-US" sz="1050" dirty="0">
                <a:solidFill>
                  <a:srgbClr val="231F20"/>
                </a:solidFill>
                <a:latin typeface="+mj-lt"/>
                <a:cs typeface="Tahoma"/>
              </a:rPr>
              <a:t>Melcom family</a:t>
            </a:r>
            <a:r>
              <a:rPr lang="en-US" sz="1050" spc="-13" dirty="0">
                <a:solidFill>
                  <a:srgbClr val="231F20"/>
                </a:solidFill>
                <a:latin typeface="+mj-lt"/>
                <a:cs typeface="Tahoma"/>
              </a:rPr>
              <a:t> </a:t>
            </a:r>
            <a:r>
              <a:rPr lang="en-US" sz="1050" dirty="0">
                <a:solidFill>
                  <a:srgbClr val="231F20"/>
                </a:solidFill>
                <a:latin typeface="+mj-lt"/>
                <a:cs typeface="Tahoma"/>
              </a:rPr>
              <a:t>in </a:t>
            </a:r>
            <a:r>
              <a:rPr lang="en-US" sz="1050" spc="-16" dirty="0">
                <a:solidFill>
                  <a:srgbClr val="231F20"/>
                </a:solidFill>
                <a:latin typeface="+mj-lt"/>
                <a:cs typeface="Tahoma"/>
              </a:rPr>
              <a:t>the </a:t>
            </a:r>
            <a:r>
              <a:rPr lang="en-US" sz="1050" spc="-6" dirty="0">
                <a:solidFill>
                  <a:srgbClr val="231F20"/>
                </a:solidFill>
                <a:latin typeface="+mj-lt"/>
                <a:cs typeface="Tahoma"/>
              </a:rPr>
              <a:t>year</a:t>
            </a:r>
            <a:r>
              <a:rPr lang="en-US" sz="1050" spc="-29" dirty="0">
                <a:solidFill>
                  <a:srgbClr val="231F20"/>
                </a:solidFill>
                <a:latin typeface="+mj-lt"/>
                <a:cs typeface="Tahoma"/>
              </a:rPr>
              <a:t> </a:t>
            </a:r>
            <a:r>
              <a:rPr lang="en-US" sz="1050" dirty="0">
                <a:solidFill>
                  <a:srgbClr val="231F20"/>
                </a:solidFill>
                <a:latin typeface="+mj-lt"/>
                <a:cs typeface="Tahoma"/>
              </a:rPr>
              <a:t>2021,</a:t>
            </a:r>
            <a:r>
              <a:rPr lang="en-US" sz="1050" spc="-19" dirty="0">
                <a:solidFill>
                  <a:srgbClr val="231F20"/>
                </a:solidFill>
                <a:latin typeface="+mj-lt"/>
                <a:cs typeface="Tahoma"/>
              </a:rPr>
              <a:t> </a:t>
            </a:r>
            <a:r>
              <a:rPr lang="en-US" sz="1050" dirty="0">
                <a:solidFill>
                  <a:srgbClr val="231F20"/>
                </a:solidFill>
                <a:latin typeface="+mj-lt"/>
                <a:cs typeface="Tahoma"/>
              </a:rPr>
              <a:t>from</a:t>
            </a:r>
            <a:r>
              <a:rPr lang="en-US" sz="1050" spc="-29" dirty="0">
                <a:solidFill>
                  <a:srgbClr val="231F20"/>
                </a:solidFill>
                <a:latin typeface="+mj-lt"/>
                <a:cs typeface="Tahoma"/>
              </a:rPr>
              <a:t> </a:t>
            </a:r>
            <a:r>
              <a:rPr lang="en-US" sz="1050" dirty="0">
                <a:solidFill>
                  <a:srgbClr val="231F20"/>
                </a:solidFill>
                <a:latin typeface="+mj-lt"/>
                <a:cs typeface="Tahoma"/>
              </a:rPr>
              <a:t>which</a:t>
            </a:r>
            <a:r>
              <a:rPr lang="en-US" sz="1050" spc="-29" dirty="0">
                <a:solidFill>
                  <a:srgbClr val="231F20"/>
                </a:solidFill>
                <a:latin typeface="+mj-lt"/>
                <a:cs typeface="Tahoma"/>
              </a:rPr>
              <a:t> </a:t>
            </a:r>
            <a:r>
              <a:rPr lang="en-US" sz="1050" dirty="0">
                <a:solidFill>
                  <a:srgbClr val="231F20"/>
                </a:solidFill>
                <a:latin typeface="+mj-lt"/>
                <a:cs typeface="Tahoma"/>
              </a:rPr>
              <a:t>we</a:t>
            </a:r>
            <a:r>
              <a:rPr lang="en-US" sz="1050" spc="-16" dirty="0">
                <a:solidFill>
                  <a:srgbClr val="231F20"/>
                </a:solidFill>
                <a:latin typeface="+mj-lt"/>
                <a:cs typeface="Tahoma"/>
              </a:rPr>
              <a:t> </a:t>
            </a:r>
            <a:r>
              <a:rPr lang="en-US" sz="1050" spc="-6" dirty="0">
                <a:solidFill>
                  <a:srgbClr val="231F20"/>
                </a:solidFill>
                <a:latin typeface="+mj-lt"/>
                <a:cs typeface="Tahoma"/>
              </a:rPr>
              <a:t>have</a:t>
            </a:r>
            <a:r>
              <a:rPr lang="en-US" sz="1050" spc="-19" dirty="0">
                <a:solidFill>
                  <a:srgbClr val="231F20"/>
                </a:solidFill>
                <a:latin typeface="+mj-lt"/>
                <a:cs typeface="Tahoma"/>
              </a:rPr>
              <a:t> </a:t>
            </a:r>
            <a:r>
              <a:rPr lang="en-US" sz="1050" dirty="0">
                <a:solidFill>
                  <a:srgbClr val="231F20"/>
                </a:solidFill>
                <a:latin typeface="+mj-lt"/>
                <a:cs typeface="Tahoma"/>
              </a:rPr>
              <a:t>opened</a:t>
            </a:r>
            <a:r>
              <a:rPr lang="en-US" sz="1050" spc="-16" dirty="0">
                <a:solidFill>
                  <a:srgbClr val="231F20"/>
                </a:solidFill>
                <a:latin typeface="+mj-lt"/>
                <a:cs typeface="Tahoma"/>
              </a:rPr>
              <a:t> </a:t>
            </a:r>
            <a:r>
              <a:rPr lang="en-US" sz="1050" dirty="0">
                <a:solidFill>
                  <a:srgbClr val="231F20"/>
                </a:solidFill>
                <a:latin typeface="+mj-lt"/>
                <a:cs typeface="Tahoma"/>
              </a:rPr>
              <a:t>4</a:t>
            </a:r>
            <a:r>
              <a:rPr lang="en-US" sz="1050" spc="-19" dirty="0">
                <a:solidFill>
                  <a:srgbClr val="231F20"/>
                </a:solidFill>
                <a:latin typeface="+mj-lt"/>
                <a:cs typeface="Tahoma"/>
              </a:rPr>
              <a:t> </a:t>
            </a:r>
            <a:r>
              <a:rPr lang="en-US" sz="1050" dirty="0">
                <a:solidFill>
                  <a:srgbClr val="231F20"/>
                </a:solidFill>
                <a:latin typeface="+mj-lt"/>
                <a:cs typeface="Tahoma"/>
              </a:rPr>
              <a:t>shops</a:t>
            </a:r>
            <a:r>
              <a:rPr lang="en-US" sz="1050" spc="-16" dirty="0">
                <a:solidFill>
                  <a:srgbClr val="231F20"/>
                </a:solidFill>
                <a:latin typeface="+mj-lt"/>
                <a:cs typeface="Tahoma"/>
              </a:rPr>
              <a:t> </a:t>
            </a:r>
            <a:r>
              <a:rPr lang="en-US" sz="1050" spc="-19" dirty="0">
                <a:solidFill>
                  <a:srgbClr val="231F20"/>
                </a:solidFill>
                <a:latin typeface="+mj-lt"/>
                <a:cs typeface="Tahoma"/>
              </a:rPr>
              <a:t>as </a:t>
            </a:r>
            <a:r>
              <a:rPr lang="en-US" sz="1050" spc="-6" dirty="0">
                <a:solidFill>
                  <a:srgbClr val="231F20"/>
                </a:solidFill>
                <a:latin typeface="+mj-lt"/>
                <a:cs typeface="Tahoma"/>
              </a:rPr>
              <a:t>standing, and</a:t>
            </a:r>
            <a:r>
              <a:rPr lang="en-US" sz="1050" spc="-26" dirty="0">
                <a:solidFill>
                  <a:srgbClr val="231F20"/>
                </a:solidFill>
                <a:latin typeface="+mj-lt"/>
                <a:cs typeface="Tahoma"/>
              </a:rPr>
              <a:t> </a:t>
            </a:r>
            <a:r>
              <a:rPr lang="en-US" sz="1050" dirty="0">
                <a:solidFill>
                  <a:srgbClr val="231F20"/>
                </a:solidFill>
                <a:latin typeface="+mj-lt"/>
                <a:cs typeface="Tahoma"/>
              </a:rPr>
              <a:t>expected</a:t>
            </a:r>
            <a:r>
              <a:rPr lang="en-US" sz="1050" spc="-26" dirty="0">
                <a:solidFill>
                  <a:srgbClr val="231F20"/>
                </a:solidFill>
                <a:latin typeface="+mj-lt"/>
                <a:cs typeface="Tahoma"/>
              </a:rPr>
              <a:t> </a:t>
            </a:r>
            <a:r>
              <a:rPr lang="en-US" sz="1050" dirty="0">
                <a:solidFill>
                  <a:srgbClr val="231F20"/>
                </a:solidFill>
                <a:latin typeface="+mj-lt"/>
                <a:cs typeface="Tahoma"/>
              </a:rPr>
              <a:t>to</a:t>
            </a:r>
            <a:r>
              <a:rPr lang="en-US" sz="1050" spc="-26" dirty="0">
                <a:solidFill>
                  <a:srgbClr val="231F20"/>
                </a:solidFill>
                <a:latin typeface="+mj-lt"/>
                <a:cs typeface="Tahoma"/>
              </a:rPr>
              <a:t> </a:t>
            </a:r>
            <a:r>
              <a:rPr lang="en-US" sz="1050" spc="-6" dirty="0">
                <a:solidFill>
                  <a:srgbClr val="231F20"/>
                </a:solidFill>
                <a:latin typeface="+mj-lt"/>
                <a:cs typeface="Tahoma"/>
              </a:rPr>
              <a:t>expand</a:t>
            </a:r>
            <a:r>
              <a:rPr lang="en-US" sz="1050" spc="-26" dirty="0">
                <a:solidFill>
                  <a:srgbClr val="231F20"/>
                </a:solidFill>
                <a:latin typeface="+mj-lt"/>
                <a:cs typeface="Tahoma"/>
              </a:rPr>
              <a:t> </a:t>
            </a:r>
            <a:r>
              <a:rPr lang="en-US" sz="1050" dirty="0">
                <a:solidFill>
                  <a:srgbClr val="231F20"/>
                </a:solidFill>
                <a:latin typeface="+mj-lt"/>
                <a:cs typeface="Tahoma"/>
              </a:rPr>
              <a:t>to</a:t>
            </a:r>
            <a:r>
              <a:rPr lang="en-US" sz="1050" spc="-26" dirty="0">
                <a:solidFill>
                  <a:srgbClr val="231F20"/>
                </a:solidFill>
                <a:latin typeface="+mj-lt"/>
                <a:cs typeface="Tahoma"/>
              </a:rPr>
              <a:t> </a:t>
            </a:r>
            <a:r>
              <a:rPr lang="en-US" sz="1050" dirty="0">
                <a:solidFill>
                  <a:srgbClr val="231F20"/>
                </a:solidFill>
                <a:latin typeface="+mj-lt"/>
                <a:cs typeface="Tahoma"/>
              </a:rPr>
              <a:t>other</a:t>
            </a:r>
            <a:r>
              <a:rPr lang="en-US" sz="1050" spc="-35" dirty="0">
                <a:solidFill>
                  <a:srgbClr val="231F20"/>
                </a:solidFill>
                <a:latin typeface="+mj-lt"/>
                <a:cs typeface="Tahoma"/>
              </a:rPr>
              <a:t> </a:t>
            </a:r>
            <a:r>
              <a:rPr lang="en-US" sz="1050" dirty="0">
                <a:solidFill>
                  <a:srgbClr val="231F20"/>
                </a:solidFill>
                <a:latin typeface="+mj-lt"/>
                <a:cs typeface="Tahoma"/>
              </a:rPr>
              <a:t>locations,</a:t>
            </a:r>
            <a:r>
              <a:rPr lang="en-US" sz="1050" spc="-26" dirty="0">
                <a:solidFill>
                  <a:srgbClr val="231F20"/>
                </a:solidFill>
                <a:latin typeface="+mj-lt"/>
                <a:cs typeface="Tahoma"/>
              </a:rPr>
              <a:t> </a:t>
            </a:r>
            <a:r>
              <a:rPr lang="en-US" sz="1050" spc="-19" dirty="0">
                <a:solidFill>
                  <a:srgbClr val="231F20"/>
                </a:solidFill>
                <a:latin typeface="+mj-lt"/>
                <a:cs typeface="Tahoma"/>
              </a:rPr>
              <a:t>as</a:t>
            </a:r>
            <a:r>
              <a:rPr lang="en-US" sz="1050" spc="-26" dirty="0">
                <a:solidFill>
                  <a:srgbClr val="231F20"/>
                </a:solidFill>
                <a:latin typeface="+mj-lt"/>
                <a:cs typeface="Tahoma"/>
              </a:rPr>
              <a:t> </a:t>
            </a:r>
            <a:r>
              <a:rPr lang="en-US" sz="1050" dirty="0">
                <a:solidFill>
                  <a:srgbClr val="231F20"/>
                </a:solidFill>
                <a:latin typeface="+mj-lt"/>
                <a:cs typeface="Tahoma"/>
              </a:rPr>
              <a:t>part</a:t>
            </a:r>
            <a:r>
              <a:rPr lang="en-US" sz="1050" spc="-26" dirty="0">
                <a:solidFill>
                  <a:srgbClr val="231F20"/>
                </a:solidFill>
                <a:latin typeface="+mj-lt"/>
                <a:cs typeface="Tahoma"/>
              </a:rPr>
              <a:t> </a:t>
            </a:r>
            <a:r>
              <a:rPr lang="en-US" sz="1050" dirty="0">
                <a:solidFill>
                  <a:srgbClr val="231F20"/>
                </a:solidFill>
                <a:latin typeface="+mj-lt"/>
                <a:cs typeface="Tahoma"/>
              </a:rPr>
              <a:t>of</a:t>
            </a:r>
            <a:r>
              <a:rPr lang="en-US" sz="1050" spc="-35" dirty="0">
                <a:solidFill>
                  <a:srgbClr val="231F20"/>
                </a:solidFill>
                <a:latin typeface="+mj-lt"/>
                <a:cs typeface="Tahoma"/>
              </a:rPr>
              <a:t> </a:t>
            </a:r>
            <a:r>
              <a:rPr lang="en-US" sz="1050" spc="-16" dirty="0">
                <a:solidFill>
                  <a:srgbClr val="231F20"/>
                </a:solidFill>
                <a:latin typeface="+mj-lt"/>
                <a:cs typeface="Tahoma"/>
              </a:rPr>
              <a:t>our </a:t>
            </a:r>
            <a:r>
              <a:rPr lang="en-US" sz="1050" spc="-6" dirty="0">
                <a:solidFill>
                  <a:srgbClr val="231F20"/>
                </a:solidFill>
                <a:latin typeface="+mj-lt"/>
                <a:cs typeface="Tahoma"/>
              </a:rPr>
              <a:t>strategy</a:t>
            </a:r>
            <a:r>
              <a:rPr lang="en-US" sz="1050" spc="-38" dirty="0">
                <a:solidFill>
                  <a:srgbClr val="231F20"/>
                </a:solidFill>
                <a:latin typeface="+mj-lt"/>
                <a:cs typeface="Tahoma"/>
              </a:rPr>
              <a:t> </a:t>
            </a:r>
            <a:r>
              <a:rPr lang="en-US" sz="1050" dirty="0">
                <a:solidFill>
                  <a:srgbClr val="231F20"/>
                </a:solidFill>
                <a:latin typeface="+mj-lt"/>
                <a:cs typeface="Tahoma"/>
              </a:rPr>
              <a:t>of</a:t>
            </a:r>
            <a:r>
              <a:rPr lang="en-US" sz="1050" spc="-32" dirty="0">
                <a:solidFill>
                  <a:srgbClr val="231F20"/>
                </a:solidFill>
                <a:latin typeface="+mj-lt"/>
                <a:cs typeface="Tahoma"/>
              </a:rPr>
              <a:t> </a:t>
            </a:r>
            <a:r>
              <a:rPr lang="en-US" sz="1050" spc="-6" dirty="0">
                <a:solidFill>
                  <a:srgbClr val="231F20"/>
                </a:solidFill>
                <a:latin typeface="+mj-lt"/>
                <a:cs typeface="Tahoma"/>
              </a:rPr>
              <a:t>making</a:t>
            </a:r>
            <a:r>
              <a:rPr lang="en-US" sz="1050" spc="-22" dirty="0">
                <a:solidFill>
                  <a:srgbClr val="231F20"/>
                </a:solidFill>
                <a:latin typeface="+mj-lt"/>
                <a:cs typeface="Tahoma"/>
              </a:rPr>
              <a:t> </a:t>
            </a:r>
            <a:r>
              <a:rPr lang="en-US" sz="1050" spc="-6" dirty="0">
                <a:solidFill>
                  <a:srgbClr val="231F20"/>
                </a:solidFill>
                <a:latin typeface="+mj-lt"/>
                <a:cs typeface="Tahoma"/>
              </a:rPr>
              <a:t>grocery</a:t>
            </a:r>
            <a:r>
              <a:rPr lang="en-US" sz="1050" spc="-35" dirty="0">
                <a:solidFill>
                  <a:srgbClr val="231F20"/>
                </a:solidFill>
                <a:latin typeface="+mj-lt"/>
                <a:cs typeface="Tahoma"/>
              </a:rPr>
              <a:t> </a:t>
            </a:r>
            <a:r>
              <a:rPr lang="en-US" sz="1050" dirty="0">
                <a:solidFill>
                  <a:srgbClr val="231F20"/>
                </a:solidFill>
                <a:latin typeface="+mj-lt"/>
                <a:cs typeface="Tahoma"/>
              </a:rPr>
              <a:t>shopping</a:t>
            </a:r>
            <a:r>
              <a:rPr lang="en-US" sz="1050" spc="-22" dirty="0">
                <a:solidFill>
                  <a:srgbClr val="231F20"/>
                </a:solidFill>
                <a:latin typeface="+mj-lt"/>
                <a:cs typeface="Tahoma"/>
              </a:rPr>
              <a:t> </a:t>
            </a:r>
            <a:r>
              <a:rPr lang="en-US" sz="1050" spc="-6" dirty="0">
                <a:solidFill>
                  <a:srgbClr val="231F20"/>
                </a:solidFill>
                <a:latin typeface="+mj-lt"/>
                <a:cs typeface="Tahoma"/>
              </a:rPr>
              <a:t>convenient</a:t>
            </a:r>
            <a:endParaRPr lang="en-US" sz="2800" dirty="0">
              <a:latin typeface="+mj-lt"/>
            </a:endParaRPr>
          </a:p>
        </p:txBody>
      </p:sp>
      <p:sp>
        <p:nvSpPr>
          <p:cNvPr id="18" name="Hexagon 17">
            <a:extLst>
              <a:ext uri="{FF2B5EF4-FFF2-40B4-BE49-F238E27FC236}">
                <a16:creationId xmlns:a16="http://schemas.microsoft.com/office/drawing/2014/main" id="{0D227B0C-8F1E-D595-CECD-50DD2168021E}"/>
              </a:ext>
            </a:extLst>
          </p:cNvPr>
          <p:cNvSpPr/>
          <p:nvPr/>
        </p:nvSpPr>
        <p:spPr>
          <a:xfrm>
            <a:off x="9116912" y="1567878"/>
            <a:ext cx="3045556" cy="2095304"/>
          </a:xfrm>
          <a:prstGeom prst="hexag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rtl="0">
              <a:lnSpc>
                <a:spcPct val="150000"/>
              </a:lnSpc>
            </a:pPr>
            <a:r>
              <a:rPr lang="en-US" sz="900" dirty="0">
                <a:solidFill>
                  <a:srgbClr val="231F20"/>
                </a:solidFill>
                <a:latin typeface="+mj-lt"/>
                <a:ea typeface="Tahoma"/>
                <a:cs typeface="Tahoma"/>
              </a:rPr>
              <a:t>This  division  of  Melcom  Limited  was  added to our group of companies with the focus on providing a unique sense of interior and exterior decorative designs from our vast ranges of fine quality products in beautifying homes and offices   amongst  others  for  our  diverse  customers.</a:t>
            </a:r>
            <a:r>
              <a:rPr lang="en-US" sz="900" dirty="0">
                <a:latin typeface="+mj-lt"/>
                <a:ea typeface="Tahoma"/>
                <a:cs typeface="Tahoma"/>
              </a:rPr>
              <a:t>​</a:t>
            </a:r>
            <a:endParaRPr lang="en-US" dirty="0">
              <a:latin typeface="+mj-lt"/>
            </a:endParaRPr>
          </a:p>
          <a:p>
            <a:pPr marL="0" algn="just" rtl="0"/>
            <a:r>
              <a:rPr lang="en-US" sz="900" dirty="0">
                <a:latin typeface="+mj-lt"/>
              </a:rPr>
              <a:t>​</a:t>
            </a:r>
            <a:endParaRPr lang="en-US" dirty="0">
              <a:latin typeface="+mj-lt"/>
            </a:endParaRPr>
          </a:p>
        </p:txBody>
      </p:sp>
      <p:sp>
        <p:nvSpPr>
          <p:cNvPr id="19" name="Hexagon 18">
            <a:extLst>
              <a:ext uri="{FF2B5EF4-FFF2-40B4-BE49-F238E27FC236}">
                <a16:creationId xmlns:a16="http://schemas.microsoft.com/office/drawing/2014/main" id="{454CA114-7038-B99C-DB72-3F035203D11B}"/>
              </a:ext>
            </a:extLst>
          </p:cNvPr>
          <p:cNvSpPr/>
          <p:nvPr/>
        </p:nvSpPr>
        <p:spPr>
          <a:xfrm>
            <a:off x="6142740" y="1567878"/>
            <a:ext cx="2974171" cy="2095304"/>
          </a:xfrm>
          <a:prstGeom prst="hexagon">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40" name="Hexagon 39">
            <a:extLst>
              <a:ext uri="{FF2B5EF4-FFF2-40B4-BE49-F238E27FC236}">
                <a16:creationId xmlns:a16="http://schemas.microsoft.com/office/drawing/2014/main" id="{41434D60-A2FE-FC95-C61C-CBCDB791DAD1}"/>
              </a:ext>
            </a:extLst>
          </p:cNvPr>
          <p:cNvSpPr/>
          <p:nvPr/>
        </p:nvSpPr>
        <p:spPr>
          <a:xfrm>
            <a:off x="773365" y="4711501"/>
            <a:ext cx="2365354" cy="1749059"/>
          </a:xfrm>
          <a:prstGeom prst="hexagon">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41" name="Hexagon 40">
            <a:extLst>
              <a:ext uri="{FF2B5EF4-FFF2-40B4-BE49-F238E27FC236}">
                <a16:creationId xmlns:a16="http://schemas.microsoft.com/office/drawing/2014/main" id="{6F8B9C37-D294-42C6-BCFF-3D23CDC22088}"/>
              </a:ext>
            </a:extLst>
          </p:cNvPr>
          <p:cNvSpPr/>
          <p:nvPr/>
        </p:nvSpPr>
        <p:spPr>
          <a:xfrm>
            <a:off x="2737725" y="4711501"/>
            <a:ext cx="2365354" cy="1749059"/>
          </a:xfrm>
          <a:prstGeom prst="hexagon">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42" name="Hexagon 41">
            <a:extLst>
              <a:ext uri="{FF2B5EF4-FFF2-40B4-BE49-F238E27FC236}">
                <a16:creationId xmlns:a16="http://schemas.microsoft.com/office/drawing/2014/main" id="{FEDF046F-8390-1BE4-59E5-DC1C9A7EFC0C}"/>
              </a:ext>
            </a:extLst>
          </p:cNvPr>
          <p:cNvSpPr/>
          <p:nvPr/>
        </p:nvSpPr>
        <p:spPr>
          <a:xfrm>
            <a:off x="4800863" y="4711500"/>
            <a:ext cx="2365354" cy="1749059"/>
          </a:xfrm>
          <a:prstGeom prst="hexagon">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atin typeface="+mj-lt"/>
            </a:endParaRPr>
          </a:p>
        </p:txBody>
      </p:sp>
      <p:sp>
        <p:nvSpPr>
          <p:cNvPr id="43" name="Hexagon 42">
            <a:extLst>
              <a:ext uri="{FF2B5EF4-FFF2-40B4-BE49-F238E27FC236}">
                <a16:creationId xmlns:a16="http://schemas.microsoft.com/office/drawing/2014/main" id="{8507D014-2775-BC1D-9FEF-03AF3F353E22}"/>
              </a:ext>
            </a:extLst>
          </p:cNvPr>
          <p:cNvSpPr/>
          <p:nvPr/>
        </p:nvSpPr>
        <p:spPr>
          <a:xfrm>
            <a:off x="6665459" y="4711500"/>
            <a:ext cx="2365354" cy="1749059"/>
          </a:xfrm>
          <a:prstGeom prst="hexagon">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44" name="Hexagon 43">
            <a:extLst>
              <a:ext uri="{FF2B5EF4-FFF2-40B4-BE49-F238E27FC236}">
                <a16:creationId xmlns:a16="http://schemas.microsoft.com/office/drawing/2014/main" id="{1A64CEEA-CADA-D5D2-3644-619C5657D13E}"/>
              </a:ext>
            </a:extLst>
          </p:cNvPr>
          <p:cNvSpPr/>
          <p:nvPr/>
        </p:nvSpPr>
        <p:spPr>
          <a:xfrm>
            <a:off x="8642423" y="4711500"/>
            <a:ext cx="2365354" cy="1749059"/>
          </a:xfrm>
          <a:prstGeom prst="hexagon">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 name="TextBox 4">
            <a:extLst>
              <a:ext uri="{FF2B5EF4-FFF2-40B4-BE49-F238E27FC236}">
                <a16:creationId xmlns:a16="http://schemas.microsoft.com/office/drawing/2014/main" id="{168C0656-1512-776E-50AF-6155FC5A5C43}"/>
              </a:ext>
            </a:extLst>
          </p:cNvPr>
          <p:cNvSpPr txBox="1"/>
          <p:nvPr/>
        </p:nvSpPr>
        <p:spPr>
          <a:xfrm>
            <a:off x="6142739" y="1829658"/>
            <a:ext cx="2541905"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gn="just">
              <a:lnSpc>
                <a:spcPct val="150000"/>
              </a:lnSpc>
            </a:pPr>
            <a:r>
              <a:rPr lang="en-US" sz="1050" dirty="0" err="1">
                <a:solidFill>
                  <a:srgbClr val="231F20"/>
                </a:solidFill>
                <a:latin typeface="+mj-lt"/>
                <a:ea typeface="Tahoma"/>
                <a:cs typeface="Tahoma"/>
              </a:rPr>
              <a:t>Crownstar</a:t>
            </a:r>
            <a:r>
              <a:rPr lang="en-US" sz="1050" dirty="0">
                <a:solidFill>
                  <a:srgbClr val="231F20"/>
                </a:solidFill>
                <a:latin typeface="+mj-lt"/>
                <a:ea typeface="Tahoma"/>
                <a:cs typeface="Tahoma"/>
              </a:rPr>
              <a:t> Electronics was merged into Melcom in 2022. They serve as the after sales service center for all electronics &amp; electricals as well as assemble televisions, gas cookers and other product ranges locally.</a:t>
            </a:r>
            <a:endParaRPr lang="en-US" sz="1050" dirty="0">
              <a:latin typeface="+mj-lt"/>
              <a:ea typeface="Tahoma"/>
              <a:cs typeface="Tahoma"/>
            </a:endParaRPr>
          </a:p>
          <a:p>
            <a:pPr lvl="1"/>
            <a:endParaRPr lang="en-US" sz="1050" dirty="0">
              <a:latin typeface="+mj-lt"/>
            </a:endParaRPr>
          </a:p>
        </p:txBody>
      </p:sp>
      <p:sp>
        <p:nvSpPr>
          <p:cNvPr id="6" name="TextBox 5">
            <a:extLst>
              <a:ext uri="{FF2B5EF4-FFF2-40B4-BE49-F238E27FC236}">
                <a16:creationId xmlns:a16="http://schemas.microsoft.com/office/drawing/2014/main" id="{28E67D26-59DD-8C8B-2BBE-81584625C2DD}"/>
              </a:ext>
            </a:extLst>
          </p:cNvPr>
          <p:cNvSpPr txBox="1"/>
          <p:nvPr/>
        </p:nvSpPr>
        <p:spPr>
          <a:xfrm>
            <a:off x="1186623" y="5079455"/>
            <a:ext cx="15464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000" err="1">
                <a:solidFill>
                  <a:srgbClr val="231F20"/>
                </a:solidFill>
                <a:latin typeface="+mj-lt"/>
                <a:ea typeface="Tahoma"/>
                <a:cs typeface="Tahoma"/>
              </a:rPr>
              <a:t>Melcom</a:t>
            </a:r>
            <a:r>
              <a:rPr lang="en-US" sz="1000">
                <a:solidFill>
                  <a:srgbClr val="231F20"/>
                </a:solidFill>
                <a:latin typeface="+mj-lt"/>
                <a:ea typeface="Tahoma"/>
                <a:cs typeface="Tahoma"/>
              </a:rPr>
              <a:t> Group </a:t>
            </a:r>
            <a:r>
              <a:rPr lang="en-US" sz="1000" err="1">
                <a:solidFill>
                  <a:srgbClr val="231F20"/>
                </a:solidFill>
                <a:latin typeface="+mj-lt"/>
                <a:ea typeface="Tahoma"/>
                <a:cs typeface="Tahoma"/>
              </a:rPr>
              <a:t>aquired</a:t>
            </a:r>
            <a:r>
              <a:rPr lang="en-US" sz="1000">
                <a:solidFill>
                  <a:srgbClr val="231F20"/>
                </a:solidFill>
                <a:latin typeface="+mj-lt"/>
                <a:ea typeface="Tahoma"/>
                <a:cs typeface="Tahoma"/>
              </a:rPr>
              <a:t> the franchise and  opened the first Giordano store in 2021</a:t>
            </a:r>
            <a:endParaRPr lang="en-US" sz="1000">
              <a:latin typeface="+mj-lt"/>
            </a:endParaRPr>
          </a:p>
        </p:txBody>
      </p:sp>
      <p:sp>
        <p:nvSpPr>
          <p:cNvPr id="7" name="TextBox 6">
            <a:extLst>
              <a:ext uri="{FF2B5EF4-FFF2-40B4-BE49-F238E27FC236}">
                <a16:creationId xmlns:a16="http://schemas.microsoft.com/office/drawing/2014/main" id="{FCD0FC67-FAF3-81D4-4E57-7267503E6EFF}"/>
              </a:ext>
            </a:extLst>
          </p:cNvPr>
          <p:cNvSpPr txBox="1"/>
          <p:nvPr/>
        </p:nvSpPr>
        <p:spPr>
          <a:xfrm>
            <a:off x="3027590" y="4985737"/>
            <a:ext cx="1767595"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800" dirty="0">
                <a:solidFill>
                  <a:srgbClr val="231F20"/>
                </a:solidFill>
                <a:latin typeface="+mj-lt"/>
                <a:ea typeface="Tahoma"/>
                <a:cs typeface="Tahoma"/>
              </a:rPr>
              <a:t>Melcom Group </a:t>
            </a:r>
            <a:r>
              <a:rPr lang="en-US" sz="800" dirty="0" err="1">
                <a:solidFill>
                  <a:srgbClr val="231F20"/>
                </a:solidFill>
                <a:latin typeface="+mj-lt"/>
                <a:ea typeface="Tahoma"/>
                <a:cs typeface="Tahoma"/>
              </a:rPr>
              <a:t>aquired</a:t>
            </a:r>
            <a:r>
              <a:rPr lang="en-US" sz="800" dirty="0">
                <a:solidFill>
                  <a:srgbClr val="231F20"/>
                </a:solidFill>
                <a:latin typeface="+mj-lt"/>
                <a:ea typeface="Tahoma"/>
                <a:cs typeface="Tahoma"/>
              </a:rPr>
              <a:t> the exclusive distribution rights to open the first crocs store in December 2022.</a:t>
            </a:r>
            <a:endParaRPr lang="en-US" sz="800" dirty="0">
              <a:latin typeface="+mj-lt"/>
              <a:ea typeface="Tahoma"/>
              <a:cs typeface="Tahoma"/>
            </a:endParaRPr>
          </a:p>
          <a:p>
            <a:pPr algn="just"/>
            <a:r>
              <a:rPr lang="en-US" sz="800" dirty="0">
                <a:solidFill>
                  <a:srgbClr val="231F20"/>
                </a:solidFill>
                <a:latin typeface="+mj-lt"/>
                <a:ea typeface="Tahoma"/>
                <a:cs typeface="Tahoma"/>
              </a:rPr>
              <a:t>The footwear brand is currently available in 2 Melcom stores and is expected to be in Melcom stores within the year.</a:t>
            </a:r>
            <a:endParaRPr lang="en-US" sz="800" dirty="0">
              <a:latin typeface="+mj-lt"/>
              <a:ea typeface="Tahoma"/>
              <a:cs typeface="Tahoma"/>
            </a:endParaRPr>
          </a:p>
          <a:p>
            <a:pPr algn="just"/>
            <a:endParaRPr lang="en-US" sz="900" dirty="0">
              <a:latin typeface="+mj-lt"/>
            </a:endParaRPr>
          </a:p>
        </p:txBody>
      </p:sp>
      <p:sp>
        <p:nvSpPr>
          <p:cNvPr id="10" name="TextBox 9">
            <a:extLst>
              <a:ext uri="{FF2B5EF4-FFF2-40B4-BE49-F238E27FC236}">
                <a16:creationId xmlns:a16="http://schemas.microsoft.com/office/drawing/2014/main" id="{8577C1C8-4D69-345F-DC55-44586558975D}"/>
              </a:ext>
            </a:extLst>
          </p:cNvPr>
          <p:cNvSpPr txBox="1"/>
          <p:nvPr/>
        </p:nvSpPr>
        <p:spPr>
          <a:xfrm>
            <a:off x="7110288" y="4859654"/>
            <a:ext cx="1656645" cy="17113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900" dirty="0">
                <a:solidFill>
                  <a:srgbClr val="231F20"/>
                </a:solidFill>
                <a:latin typeface="+mj-lt"/>
                <a:cs typeface="Segoe UI"/>
              </a:rPr>
              <a:t>Activ8 (Gym &amp; Spa), introduced in 2023, Is a gym and wellness center aimed at promoting the well being of</a:t>
            </a:r>
            <a:r>
              <a:rPr lang="en-US" sz="900" dirty="0">
                <a:latin typeface="+mj-lt"/>
                <a:cs typeface="Segoe UI"/>
              </a:rPr>
              <a:t>​</a:t>
            </a:r>
            <a:endParaRPr lang="en-US" sz="900" dirty="0">
              <a:latin typeface="+mj-lt"/>
              <a:ea typeface="Tahoma"/>
              <a:cs typeface="Segoe UI"/>
            </a:endParaRPr>
          </a:p>
          <a:p>
            <a:pPr algn="just">
              <a:lnSpc>
                <a:spcPct val="150000"/>
              </a:lnSpc>
            </a:pPr>
            <a:r>
              <a:rPr lang="en-US" sz="900" dirty="0">
                <a:solidFill>
                  <a:srgbClr val="231F20"/>
                </a:solidFill>
                <a:latin typeface="+mj-lt"/>
                <a:cs typeface="Segoe UI"/>
              </a:rPr>
              <a:t>Ghanaians.</a:t>
            </a:r>
            <a:r>
              <a:rPr lang="en-US" sz="900" dirty="0">
                <a:latin typeface="+mj-lt"/>
                <a:cs typeface="Segoe UI"/>
              </a:rPr>
              <a:t>​</a:t>
            </a:r>
            <a:endParaRPr lang="en-US" sz="900" dirty="0">
              <a:latin typeface="+mj-lt"/>
              <a:ea typeface="Tahoma"/>
              <a:cs typeface="Segoe UI"/>
            </a:endParaRPr>
          </a:p>
          <a:p>
            <a:pPr algn="just">
              <a:lnSpc>
                <a:spcPct val="150000"/>
              </a:lnSpc>
            </a:pPr>
            <a:r>
              <a:rPr lang="en-US" sz="2800" dirty="0">
                <a:latin typeface="+mj-lt"/>
                <a:cs typeface="Segoe UI"/>
              </a:rPr>
              <a:t>​</a:t>
            </a:r>
          </a:p>
        </p:txBody>
      </p:sp>
      <p:sp>
        <p:nvSpPr>
          <p:cNvPr id="12" name="TextBox 11">
            <a:extLst>
              <a:ext uri="{FF2B5EF4-FFF2-40B4-BE49-F238E27FC236}">
                <a16:creationId xmlns:a16="http://schemas.microsoft.com/office/drawing/2014/main" id="{89C0292D-5331-AA8C-5578-C42C984E1F02}"/>
              </a:ext>
            </a:extLst>
          </p:cNvPr>
          <p:cNvSpPr txBox="1"/>
          <p:nvPr/>
        </p:nvSpPr>
        <p:spPr>
          <a:xfrm>
            <a:off x="8899811" y="4990049"/>
            <a:ext cx="1903433" cy="13388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900" err="1">
                <a:solidFill>
                  <a:srgbClr val="231F20"/>
                </a:solidFill>
                <a:latin typeface="+mj-lt"/>
                <a:ea typeface="Tahoma"/>
                <a:cs typeface="Tahoma"/>
              </a:rPr>
              <a:t>Melcom</a:t>
            </a:r>
            <a:r>
              <a:rPr lang="en-US" sz="900">
                <a:solidFill>
                  <a:srgbClr val="231F20"/>
                </a:solidFill>
                <a:latin typeface="+mj-lt"/>
                <a:ea typeface="Tahoma"/>
                <a:cs typeface="Tahoma"/>
              </a:rPr>
              <a:t> added this distinctively thrilling playground which was established in 2021, as an add-on, whereby kids can enjoy amusing moments. Part</a:t>
            </a:r>
            <a:endParaRPr lang="en-US" sz="900">
              <a:latin typeface="+mj-lt"/>
            </a:endParaRPr>
          </a:p>
          <a:p>
            <a:pPr algn="just"/>
            <a:r>
              <a:rPr lang="en-US" sz="900">
                <a:solidFill>
                  <a:srgbClr val="231F20"/>
                </a:solidFill>
                <a:latin typeface="+mj-lt"/>
                <a:ea typeface="Tahoma"/>
                <a:cs typeface="Tahoma"/>
              </a:rPr>
              <a:t>of our growth strategy is to add more kids’ play centers in selected store locations.</a:t>
            </a:r>
            <a:endParaRPr lang="en-US" sz="900">
              <a:latin typeface="+mj-lt"/>
            </a:endParaRPr>
          </a:p>
          <a:p>
            <a:pPr algn="just"/>
            <a:endParaRPr lang="en-US" sz="900">
              <a:latin typeface="+mj-lt"/>
            </a:endParaRPr>
          </a:p>
        </p:txBody>
      </p:sp>
      <p:sp>
        <p:nvSpPr>
          <p:cNvPr id="13" name="TextBox 12">
            <a:extLst>
              <a:ext uri="{FF2B5EF4-FFF2-40B4-BE49-F238E27FC236}">
                <a16:creationId xmlns:a16="http://schemas.microsoft.com/office/drawing/2014/main" id="{7A44A02E-BDC8-DB56-35E0-D25E20F53204}"/>
              </a:ext>
            </a:extLst>
          </p:cNvPr>
          <p:cNvSpPr txBox="1"/>
          <p:nvPr/>
        </p:nvSpPr>
        <p:spPr>
          <a:xfrm>
            <a:off x="5014407" y="4981105"/>
            <a:ext cx="1790009" cy="11110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900" dirty="0">
                <a:solidFill>
                  <a:srgbClr val="404040"/>
                </a:solidFill>
                <a:latin typeface="+mj-lt"/>
              </a:rPr>
              <a:t>Arcadia - a state of the art virtual reality gaming zone was launched in 2021 for it’s customers. It will be introduced in 2 other locations in the current year.</a:t>
            </a:r>
            <a:endParaRPr lang="en-US" sz="900" dirty="0">
              <a:latin typeface="+mj-lt"/>
            </a:endParaRPr>
          </a:p>
        </p:txBody>
      </p:sp>
      <p:sp>
        <p:nvSpPr>
          <p:cNvPr id="3" name="Rectangle 2">
            <a:extLst>
              <a:ext uri="{FF2B5EF4-FFF2-40B4-BE49-F238E27FC236}">
                <a16:creationId xmlns:a16="http://schemas.microsoft.com/office/drawing/2014/main" id="{E2CCE5CA-0E01-29ED-F4EA-CAF2428B436A}"/>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4" name="TextBox 3">
            <a:extLst>
              <a:ext uri="{FF2B5EF4-FFF2-40B4-BE49-F238E27FC236}">
                <a16:creationId xmlns:a16="http://schemas.microsoft.com/office/drawing/2014/main" id="{74908708-C977-D450-498B-96939595307B}"/>
              </a:ext>
            </a:extLst>
          </p:cNvPr>
          <p:cNvSpPr txBox="1"/>
          <p:nvPr/>
        </p:nvSpPr>
        <p:spPr>
          <a:xfrm>
            <a:off x="-116592" y="63155"/>
            <a:ext cx="12192000" cy="523220"/>
          </a:xfrm>
          <a:prstGeom prst="rect">
            <a:avLst/>
          </a:prstGeom>
          <a:noFill/>
        </p:spPr>
        <p:txBody>
          <a:bodyPr wrap="square">
            <a:spAutoFit/>
          </a:bodyPr>
          <a:lstStyle/>
          <a:p>
            <a:pPr marL="8145" algn="ctr">
              <a:spcBef>
                <a:spcPts val="64"/>
              </a:spcBef>
            </a:pPr>
            <a:r>
              <a:rPr lang="en-US" sz="2800" b="1" u="sng" spc="-48" dirty="0">
                <a:solidFill>
                  <a:srgbClr val="231F20"/>
                </a:solidFill>
                <a:uFill>
                  <a:solidFill>
                    <a:srgbClr val="231F20"/>
                  </a:solidFill>
                </a:uFill>
                <a:latin typeface="+mj-lt"/>
                <a:cs typeface="Tahoma"/>
              </a:rPr>
              <a:t>Group</a:t>
            </a:r>
            <a:r>
              <a:rPr lang="en-US" sz="2800" b="1" u="sng" spc="-38" dirty="0">
                <a:solidFill>
                  <a:srgbClr val="231F20"/>
                </a:solidFill>
                <a:uFill>
                  <a:solidFill>
                    <a:srgbClr val="231F20"/>
                  </a:solidFill>
                </a:uFill>
                <a:latin typeface="+mj-lt"/>
                <a:cs typeface="Tahoma"/>
              </a:rPr>
              <a:t> of</a:t>
            </a:r>
            <a:r>
              <a:rPr lang="en-US" sz="2800" b="1" u="sng" spc="-55" dirty="0">
                <a:solidFill>
                  <a:srgbClr val="231F20"/>
                </a:solidFill>
                <a:uFill>
                  <a:solidFill>
                    <a:srgbClr val="231F20"/>
                  </a:solidFill>
                </a:uFill>
                <a:latin typeface="+mj-lt"/>
                <a:cs typeface="Tahoma"/>
              </a:rPr>
              <a:t> </a:t>
            </a:r>
            <a:r>
              <a:rPr lang="en-US" sz="2800" b="1" u="sng" spc="-51" dirty="0">
                <a:solidFill>
                  <a:srgbClr val="231F20"/>
                </a:solidFill>
                <a:uFill>
                  <a:solidFill>
                    <a:srgbClr val="231F20"/>
                  </a:solidFill>
                </a:uFill>
                <a:latin typeface="+mj-lt"/>
                <a:cs typeface="Tahoma"/>
              </a:rPr>
              <a:t>Companies</a:t>
            </a:r>
            <a:endParaRPr lang="en-US" sz="2800" dirty="0">
              <a:latin typeface="+mj-lt"/>
              <a:cs typeface="Tahoma"/>
            </a:endParaRPr>
          </a:p>
        </p:txBody>
      </p:sp>
    </p:spTree>
    <p:extLst>
      <p:ext uri="{BB962C8B-B14F-4D97-AF65-F5344CB8AC3E}">
        <p14:creationId xmlns:p14="http://schemas.microsoft.com/office/powerpoint/2010/main" val="3726033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649D15D5-FAEF-D91C-74A3-07EB43934D59}"/>
              </a:ext>
            </a:extLst>
          </p:cNvPr>
          <p:cNvGrpSpPr/>
          <p:nvPr/>
        </p:nvGrpSpPr>
        <p:grpSpPr>
          <a:xfrm>
            <a:off x="-327760" y="2650414"/>
            <a:ext cx="7031252" cy="3548185"/>
            <a:chOff x="-107588" y="1630370"/>
            <a:chExt cx="6781763" cy="3548185"/>
          </a:xfrm>
        </p:grpSpPr>
        <p:grpSp>
          <p:nvGrpSpPr>
            <p:cNvPr id="24" name="Group 23">
              <a:extLst>
                <a:ext uri="{FF2B5EF4-FFF2-40B4-BE49-F238E27FC236}">
                  <a16:creationId xmlns:a16="http://schemas.microsoft.com/office/drawing/2014/main" id="{7D14B4D3-7E64-00FE-86B9-3F246FF43000}"/>
                </a:ext>
              </a:extLst>
            </p:cNvPr>
            <p:cNvGrpSpPr/>
            <p:nvPr/>
          </p:nvGrpSpPr>
          <p:grpSpPr>
            <a:xfrm>
              <a:off x="-107588" y="1630370"/>
              <a:ext cx="6781763" cy="3548185"/>
              <a:chOff x="0" y="2267666"/>
              <a:chExt cx="4633992" cy="2379814"/>
            </a:xfrm>
          </p:grpSpPr>
          <p:sp>
            <p:nvSpPr>
              <p:cNvPr id="25" name="Freeform: Shape 24">
                <a:extLst>
                  <a:ext uri="{FF2B5EF4-FFF2-40B4-BE49-F238E27FC236}">
                    <a16:creationId xmlns:a16="http://schemas.microsoft.com/office/drawing/2014/main" id="{4919FF9A-3939-7148-F845-C1B59EF911DB}"/>
                  </a:ext>
                </a:extLst>
              </p:cNvPr>
              <p:cNvSpPr/>
              <p:nvPr/>
            </p:nvSpPr>
            <p:spPr>
              <a:xfrm>
                <a:off x="2043590" y="2267666"/>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54525" tIns="280603" rIns="254526" bIns="280602" numCol="1" spcCol="1270" anchor="ctr" anchorCtr="0">
                <a:noAutofit/>
              </a:bodyPr>
              <a:lstStyle/>
              <a:p>
                <a:pPr marL="0" lvl="0" indent="0" algn="ctr" defTabSz="933450">
                  <a:lnSpc>
                    <a:spcPct val="90000"/>
                  </a:lnSpc>
                  <a:spcBef>
                    <a:spcPct val="0"/>
                  </a:spcBef>
                  <a:spcAft>
                    <a:spcPct val="35000"/>
                  </a:spcAft>
                  <a:buNone/>
                </a:pPr>
                <a:endParaRPr lang="en-US" sz="2100" kern="1200"/>
              </a:p>
            </p:txBody>
          </p:sp>
          <p:sp>
            <p:nvSpPr>
              <p:cNvPr id="26" name="Rectangle 25">
                <a:extLst>
                  <a:ext uri="{FF2B5EF4-FFF2-40B4-BE49-F238E27FC236}">
                    <a16:creationId xmlns:a16="http://schemas.microsoft.com/office/drawing/2014/main" id="{867CF38B-95CB-15F3-1CF7-84DBC657937C}"/>
                  </a:ext>
                </a:extLst>
              </p:cNvPr>
              <p:cNvSpPr/>
              <p:nvPr/>
            </p:nvSpPr>
            <p:spPr>
              <a:xfrm>
                <a:off x="3197455" y="2525111"/>
                <a:ext cx="1436537" cy="77233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7" name="Freeform: Shape 26">
                <a:extLst>
                  <a:ext uri="{FF2B5EF4-FFF2-40B4-BE49-F238E27FC236}">
                    <a16:creationId xmlns:a16="http://schemas.microsoft.com/office/drawing/2014/main" id="{1BE9A6A1-5E21-65F0-5029-B2AFE335C94D}"/>
                  </a:ext>
                </a:extLst>
              </p:cNvPr>
              <p:cNvSpPr/>
              <p:nvPr/>
            </p:nvSpPr>
            <p:spPr>
              <a:xfrm>
                <a:off x="834118" y="2267666"/>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4515" tIns="200593" rIns="174516" bIns="200592" numCol="1" spcCol="1270" anchor="ctr" anchorCtr="0">
                <a:noAutofit/>
              </a:bodyPr>
              <a:lstStyle/>
              <a:p>
                <a:pPr marL="0" lvl="0" indent="0" algn="ctr" defTabSz="1600200">
                  <a:lnSpc>
                    <a:spcPct val="90000"/>
                  </a:lnSpc>
                  <a:spcBef>
                    <a:spcPct val="0"/>
                  </a:spcBef>
                  <a:spcAft>
                    <a:spcPct val="35000"/>
                  </a:spcAft>
                  <a:buNone/>
                </a:pPr>
                <a:endParaRPr lang="en-US" sz="3600" kern="1200"/>
              </a:p>
            </p:txBody>
          </p:sp>
          <p:sp>
            <p:nvSpPr>
              <p:cNvPr id="28" name="Freeform: Shape 27">
                <a:extLst>
                  <a:ext uri="{FF2B5EF4-FFF2-40B4-BE49-F238E27FC236}">
                    <a16:creationId xmlns:a16="http://schemas.microsoft.com/office/drawing/2014/main" id="{1E092475-EC81-1C90-9B48-4C8594F64D33}"/>
                  </a:ext>
                </a:extLst>
              </p:cNvPr>
              <p:cNvSpPr/>
              <p:nvPr/>
            </p:nvSpPr>
            <p:spPr>
              <a:xfrm>
                <a:off x="1436537" y="3360259"/>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30725" tIns="356803" rIns="330726" bIns="356802" numCol="1" spcCol="1270" anchor="ctr" anchorCtr="0">
                <a:noAutofit/>
              </a:bodyPr>
              <a:lstStyle/>
              <a:p>
                <a:pPr marL="0" lvl="0" indent="0" algn="ctr" defTabSz="1822450">
                  <a:lnSpc>
                    <a:spcPct val="90000"/>
                  </a:lnSpc>
                  <a:spcBef>
                    <a:spcPct val="0"/>
                  </a:spcBef>
                  <a:spcAft>
                    <a:spcPct val="35000"/>
                  </a:spcAft>
                  <a:buNone/>
                </a:pPr>
                <a:endParaRPr lang="en-US" sz="4100" kern="1200"/>
              </a:p>
            </p:txBody>
          </p:sp>
          <p:sp>
            <p:nvSpPr>
              <p:cNvPr id="29" name="Rectangle 28">
                <a:extLst>
                  <a:ext uri="{FF2B5EF4-FFF2-40B4-BE49-F238E27FC236}">
                    <a16:creationId xmlns:a16="http://schemas.microsoft.com/office/drawing/2014/main" id="{66B762EA-1691-F517-70CC-66617F88D452}"/>
                  </a:ext>
                </a:extLst>
              </p:cNvPr>
              <p:cNvSpPr/>
              <p:nvPr/>
            </p:nvSpPr>
            <p:spPr>
              <a:xfrm>
                <a:off x="0" y="3617704"/>
                <a:ext cx="1390197" cy="77233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0" name="Freeform: Shape 29">
                <a:extLst>
                  <a:ext uri="{FF2B5EF4-FFF2-40B4-BE49-F238E27FC236}">
                    <a16:creationId xmlns:a16="http://schemas.microsoft.com/office/drawing/2014/main" id="{7D58A496-923C-CE4B-9500-095ACA6A340F}"/>
                  </a:ext>
                </a:extLst>
              </p:cNvPr>
              <p:cNvSpPr/>
              <p:nvPr/>
            </p:nvSpPr>
            <p:spPr>
              <a:xfrm>
                <a:off x="2646009" y="3360259"/>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4515" tIns="200593" rIns="174516" bIns="200592" numCol="1" spcCol="1270" anchor="ctr" anchorCtr="0">
                <a:noAutofit/>
              </a:bodyPr>
              <a:lstStyle/>
              <a:p>
                <a:pPr marL="0" lvl="0" indent="0" algn="ctr" defTabSz="1600200">
                  <a:lnSpc>
                    <a:spcPct val="90000"/>
                  </a:lnSpc>
                  <a:spcBef>
                    <a:spcPct val="0"/>
                  </a:spcBef>
                  <a:spcAft>
                    <a:spcPct val="35000"/>
                  </a:spcAft>
                  <a:buNone/>
                </a:pPr>
                <a:endParaRPr lang="en-US" sz="3600" kern="1200"/>
              </a:p>
            </p:txBody>
          </p:sp>
        </p:grpSp>
        <p:pic>
          <p:nvPicPr>
            <p:cNvPr id="3" name="object 4">
              <a:extLst>
                <a:ext uri="{FF2B5EF4-FFF2-40B4-BE49-F238E27FC236}">
                  <a16:creationId xmlns:a16="http://schemas.microsoft.com/office/drawing/2014/main" id="{5EC6104C-92D4-CD71-9066-EBD00FAB04CE}"/>
                </a:ext>
              </a:extLst>
            </p:cNvPr>
            <p:cNvPicPr/>
            <p:nvPr/>
          </p:nvPicPr>
          <p:blipFill>
            <a:blip r:embed="rId2" cstate="print"/>
            <a:stretch>
              <a:fillRect/>
            </a:stretch>
          </p:blipFill>
          <p:spPr>
            <a:xfrm>
              <a:off x="1357999" y="2014208"/>
              <a:ext cx="1273517" cy="1135065"/>
            </a:xfrm>
            <a:prstGeom prst="rect">
              <a:avLst/>
            </a:prstGeom>
          </p:spPr>
        </p:pic>
        <p:pic>
          <p:nvPicPr>
            <p:cNvPr id="4" name="object 12">
              <a:extLst>
                <a:ext uri="{FF2B5EF4-FFF2-40B4-BE49-F238E27FC236}">
                  <a16:creationId xmlns:a16="http://schemas.microsoft.com/office/drawing/2014/main" id="{5D8E4DF8-BF14-C49A-EEF3-4F605218D020}"/>
                </a:ext>
              </a:extLst>
            </p:cNvPr>
            <p:cNvPicPr/>
            <p:nvPr/>
          </p:nvPicPr>
          <p:blipFill>
            <a:blip r:embed="rId3" cstate="print"/>
            <a:stretch>
              <a:fillRect/>
            </a:stretch>
          </p:blipFill>
          <p:spPr>
            <a:xfrm>
              <a:off x="3844046" y="3832817"/>
              <a:ext cx="1480430" cy="772291"/>
            </a:xfrm>
            <a:prstGeom prst="rect">
              <a:avLst/>
            </a:prstGeom>
          </p:spPr>
        </p:pic>
        <p:pic>
          <p:nvPicPr>
            <p:cNvPr id="7" name="object 15">
              <a:extLst>
                <a:ext uri="{FF2B5EF4-FFF2-40B4-BE49-F238E27FC236}">
                  <a16:creationId xmlns:a16="http://schemas.microsoft.com/office/drawing/2014/main" id="{DABAA95A-78E2-D8EB-1161-167E49857C6E}"/>
                </a:ext>
              </a:extLst>
            </p:cNvPr>
            <p:cNvPicPr/>
            <p:nvPr/>
          </p:nvPicPr>
          <p:blipFill>
            <a:blip r:embed="rId4" cstate="print"/>
            <a:stretch>
              <a:fillRect/>
            </a:stretch>
          </p:blipFill>
          <p:spPr>
            <a:xfrm>
              <a:off x="2165655" y="3884192"/>
              <a:ext cx="1428561" cy="669542"/>
            </a:xfrm>
            <a:prstGeom prst="rect">
              <a:avLst/>
            </a:prstGeom>
          </p:spPr>
        </p:pic>
        <p:pic>
          <p:nvPicPr>
            <p:cNvPr id="42" name="Picture 41">
              <a:extLst>
                <a:ext uri="{FF2B5EF4-FFF2-40B4-BE49-F238E27FC236}">
                  <a16:creationId xmlns:a16="http://schemas.microsoft.com/office/drawing/2014/main" id="{20B6D87C-900B-245A-9831-FB199A5E5CF2}"/>
                </a:ext>
              </a:extLst>
            </p:cNvPr>
            <p:cNvPicPr>
              <a:picLocks noChangeAspect="1"/>
            </p:cNvPicPr>
            <p:nvPr/>
          </p:nvPicPr>
          <p:blipFill>
            <a:blip r:embed="rId5"/>
            <a:stretch>
              <a:fillRect/>
            </a:stretch>
          </p:blipFill>
          <p:spPr>
            <a:xfrm>
              <a:off x="3079425" y="2014208"/>
              <a:ext cx="1221550" cy="1193788"/>
            </a:xfrm>
            <a:prstGeom prst="rect">
              <a:avLst/>
            </a:prstGeom>
          </p:spPr>
        </p:pic>
      </p:grpSp>
      <p:grpSp>
        <p:nvGrpSpPr>
          <p:cNvPr id="49" name="Group 48">
            <a:extLst>
              <a:ext uri="{FF2B5EF4-FFF2-40B4-BE49-F238E27FC236}">
                <a16:creationId xmlns:a16="http://schemas.microsoft.com/office/drawing/2014/main" id="{8E768A1A-420F-09BA-0A06-100F1EF7E444}"/>
              </a:ext>
            </a:extLst>
          </p:cNvPr>
          <p:cNvGrpSpPr/>
          <p:nvPr/>
        </p:nvGrpSpPr>
        <p:grpSpPr>
          <a:xfrm>
            <a:off x="5820072" y="2505324"/>
            <a:ext cx="6781763" cy="3548185"/>
            <a:chOff x="6242514" y="1775460"/>
            <a:chExt cx="6781763" cy="3548185"/>
          </a:xfrm>
        </p:grpSpPr>
        <p:grpSp>
          <p:nvGrpSpPr>
            <p:cNvPr id="31" name="Group 30">
              <a:extLst>
                <a:ext uri="{FF2B5EF4-FFF2-40B4-BE49-F238E27FC236}">
                  <a16:creationId xmlns:a16="http://schemas.microsoft.com/office/drawing/2014/main" id="{8F4809E3-2767-EC23-5C71-F7651CD58050}"/>
                </a:ext>
              </a:extLst>
            </p:cNvPr>
            <p:cNvGrpSpPr/>
            <p:nvPr/>
          </p:nvGrpSpPr>
          <p:grpSpPr>
            <a:xfrm>
              <a:off x="6242514" y="1775460"/>
              <a:ext cx="6781763" cy="3548185"/>
              <a:chOff x="0" y="2267666"/>
              <a:chExt cx="4633992" cy="2379814"/>
            </a:xfrm>
          </p:grpSpPr>
          <p:sp>
            <p:nvSpPr>
              <p:cNvPr id="32" name="Freeform: Shape 31">
                <a:extLst>
                  <a:ext uri="{FF2B5EF4-FFF2-40B4-BE49-F238E27FC236}">
                    <a16:creationId xmlns:a16="http://schemas.microsoft.com/office/drawing/2014/main" id="{EF8907AE-90F7-9AC3-0CF2-5E0F0673AC88}"/>
                  </a:ext>
                </a:extLst>
              </p:cNvPr>
              <p:cNvSpPr/>
              <p:nvPr/>
            </p:nvSpPr>
            <p:spPr>
              <a:xfrm>
                <a:off x="2043590" y="2267666"/>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54525" tIns="280603" rIns="254526" bIns="280602" numCol="1" spcCol="1270" anchor="ctr" anchorCtr="0">
                <a:noAutofit/>
              </a:bodyPr>
              <a:lstStyle/>
              <a:p>
                <a:pPr marL="0" lvl="0" indent="0" algn="ctr" defTabSz="933450">
                  <a:lnSpc>
                    <a:spcPct val="90000"/>
                  </a:lnSpc>
                  <a:spcBef>
                    <a:spcPct val="0"/>
                  </a:spcBef>
                  <a:spcAft>
                    <a:spcPct val="35000"/>
                  </a:spcAft>
                  <a:buNone/>
                </a:pPr>
                <a:endParaRPr lang="en-US" sz="2100" kern="1200"/>
              </a:p>
            </p:txBody>
          </p:sp>
          <p:sp>
            <p:nvSpPr>
              <p:cNvPr id="33" name="Rectangle 32">
                <a:extLst>
                  <a:ext uri="{FF2B5EF4-FFF2-40B4-BE49-F238E27FC236}">
                    <a16:creationId xmlns:a16="http://schemas.microsoft.com/office/drawing/2014/main" id="{24B6796E-C1F2-3C77-BD24-6F488803B755}"/>
                  </a:ext>
                </a:extLst>
              </p:cNvPr>
              <p:cNvSpPr/>
              <p:nvPr/>
            </p:nvSpPr>
            <p:spPr>
              <a:xfrm>
                <a:off x="3197455" y="2525111"/>
                <a:ext cx="1436537" cy="77233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4" name="Freeform: Shape 33">
                <a:extLst>
                  <a:ext uri="{FF2B5EF4-FFF2-40B4-BE49-F238E27FC236}">
                    <a16:creationId xmlns:a16="http://schemas.microsoft.com/office/drawing/2014/main" id="{24D5404C-CFCD-33D6-FF66-10A0C402D2BD}"/>
                  </a:ext>
                </a:extLst>
              </p:cNvPr>
              <p:cNvSpPr/>
              <p:nvPr/>
            </p:nvSpPr>
            <p:spPr>
              <a:xfrm>
                <a:off x="834118" y="2267666"/>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4515" tIns="200593" rIns="174516" bIns="200592" numCol="1" spcCol="1270" anchor="ctr" anchorCtr="0">
                <a:noAutofit/>
              </a:bodyPr>
              <a:lstStyle/>
              <a:p>
                <a:pPr marL="0" lvl="0" indent="0" algn="ctr" defTabSz="1600200">
                  <a:lnSpc>
                    <a:spcPct val="90000"/>
                  </a:lnSpc>
                  <a:spcBef>
                    <a:spcPct val="0"/>
                  </a:spcBef>
                  <a:spcAft>
                    <a:spcPct val="35000"/>
                  </a:spcAft>
                  <a:buNone/>
                </a:pPr>
                <a:endParaRPr lang="en-US" sz="3600" kern="1200"/>
              </a:p>
            </p:txBody>
          </p:sp>
          <p:sp>
            <p:nvSpPr>
              <p:cNvPr id="35" name="Freeform: Shape 34">
                <a:extLst>
                  <a:ext uri="{FF2B5EF4-FFF2-40B4-BE49-F238E27FC236}">
                    <a16:creationId xmlns:a16="http://schemas.microsoft.com/office/drawing/2014/main" id="{57BB2298-0A7F-97A7-E505-C253066F73B9}"/>
                  </a:ext>
                </a:extLst>
              </p:cNvPr>
              <p:cNvSpPr/>
              <p:nvPr/>
            </p:nvSpPr>
            <p:spPr>
              <a:xfrm>
                <a:off x="1436537" y="3360259"/>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30725" tIns="356803" rIns="330726" bIns="356802" numCol="1" spcCol="1270" anchor="ctr" anchorCtr="0">
                <a:noAutofit/>
              </a:bodyPr>
              <a:lstStyle/>
              <a:p>
                <a:pPr marL="0" lvl="0" indent="0" algn="ctr" defTabSz="1822450">
                  <a:lnSpc>
                    <a:spcPct val="90000"/>
                  </a:lnSpc>
                  <a:spcBef>
                    <a:spcPct val="0"/>
                  </a:spcBef>
                  <a:spcAft>
                    <a:spcPct val="35000"/>
                  </a:spcAft>
                  <a:buNone/>
                </a:pPr>
                <a:endParaRPr lang="en-US" sz="4100" kern="1200"/>
              </a:p>
            </p:txBody>
          </p:sp>
          <p:sp>
            <p:nvSpPr>
              <p:cNvPr id="36" name="Rectangle 35">
                <a:extLst>
                  <a:ext uri="{FF2B5EF4-FFF2-40B4-BE49-F238E27FC236}">
                    <a16:creationId xmlns:a16="http://schemas.microsoft.com/office/drawing/2014/main" id="{30DF5F8E-96B4-1C52-8DB4-C3F07824A765}"/>
                  </a:ext>
                </a:extLst>
              </p:cNvPr>
              <p:cNvSpPr/>
              <p:nvPr/>
            </p:nvSpPr>
            <p:spPr>
              <a:xfrm>
                <a:off x="0" y="3617704"/>
                <a:ext cx="1390197" cy="77233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pSp>
        <p:pic>
          <p:nvPicPr>
            <p:cNvPr id="38" name="object 14">
              <a:extLst>
                <a:ext uri="{FF2B5EF4-FFF2-40B4-BE49-F238E27FC236}">
                  <a16:creationId xmlns:a16="http://schemas.microsoft.com/office/drawing/2014/main" id="{BF8A1C27-FA57-A156-76E3-6FC86CA81F76}"/>
                </a:ext>
              </a:extLst>
            </p:cNvPr>
            <p:cNvPicPr/>
            <p:nvPr/>
          </p:nvPicPr>
          <p:blipFill>
            <a:blip r:embed="rId6" cstate="print"/>
            <a:stretch>
              <a:fillRect/>
            </a:stretch>
          </p:blipFill>
          <p:spPr>
            <a:xfrm>
              <a:off x="7633655" y="2245723"/>
              <a:ext cx="1261578" cy="1003108"/>
            </a:xfrm>
            <a:prstGeom prst="rect">
              <a:avLst/>
            </a:prstGeom>
          </p:spPr>
        </p:pic>
        <p:pic>
          <p:nvPicPr>
            <p:cNvPr id="39" name="object 17">
              <a:extLst>
                <a:ext uri="{FF2B5EF4-FFF2-40B4-BE49-F238E27FC236}">
                  <a16:creationId xmlns:a16="http://schemas.microsoft.com/office/drawing/2014/main" id="{D2565DDC-8A1D-F301-AB11-9A9A934E692A}"/>
                </a:ext>
              </a:extLst>
            </p:cNvPr>
            <p:cNvPicPr/>
            <p:nvPr/>
          </p:nvPicPr>
          <p:blipFill>
            <a:blip r:embed="rId7" cstate="print"/>
            <a:stretch>
              <a:fillRect/>
            </a:stretch>
          </p:blipFill>
          <p:spPr>
            <a:xfrm>
              <a:off x="9308831" y="2294283"/>
              <a:ext cx="1457302" cy="965089"/>
            </a:xfrm>
            <a:prstGeom prst="rect">
              <a:avLst/>
            </a:prstGeom>
          </p:spPr>
        </p:pic>
        <p:pic>
          <p:nvPicPr>
            <p:cNvPr id="45" name="object 16">
              <a:extLst>
                <a:ext uri="{FF2B5EF4-FFF2-40B4-BE49-F238E27FC236}">
                  <a16:creationId xmlns:a16="http://schemas.microsoft.com/office/drawing/2014/main" id="{0B7D5899-5569-5538-B9AE-E3C0FB6C196B}"/>
                </a:ext>
              </a:extLst>
            </p:cNvPr>
            <p:cNvPicPr/>
            <p:nvPr/>
          </p:nvPicPr>
          <p:blipFill>
            <a:blip r:embed="rId8" cstate="print"/>
            <a:srcRect l="9566" t="12285" r="5228" b="9794"/>
            <a:stretch/>
          </p:blipFill>
          <p:spPr>
            <a:xfrm>
              <a:off x="8381350" y="4045614"/>
              <a:ext cx="1534175" cy="508120"/>
            </a:xfrm>
            <a:prstGeom prst="rect">
              <a:avLst/>
            </a:prstGeom>
          </p:spPr>
        </p:pic>
      </p:grpSp>
      <p:sp>
        <p:nvSpPr>
          <p:cNvPr id="47" name="TextBox 46">
            <a:extLst>
              <a:ext uri="{FF2B5EF4-FFF2-40B4-BE49-F238E27FC236}">
                <a16:creationId xmlns:a16="http://schemas.microsoft.com/office/drawing/2014/main" id="{8928839C-AE2C-6042-221F-9DD85130093C}"/>
              </a:ext>
            </a:extLst>
          </p:cNvPr>
          <p:cNvSpPr txBox="1"/>
          <p:nvPr/>
        </p:nvSpPr>
        <p:spPr>
          <a:xfrm>
            <a:off x="2884165" y="134258"/>
            <a:ext cx="6560456" cy="523220"/>
          </a:xfrm>
          <a:prstGeom prst="rect">
            <a:avLst/>
          </a:prstGeom>
          <a:noFill/>
        </p:spPr>
        <p:txBody>
          <a:bodyPr wrap="square">
            <a:spAutoFit/>
          </a:bodyPr>
          <a:lstStyle/>
          <a:p>
            <a:pPr marL="8145" algn="ctr">
              <a:spcBef>
                <a:spcPts val="64"/>
              </a:spcBef>
            </a:pPr>
            <a:r>
              <a:rPr lang="en-US" sz="2800" b="1" u="sng" spc="-73" dirty="0">
                <a:solidFill>
                  <a:srgbClr val="231F20"/>
                </a:solidFill>
                <a:uFill>
                  <a:solidFill>
                    <a:srgbClr val="231F20"/>
                  </a:solidFill>
                </a:uFill>
                <a:latin typeface="Aptos Display" panose="020B0004020202020204" pitchFamily="34" charset="0"/>
                <a:cs typeface="Tahoma"/>
              </a:rPr>
              <a:t>Food</a:t>
            </a:r>
            <a:r>
              <a:rPr lang="en-US" sz="2800" b="1" u="sng" spc="-51" dirty="0">
                <a:solidFill>
                  <a:srgbClr val="231F20"/>
                </a:solidFill>
                <a:uFill>
                  <a:solidFill>
                    <a:srgbClr val="231F20"/>
                  </a:solidFill>
                </a:uFill>
                <a:latin typeface="Aptos Display" panose="020B0004020202020204" pitchFamily="34" charset="0"/>
                <a:cs typeface="Tahoma"/>
              </a:rPr>
              <a:t> </a:t>
            </a:r>
            <a:r>
              <a:rPr lang="en-US" sz="2800" b="1" u="sng" spc="-77" dirty="0">
                <a:solidFill>
                  <a:srgbClr val="231F20"/>
                </a:solidFill>
                <a:uFill>
                  <a:solidFill>
                    <a:srgbClr val="231F20"/>
                  </a:solidFill>
                </a:uFill>
                <a:latin typeface="Aptos Display" panose="020B0004020202020204" pitchFamily="34" charset="0"/>
                <a:cs typeface="Tahoma"/>
              </a:rPr>
              <a:t>&amp;</a:t>
            </a:r>
            <a:r>
              <a:rPr lang="en-US" sz="2800" b="1" u="sng" spc="-48" dirty="0">
                <a:solidFill>
                  <a:srgbClr val="231F20"/>
                </a:solidFill>
                <a:uFill>
                  <a:solidFill>
                    <a:srgbClr val="231F20"/>
                  </a:solidFill>
                </a:uFill>
                <a:latin typeface="Aptos Display" panose="020B0004020202020204" pitchFamily="34" charset="0"/>
                <a:cs typeface="Tahoma"/>
              </a:rPr>
              <a:t> </a:t>
            </a:r>
            <a:r>
              <a:rPr lang="en-US" sz="2800" b="1" u="sng" spc="-80" dirty="0">
                <a:solidFill>
                  <a:srgbClr val="231F20"/>
                </a:solidFill>
                <a:uFill>
                  <a:solidFill>
                    <a:srgbClr val="231F20"/>
                  </a:solidFill>
                </a:uFill>
                <a:latin typeface="Aptos Display" panose="020B0004020202020204" pitchFamily="34" charset="0"/>
                <a:cs typeface="Tahoma"/>
              </a:rPr>
              <a:t>Beverages</a:t>
            </a:r>
            <a:endParaRPr lang="en-US" sz="2800" dirty="0">
              <a:latin typeface="Aptos Display" panose="020B0004020202020204" pitchFamily="34" charset="0"/>
              <a:cs typeface="Tahoma"/>
            </a:endParaRPr>
          </a:p>
        </p:txBody>
      </p:sp>
      <p:sp>
        <p:nvSpPr>
          <p:cNvPr id="56" name="TextBox 55">
            <a:extLst>
              <a:ext uri="{FF2B5EF4-FFF2-40B4-BE49-F238E27FC236}">
                <a16:creationId xmlns:a16="http://schemas.microsoft.com/office/drawing/2014/main" id="{BD1A3755-9307-41F6-C23B-6C07B440A6A6}"/>
              </a:ext>
            </a:extLst>
          </p:cNvPr>
          <p:cNvSpPr txBox="1"/>
          <p:nvPr/>
        </p:nvSpPr>
        <p:spPr>
          <a:xfrm>
            <a:off x="77489" y="365859"/>
            <a:ext cx="2865387" cy="2246769"/>
          </a:xfrm>
          <a:prstGeom prst="rect">
            <a:avLst/>
          </a:prstGeom>
          <a:noFill/>
        </p:spPr>
        <p:txBody>
          <a:bodyPr wrap="square">
            <a:spAutoFit/>
          </a:bodyPr>
          <a:lstStyle/>
          <a:p>
            <a:pPr algn="just"/>
            <a:r>
              <a:rPr lang="en-US" sz="1400" b="1">
                <a:latin typeface="Aptos Display" panose="020B0004020202020204" pitchFamily="34" charset="0"/>
              </a:rPr>
              <a:t>Pizza Hut</a:t>
            </a:r>
          </a:p>
          <a:p>
            <a:pPr algn="just"/>
            <a:r>
              <a:rPr lang="en-US" sz="1400">
                <a:latin typeface="Aptos Display" panose="020B0004020202020204" pitchFamily="34" charset="0"/>
              </a:rPr>
              <a:t>Pizza Hut, the global quick service restaurant brand, was relaunched by Melcom Group’s subsidiary Skyline Investments Limited in November 2021, with seven restaurants opened by the end of December 2021 and expanding across major cities in the years. Skyline was merged with Melcom in 2022.</a:t>
            </a:r>
          </a:p>
        </p:txBody>
      </p:sp>
      <p:sp>
        <p:nvSpPr>
          <p:cNvPr id="58" name="TextBox 57">
            <a:extLst>
              <a:ext uri="{FF2B5EF4-FFF2-40B4-BE49-F238E27FC236}">
                <a16:creationId xmlns:a16="http://schemas.microsoft.com/office/drawing/2014/main" id="{F843642E-2072-FA3D-9F5F-3E1C9EAD5C64}"/>
              </a:ext>
            </a:extLst>
          </p:cNvPr>
          <p:cNvSpPr txBox="1"/>
          <p:nvPr/>
        </p:nvSpPr>
        <p:spPr>
          <a:xfrm>
            <a:off x="3609742" y="1144762"/>
            <a:ext cx="2388746" cy="1600438"/>
          </a:xfrm>
          <a:prstGeom prst="rect">
            <a:avLst/>
          </a:prstGeom>
          <a:noFill/>
        </p:spPr>
        <p:txBody>
          <a:bodyPr wrap="square">
            <a:spAutoFit/>
          </a:bodyPr>
          <a:lstStyle/>
          <a:p>
            <a:r>
              <a:rPr lang="en-US" sz="1400" b="1">
                <a:latin typeface="Aptos Display" panose="020B0004020202020204" pitchFamily="34" charset="0"/>
              </a:rPr>
              <a:t>The Art Kitchen</a:t>
            </a:r>
          </a:p>
          <a:p>
            <a:pPr algn="just"/>
            <a:r>
              <a:rPr lang="en-US" sz="1400">
                <a:latin typeface="Aptos Display" panose="020B0004020202020204" pitchFamily="34" charset="0"/>
              </a:rPr>
              <a:t>The Art Kitchen, which started in 2022, is an in-store restaurant that provides both local and continental dishes and will be expanding in Melcom stores within the year.</a:t>
            </a:r>
          </a:p>
        </p:txBody>
      </p:sp>
      <p:sp>
        <p:nvSpPr>
          <p:cNvPr id="59" name="object 8">
            <a:extLst>
              <a:ext uri="{FF2B5EF4-FFF2-40B4-BE49-F238E27FC236}">
                <a16:creationId xmlns:a16="http://schemas.microsoft.com/office/drawing/2014/main" id="{ACE9D62E-BF9C-49B4-336D-25903BEF4715}"/>
              </a:ext>
            </a:extLst>
          </p:cNvPr>
          <p:cNvSpPr txBox="1"/>
          <p:nvPr/>
        </p:nvSpPr>
        <p:spPr>
          <a:xfrm>
            <a:off x="141163" y="4673787"/>
            <a:ext cx="1699220" cy="1585156"/>
          </a:xfrm>
          <a:prstGeom prst="rect">
            <a:avLst/>
          </a:prstGeom>
        </p:spPr>
        <p:txBody>
          <a:bodyPr vert="horz" wrap="square" lIns="0" tIns="50906" rIns="0" bIns="0" rtlCol="0">
            <a:spAutoFit/>
          </a:bodyPr>
          <a:lstStyle/>
          <a:p>
            <a:pPr marL="8145">
              <a:spcBef>
                <a:spcPts val="401"/>
              </a:spcBef>
            </a:pPr>
            <a:r>
              <a:rPr sz="1400" b="1" spc="-73">
                <a:solidFill>
                  <a:srgbClr val="231F20"/>
                </a:solidFill>
                <a:latin typeface="Aptos Display" panose="020B0004020202020204" pitchFamily="34" charset="0"/>
                <a:cs typeface="Tahoma"/>
              </a:rPr>
              <a:t>Maharaja</a:t>
            </a:r>
            <a:r>
              <a:rPr sz="1400" b="1" spc="-26">
                <a:solidFill>
                  <a:srgbClr val="231F20"/>
                </a:solidFill>
                <a:latin typeface="Aptos Display" panose="020B0004020202020204" pitchFamily="34" charset="0"/>
                <a:cs typeface="Tahoma"/>
              </a:rPr>
              <a:t> </a:t>
            </a:r>
            <a:r>
              <a:rPr sz="1400" b="1" spc="-87">
                <a:solidFill>
                  <a:srgbClr val="231F20"/>
                </a:solidFill>
                <a:latin typeface="Aptos Display" panose="020B0004020202020204" pitchFamily="34" charset="0"/>
                <a:cs typeface="Tahoma"/>
              </a:rPr>
              <a:t>Indian</a:t>
            </a:r>
            <a:r>
              <a:rPr sz="1400" b="1" spc="-22">
                <a:solidFill>
                  <a:srgbClr val="231F20"/>
                </a:solidFill>
                <a:latin typeface="Aptos Display" panose="020B0004020202020204" pitchFamily="34" charset="0"/>
                <a:cs typeface="Tahoma"/>
              </a:rPr>
              <a:t> </a:t>
            </a:r>
            <a:r>
              <a:rPr sz="1400" b="1" spc="-6">
                <a:solidFill>
                  <a:srgbClr val="231F20"/>
                </a:solidFill>
                <a:latin typeface="Aptos Display" panose="020B0004020202020204" pitchFamily="34" charset="0"/>
                <a:cs typeface="Tahoma"/>
              </a:rPr>
              <a:t>Cuisine</a:t>
            </a:r>
            <a:endParaRPr sz="1400">
              <a:latin typeface="Aptos Display" panose="020B0004020202020204" pitchFamily="34" charset="0"/>
              <a:cs typeface="Tahoma"/>
            </a:endParaRPr>
          </a:p>
          <a:p>
            <a:pPr marL="8145">
              <a:spcBef>
                <a:spcPts val="215"/>
              </a:spcBef>
            </a:pPr>
            <a:r>
              <a:rPr sz="1400" spc="-6">
                <a:solidFill>
                  <a:srgbClr val="231F20"/>
                </a:solidFill>
                <a:latin typeface="Aptos Display" panose="020B0004020202020204" pitchFamily="34" charset="0"/>
                <a:cs typeface="Tahoma"/>
              </a:rPr>
              <a:t>Maharaja</a:t>
            </a:r>
            <a:r>
              <a:rPr lang="en-US" sz="1400" spc="-19">
                <a:solidFill>
                  <a:srgbClr val="231F20"/>
                </a:solidFill>
                <a:latin typeface="Aptos Display" panose="020B0004020202020204" pitchFamily="34" charset="0"/>
                <a:cs typeface="Tahoma"/>
              </a:rPr>
              <a:t> </a:t>
            </a:r>
            <a:r>
              <a:rPr sz="1400" spc="-16">
                <a:solidFill>
                  <a:srgbClr val="231F20"/>
                </a:solidFill>
                <a:latin typeface="Aptos Display" panose="020B0004020202020204" pitchFamily="34" charset="0"/>
                <a:cs typeface="Tahoma"/>
              </a:rPr>
              <a:t>Indian</a:t>
            </a:r>
            <a:r>
              <a:rPr sz="1400" spc="-19">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Cuisine</a:t>
            </a:r>
            <a:r>
              <a:rPr sz="1400" spc="-19">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is</a:t>
            </a:r>
            <a:r>
              <a:rPr sz="1400" spc="-19">
                <a:solidFill>
                  <a:srgbClr val="231F20"/>
                </a:solidFill>
                <a:latin typeface="Aptos Display" panose="020B0004020202020204" pitchFamily="34" charset="0"/>
                <a:cs typeface="Tahoma"/>
              </a:rPr>
              <a:t> </a:t>
            </a:r>
            <a:r>
              <a:rPr sz="1400" spc="-13">
                <a:solidFill>
                  <a:srgbClr val="231F20"/>
                </a:solidFill>
                <a:latin typeface="Aptos Display" panose="020B0004020202020204" pitchFamily="34" charset="0"/>
                <a:cs typeface="Tahoma"/>
              </a:rPr>
              <a:t>an</a:t>
            </a:r>
            <a:r>
              <a:rPr sz="1400" spc="-16">
                <a:solidFill>
                  <a:srgbClr val="231F20"/>
                </a:solidFill>
                <a:latin typeface="Aptos Display" panose="020B0004020202020204" pitchFamily="34" charset="0"/>
                <a:cs typeface="Tahoma"/>
              </a:rPr>
              <a:t> </a:t>
            </a:r>
            <a:r>
              <a:rPr lang="en-US" sz="1400">
                <a:solidFill>
                  <a:srgbClr val="231F20"/>
                </a:solidFill>
                <a:latin typeface="Aptos Display" panose="020B0004020202020204" pitchFamily="34" charset="0"/>
                <a:cs typeface="Tahoma"/>
              </a:rPr>
              <a:t>in-store</a:t>
            </a:r>
            <a:r>
              <a:rPr sz="1400" spc="-19">
                <a:solidFill>
                  <a:srgbClr val="231F20"/>
                </a:solidFill>
                <a:latin typeface="Aptos Display" panose="020B0004020202020204" pitchFamily="34" charset="0"/>
                <a:cs typeface="Tahoma"/>
              </a:rPr>
              <a:t> </a:t>
            </a:r>
            <a:r>
              <a:rPr sz="1400" spc="-16">
                <a:solidFill>
                  <a:srgbClr val="231F20"/>
                </a:solidFill>
                <a:latin typeface="Aptos Display" panose="020B0004020202020204" pitchFamily="34" charset="0"/>
                <a:cs typeface="Tahoma"/>
              </a:rPr>
              <a:t>Indian</a:t>
            </a:r>
            <a:r>
              <a:rPr sz="1400" spc="-19">
                <a:solidFill>
                  <a:srgbClr val="231F20"/>
                </a:solidFill>
                <a:latin typeface="Aptos Display" panose="020B0004020202020204" pitchFamily="34" charset="0"/>
                <a:cs typeface="Tahoma"/>
              </a:rPr>
              <a:t> </a:t>
            </a:r>
            <a:r>
              <a:rPr sz="1400" spc="-6">
                <a:solidFill>
                  <a:srgbClr val="231F20"/>
                </a:solidFill>
                <a:latin typeface="Aptos Display" panose="020B0004020202020204" pitchFamily="34" charset="0"/>
                <a:cs typeface="Tahoma"/>
              </a:rPr>
              <a:t>restaurant</a:t>
            </a:r>
            <a:endParaRPr sz="1400">
              <a:latin typeface="Aptos Display" panose="020B0004020202020204" pitchFamily="34" charset="0"/>
              <a:cs typeface="Tahoma"/>
            </a:endParaRPr>
          </a:p>
          <a:p>
            <a:pPr marL="8145"/>
            <a:r>
              <a:rPr sz="1400">
                <a:solidFill>
                  <a:srgbClr val="231F20"/>
                </a:solidFill>
                <a:latin typeface="Aptos Display" panose="020B0004020202020204" pitchFamily="34" charset="0"/>
                <a:cs typeface="Tahoma"/>
              </a:rPr>
              <a:t>to</a:t>
            </a:r>
            <a:r>
              <a:rPr sz="1400" spc="-19">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be</a:t>
            </a:r>
            <a:r>
              <a:rPr sz="1400" spc="-16">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established</a:t>
            </a:r>
            <a:r>
              <a:rPr sz="1400" spc="-19">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in</a:t>
            </a:r>
            <a:r>
              <a:rPr sz="1400" spc="-16">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2023</a:t>
            </a:r>
            <a:r>
              <a:rPr sz="1400" spc="-19">
                <a:solidFill>
                  <a:srgbClr val="231F20"/>
                </a:solidFill>
                <a:latin typeface="Aptos Display" panose="020B0004020202020204" pitchFamily="34" charset="0"/>
                <a:cs typeface="Tahoma"/>
              </a:rPr>
              <a:t> </a:t>
            </a:r>
            <a:r>
              <a:rPr sz="1400" spc="-6">
                <a:solidFill>
                  <a:srgbClr val="231F20"/>
                </a:solidFill>
                <a:latin typeface="Aptos Display" panose="020B0004020202020204" pitchFamily="34" charset="0"/>
                <a:cs typeface="Tahoma"/>
              </a:rPr>
              <a:t>and</a:t>
            </a:r>
            <a:r>
              <a:rPr sz="1400" spc="-16">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focuses</a:t>
            </a:r>
            <a:r>
              <a:rPr sz="1400" spc="-19">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on</a:t>
            </a:r>
            <a:r>
              <a:rPr sz="1400" spc="-16">
                <a:solidFill>
                  <a:srgbClr val="231F20"/>
                </a:solidFill>
                <a:latin typeface="Aptos Display" panose="020B0004020202020204" pitchFamily="34" charset="0"/>
                <a:cs typeface="Tahoma"/>
              </a:rPr>
              <a:t> Indian</a:t>
            </a:r>
            <a:r>
              <a:rPr sz="1400" spc="-19">
                <a:solidFill>
                  <a:srgbClr val="231F20"/>
                </a:solidFill>
                <a:latin typeface="Aptos Display" panose="020B0004020202020204" pitchFamily="34" charset="0"/>
                <a:cs typeface="Tahoma"/>
              </a:rPr>
              <a:t> </a:t>
            </a:r>
            <a:r>
              <a:rPr sz="1400" spc="-6">
                <a:solidFill>
                  <a:srgbClr val="231F20"/>
                </a:solidFill>
                <a:latin typeface="Aptos Display" panose="020B0004020202020204" pitchFamily="34" charset="0"/>
                <a:cs typeface="Tahoma"/>
              </a:rPr>
              <a:t>cuisine.</a:t>
            </a:r>
            <a:endParaRPr sz="1400">
              <a:latin typeface="Aptos Display" panose="020B0004020202020204" pitchFamily="34" charset="0"/>
              <a:cs typeface="Tahoma"/>
            </a:endParaRPr>
          </a:p>
        </p:txBody>
      </p:sp>
      <p:sp>
        <p:nvSpPr>
          <p:cNvPr id="63" name="TextBox 62">
            <a:extLst>
              <a:ext uri="{FF2B5EF4-FFF2-40B4-BE49-F238E27FC236}">
                <a16:creationId xmlns:a16="http://schemas.microsoft.com/office/drawing/2014/main" id="{0010B224-9DD7-458D-C4B3-8D1A691BFAC8}"/>
              </a:ext>
            </a:extLst>
          </p:cNvPr>
          <p:cNvSpPr txBox="1"/>
          <p:nvPr/>
        </p:nvSpPr>
        <p:spPr>
          <a:xfrm>
            <a:off x="5473462" y="4526321"/>
            <a:ext cx="1638927" cy="1600438"/>
          </a:xfrm>
          <a:prstGeom prst="rect">
            <a:avLst/>
          </a:prstGeom>
          <a:noFill/>
        </p:spPr>
        <p:txBody>
          <a:bodyPr wrap="square">
            <a:spAutoFit/>
          </a:bodyPr>
          <a:lstStyle/>
          <a:p>
            <a:r>
              <a:rPr lang="en-US" sz="1400" b="1">
                <a:latin typeface="Aptos Display" panose="020B0004020202020204" pitchFamily="34" charset="0"/>
              </a:rPr>
              <a:t>Sip Cafe</a:t>
            </a:r>
          </a:p>
          <a:p>
            <a:r>
              <a:rPr lang="en-US" sz="1400">
                <a:latin typeface="Aptos Display" panose="020B0004020202020204" pitchFamily="34" charset="0"/>
              </a:rPr>
              <a:t>The Sip Cafe - an in-store cafe - was first opened in 2022 and is set to be in other Melcom stores soon.</a:t>
            </a:r>
          </a:p>
        </p:txBody>
      </p:sp>
      <p:sp>
        <p:nvSpPr>
          <p:cNvPr id="1027" name="TextBox 1026">
            <a:extLst>
              <a:ext uri="{FF2B5EF4-FFF2-40B4-BE49-F238E27FC236}">
                <a16:creationId xmlns:a16="http://schemas.microsoft.com/office/drawing/2014/main" id="{755CAEB9-7BA3-5247-EDF2-16C6D653B632}"/>
              </a:ext>
            </a:extLst>
          </p:cNvPr>
          <p:cNvSpPr txBox="1"/>
          <p:nvPr/>
        </p:nvSpPr>
        <p:spPr>
          <a:xfrm>
            <a:off x="7478459" y="1188327"/>
            <a:ext cx="2565274" cy="1384995"/>
          </a:xfrm>
          <a:prstGeom prst="rect">
            <a:avLst/>
          </a:prstGeom>
          <a:noFill/>
        </p:spPr>
        <p:txBody>
          <a:bodyPr wrap="square">
            <a:spAutoFit/>
          </a:bodyPr>
          <a:lstStyle/>
          <a:p>
            <a:pPr algn="just"/>
            <a:r>
              <a:rPr lang="en-US" sz="1400" b="1">
                <a:latin typeface="Aptos Display" panose="020B0004020202020204" pitchFamily="34" charset="0"/>
              </a:rPr>
              <a:t>On The Rocks Bar</a:t>
            </a:r>
          </a:p>
          <a:p>
            <a:pPr algn="just"/>
            <a:r>
              <a:rPr lang="en-US" sz="1400">
                <a:latin typeface="Aptos Display" panose="020B0004020202020204" pitchFamily="34" charset="0"/>
              </a:rPr>
              <a:t>On The Rocks Bar was established in 2022 and aims to be the go-to entertainment spot. It will be embarked upon a major expansion in more locations.</a:t>
            </a:r>
          </a:p>
        </p:txBody>
      </p:sp>
      <p:sp>
        <p:nvSpPr>
          <p:cNvPr id="1030" name="TextBox 1029">
            <a:extLst>
              <a:ext uri="{FF2B5EF4-FFF2-40B4-BE49-F238E27FC236}">
                <a16:creationId xmlns:a16="http://schemas.microsoft.com/office/drawing/2014/main" id="{73CA871E-F6EB-F185-6FBF-595DF89F9421}"/>
              </a:ext>
            </a:extLst>
          </p:cNvPr>
          <p:cNvSpPr txBox="1"/>
          <p:nvPr/>
        </p:nvSpPr>
        <p:spPr>
          <a:xfrm>
            <a:off x="10470171" y="1988229"/>
            <a:ext cx="1668561" cy="1815882"/>
          </a:xfrm>
          <a:prstGeom prst="rect">
            <a:avLst/>
          </a:prstGeom>
          <a:noFill/>
        </p:spPr>
        <p:txBody>
          <a:bodyPr wrap="square">
            <a:spAutoFit/>
          </a:bodyPr>
          <a:lstStyle/>
          <a:p>
            <a:r>
              <a:rPr lang="en-US" sz="1400" b="1">
                <a:latin typeface="Aptos Display" panose="020B0004020202020204" pitchFamily="34" charset="0"/>
              </a:rPr>
              <a:t>Hallab Gourmet 1881</a:t>
            </a:r>
          </a:p>
          <a:p>
            <a:r>
              <a:rPr lang="en-US" sz="1400">
                <a:latin typeface="Aptos Display" panose="020B0004020202020204" pitchFamily="34" charset="0"/>
              </a:rPr>
              <a:t>Hallab Gourmet 1881 is a leading Lebanese restaurant brand that Melcom is adding to its businesses in 2023.</a:t>
            </a:r>
          </a:p>
        </p:txBody>
      </p:sp>
      <p:sp>
        <p:nvSpPr>
          <p:cNvPr id="1031" name="object 9">
            <a:extLst>
              <a:ext uri="{FF2B5EF4-FFF2-40B4-BE49-F238E27FC236}">
                <a16:creationId xmlns:a16="http://schemas.microsoft.com/office/drawing/2014/main" id="{BFDFB447-7E14-4654-D2A9-6A152DC9EEBE}"/>
              </a:ext>
            </a:extLst>
          </p:cNvPr>
          <p:cNvSpPr txBox="1"/>
          <p:nvPr/>
        </p:nvSpPr>
        <p:spPr>
          <a:xfrm>
            <a:off x="9629163" y="4973664"/>
            <a:ext cx="2134236" cy="1154269"/>
          </a:xfrm>
          <a:prstGeom prst="rect">
            <a:avLst/>
          </a:prstGeom>
        </p:spPr>
        <p:txBody>
          <a:bodyPr vert="horz" wrap="square" lIns="0" tIns="50906" rIns="0" bIns="0" rtlCol="0">
            <a:spAutoFit/>
          </a:bodyPr>
          <a:lstStyle/>
          <a:p>
            <a:pPr marL="8145">
              <a:spcBef>
                <a:spcPts val="401"/>
              </a:spcBef>
            </a:pPr>
            <a:r>
              <a:rPr sz="1400" b="1" spc="-13">
                <a:solidFill>
                  <a:srgbClr val="231F20"/>
                </a:solidFill>
                <a:latin typeface="Aptos Display" panose="020B0004020202020204" pitchFamily="34" charset="0"/>
                <a:cs typeface="Tahoma"/>
              </a:rPr>
              <a:t>Yole</a:t>
            </a:r>
            <a:endParaRPr sz="1400">
              <a:latin typeface="Aptos Display" panose="020B0004020202020204" pitchFamily="34" charset="0"/>
              <a:cs typeface="Tahoma"/>
            </a:endParaRPr>
          </a:p>
          <a:p>
            <a:pPr marL="8145">
              <a:spcBef>
                <a:spcPts val="215"/>
              </a:spcBef>
            </a:pPr>
            <a:r>
              <a:rPr sz="1400" spc="-6">
                <a:solidFill>
                  <a:srgbClr val="231F20"/>
                </a:solidFill>
                <a:latin typeface="Aptos Display" panose="020B0004020202020204" pitchFamily="34" charset="0"/>
                <a:cs typeface="Tahoma"/>
              </a:rPr>
              <a:t>Yole</a:t>
            </a:r>
            <a:r>
              <a:rPr sz="1400" spc="-29">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is</a:t>
            </a:r>
            <a:r>
              <a:rPr sz="1400" spc="-26">
                <a:solidFill>
                  <a:srgbClr val="231F20"/>
                </a:solidFill>
                <a:latin typeface="Aptos Display" panose="020B0004020202020204" pitchFamily="34" charset="0"/>
                <a:cs typeface="Tahoma"/>
              </a:rPr>
              <a:t> </a:t>
            </a:r>
            <a:r>
              <a:rPr sz="1400" spc="-19">
                <a:solidFill>
                  <a:srgbClr val="231F20"/>
                </a:solidFill>
                <a:latin typeface="Aptos Display" panose="020B0004020202020204" pitchFamily="34" charset="0"/>
                <a:cs typeface="Tahoma"/>
              </a:rPr>
              <a:t>a</a:t>
            </a:r>
            <a:r>
              <a:rPr sz="1400" spc="-26">
                <a:solidFill>
                  <a:srgbClr val="231F20"/>
                </a:solidFill>
                <a:latin typeface="Aptos Display" panose="020B0004020202020204" pitchFamily="34" charset="0"/>
                <a:cs typeface="Tahoma"/>
              </a:rPr>
              <a:t> </a:t>
            </a:r>
            <a:r>
              <a:rPr lang="en-US" sz="1400" spc="-6">
                <a:solidFill>
                  <a:srgbClr val="231F20"/>
                </a:solidFill>
                <a:latin typeface="Aptos Display" panose="020B0004020202020204" pitchFamily="34" charset="0"/>
                <a:cs typeface="Tahoma"/>
              </a:rPr>
              <a:t>Spanish</a:t>
            </a:r>
            <a:r>
              <a:rPr sz="1400" spc="-26">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ice</a:t>
            </a:r>
            <a:r>
              <a:rPr sz="1400" spc="-26">
                <a:solidFill>
                  <a:srgbClr val="231F20"/>
                </a:solidFill>
                <a:latin typeface="Aptos Display" panose="020B0004020202020204" pitchFamily="34" charset="0"/>
                <a:cs typeface="Tahoma"/>
              </a:rPr>
              <a:t> </a:t>
            </a:r>
            <a:r>
              <a:rPr sz="1400" spc="-13">
                <a:solidFill>
                  <a:srgbClr val="231F20"/>
                </a:solidFill>
                <a:latin typeface="Aptos Display" panose="020B0004020202020204" pitchFamily="34" charset="0"/>
                <a:cs typeface="Tahoma"/>
              </a:rPr>
              <a:t>cream</a:t>
            </a:r>
            <a:r>
              <a:rPr sz="1400" spc="-26">
                <a:solidFill>
                  <a:srgbClr val="231F20"/>
                </a:solidFill>
                <a:latin typeface="Aptos Display" panose="020B0004020202020204" pitchFamily="34" charset="0"/>
                <a:cs typeface="Tahoma"/>
              </a:rPr>
              <a:t> </a:t>
            </a:r>
            <a:r>
              <a:rPr sz="1400" spc="-6">
                <a:solidFill>
                  <a:srgbClr val="231F20"/>
                </a:solidFill>
                <a:latin typeface="Aptos Display" panose="020B0004020202020204" pitchFamily="34" charset="0"/>
                <a:cs typeface="Tahoma"/>
              </a:rPr>
              <a:t>brand</a:t>
            </a:r>
            <a:r>
              <a:rPr sz="1400" spc="-26">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that</a:t>
            </a:r>
            <a:r>
              <a:rPr sz="1400" spc="-26">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is</a:t>
            </a:r>
            <a:r>
              <a:rPr sz="1400" spc="-26">
                <a:solidFill>
                  <a:srgbClr val="231F20"/>
                </a:solidFill>
                <a:latin typeface="Aptos Display" panose="020B0004020202020204" pitchFamily="34" charset="0"/>
                <a:cs typeface="Tahoma"/>
              </a:rPr>
              <a:t> </a:t>
            </a:r>
            <a:r>
              <a:rPr sz="1400" spc="-6">
                <a:solidFill>
                  <a:srgbClr val="231F20"/>
                </a:solidFill>
                <a:latin typeface="Aptos Display" panose="020B0004020202020204" pitchFamily="34" charset="0"/>
                <a:cs typeface="Tahoma"/>
              </a:rPr>
              <a:t>being</a:t>
            </a:r>
            <a:r>
              <a:rPr sz="1400" spc="-26">
                <a:solidFill>
                  <a:srgbClr val="231F20"/>
                </a:solidFill>
                <a:latin typeface="Aptos Display" panose="020B0004020202020204" pitchFamily="34" charset="0"/>
                <a:cs typeface="Tahoma"/>
              </a:rPr>
              <a:t> </a:t>
            </a:r>
            <a:r>
              <a:rPr sz="1400" spc="-6">
                <a:solidFill>
                  <a:srgbClr val="231F20"/>
                </a:solidFill>
                <a:latin typeface="Aptos Display" panose="020B0004020202020204" pitchFamily="34" charset="0"/>
                <a:cs typeface="Tahoma"/>
              </a:rPr>
              <a:t>introduced</a:t>
            </a:r>
            <a:endParaRPr sz="1400">
              <a:latin typeface="Aptos Display" panose="020B0004020202020204" pitchFamily="34" charset="0"/>
              <a:cs typeface="Tahoma"/>
            </a:endParaRPr>
          </a:p>
          <a:p>
            <a:pPr marL="8145"/>
            <a:r>
              <a:rPr sz="1400">
                <a:solidFill>
                  <a:srgbClr val="231F20"/>
                </a:solidFill>
                <a:latin typeface="Aptos Display" panose="020B0004020202020204" pitchFamily="34" charset="0"/>
                <a:cs typeface="Tahoma"/>
              </a:rPr>
              <a:t>in</a:t>
            </a:r>
            <a:r>
              <a:rPr sz="1400" spc="-13">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Melcom</a:t>
            </a:r>
            <a:r>
              <a:rPr sz="1400" spc="-10">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in</a:t>
            </a:r>
            <a:r>
              <a:rPr sz="1400" spc="-10">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2023,</a:t>
            </a:r>
            <a:r>
              <a:rPr sz="1400" spc="-10">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for</a:t>
            </a:r>
            <a:r>
              <a:rPr sz="1400" spc="-22">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the</a:t>
            </a:r>
            <a:r>
              <a:rPr sz="1400" spc="-10">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first</a:t>
            </a:r>
            <a:r>
              <a:rPr sz="1400" spc="-10">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time</a:t>
            </a:r>
            <a:r>
              <a:rPr sz="1400" spc="-10">
                <a:solidFill>
                  <a:srgbClr val="231F20"/>
                </a:solidFill>
                <a:latin typeface="Aptos Display" panose="020B0004020202020204" pitchFamily="34" charset="0"/>
                <a:cs typeface="Tahoma"/>
              </a:rPr>
              <a:t> </a:t>
            </a:r>
            <a:r>
              <a:rPr sz="1400">
                <a:solidFill>
                  <a:srgbClr val="231F20"/>
                </a:solidFill>
                <a:latin typeface="Aptos Display" panose="020B0004020202020204" pitchFamily="34" charset="0"/>
                <a:cs typeface="Tahoma"/>
              </a:rPr>
              <a:t>in</a:t>
            </a:r>
            <a:r>
              <a:rPr sz="1400" spc="-10">
                <a:solidFill>
                  <a:srgbClr val="231F20"/>
                </a:solidFill>
                <a:latin typeface="Aptos Display" panose="020B0004020202020204" pitchFamily="34" charset="0"/>
                <a:cs typeface="Tahoma"/>
              </a:rPr>
              <a:t> </a:t>
            </a:r>
            <a:r>
              <a:rPr sz="1400" spc="-6">
                <a:solidFill>
                  <a:srgbClr val="231F20"/>
                </a:solidFill>
                <a:latin typeface="Aptos Display" panose="020B0004020202020204" pitchFamily="34" charset="0"/>
                <a:cs typeface="Tahoma"/>
              </a:rPr>
              <a:t>Ghana.</a:t>
            </a:r>
            <a:endParaRPr sz="1400">
              <a:latin typeface="Aptos Display" panose="020B0004020202020204" pitchFamily="34" charset="0"/>
              <a:cs typeface="Tahoma"/>
            </a:endParaRPr>
          </a:p>
        </p:txBody>
      </p:sp>
      <p:sp>
        <p:nvSpPr>
          <p:cNvPr id="5" name="Rectangle 4">
            <a:extLst>
              <a:ext uri="{FF2B5EF4-FFF2-40B4-BE49-F238E27FC236}">
                <a16:creationId xmlns:a16="http://schemas.microsoft.com/office/drawing/2014/main" id="{97EA40FC-5101-41A5-AD6C-162814DF5E6B}"/>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8" name="Picture 7" descr="Melcom Limited - Melcom">
            <a:extLst>
              <a:ext uri="{FF2B5EF4-FFF2-40B4-BE49-F238E27FC236}">
                <a16:creationId xmlns:a16="http://schemas.microsoft.com/office/drawing/2014/main" id="{E71B92A6-BF9E-1218-7702-83C40F669F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425964" y="133699"/>
            <a:ext cx="1623934" cy="465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2533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D85AC-13B7-B5FD-963D-C0AF0E237C50}"/>
              </a:ext>
            </a:extLst>
          </p:cNvPr>
          <p:cNvSpPr txBox="1">
            <a:spLocks/>
          </p:cNvSpPr>
          <p:nvPr/>
        </p:nvSpPr>
        <p:spPr>
          <a:xfrm>
            <a:off x="43450" y="435687"/>
            <a:ext cx="5243183" cy="72416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70C0"/>
                </a:solidFill>
                <a:latin typeface="Aptos Display" panose="020B0004020202020204" pitchFamily="34" charset="0"/>
              </a:rPr>
              <a:t>Our Journey so Far…</a:t>
            </a:r>
            <a:br>
              <a:rPr lang="en-US" b="1" dirty="0">
                <a:solidFill>
                  <a:srgbClr val="0070C0"/>
                </a:solidFill>
                <a:latin typeface="Aptos Display" panose="020B0004020202020204" pitchFamily="34" charset="0"/>
              </a:rPr>
            </a:br>
            <a:endParaRPr lang="en-US" b="1" dirty="0">
              <a:solidFill>
                <a:srgbClr val="0070C0"/>
              </a:solidFill>
              <a:latin typeface="Aptos Display" panose="020B0004020202020204" pitchFamily="34" charset="0"/>
            </a:endParaRPr>
          </a:p>
        </p:txBody>
      </p:sp>
      <p:sp>
        <p:nvSpPr>
          <p:cNvPr id="3" name="Content Placeholder 2">
            <a:extLst>
              <a:ext uri="{FF2B5EF4-FFF2-40B4-BE49-F238E27FC236}">
                <a16:creationId xmlns:a16="http://schemas.microsoft.com/office/drawing/2014/main" id="{D521C3FB-B2F6-1E38-2B38-119C1E3CB021}"/>
              </a:ext>
            </a:extLst>
          </p:cNvPr>
          <p:cNvSpPr txBox="1">
            <a:spLocks/>
          </p:cNvSpPr>
          <p:nvPr/>
        </p:nvSpPr>
        <p:spPr>
          <a:xfrm>
            <a:off x="3753508" y="544354"/>
            <a:ext cx="8229600" cy="708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Aptos Display" panose="020B0004020202020204" pitchFamily="34" charset="0"/>
            </a:endParaRPr>
          </a:p>
        </p:txBody>
      </p:sp>
      <p:sp>
        <p:nvSpPr>
          <p:cNvPr id="4" name="Rectangle 3">
            <a:extLst>
              <a:ext uri="{FF2B5EF4-FFF2-40B4-BE49-F238E27FC236}">
                <a16:creationId xmlns:a16="http://schemas.microsoft.com/office/drawing/2014/main" id="{10505E56-82B1-96BF-D71D-F2363C4038BA}"/>
              </a:ext>
            </a:extLst>
          </p:cNvPr>
          <p:cNvSpPr/>
          <p:nvPr/>
        </p:nvSpPr>
        <p:spPr>
          <a:xfrm>
            <a:off x="457201" y="3446586"/>
            <a:ext cx="7265962" cy="4401205"/>
          </a:xfrm>
          <a:prstGeom prst="rect">
            <a:avLst/>
          </a:prstGeom>
        </p:spPr>
        <p:txBody>
          <a:bodyPr wrap="square">
            <a:spAutoFit/>
          </a:bodyPr>
          <a:lstStyle/>
          <a:p>
            <a:endParaRPr lang="en-US" sz="4000" b="1" dirty="0">
              <a:latin typeface="Aptos Display" panose="020B0004020202020204" pitchFamily="34" charset="0"/>
            </a:endParaRPr>
          </a:p>
          <a:p>
            <a:endParaRPr lang="en-US" sz="4000" b="1" dirty="0">
              <a:latin typeface="Aptos Display" panose="020B0004020202020204" pitchFamily="34" charset="0"/>
            </a:endParaRPr>
          </a:p>
          <a:p>
            <a:endParaRPr lang="en-US" sz="4000" b="1" dirty="0">
              <a:latin typeface="Aptos Display" panose="020B0004020202020204" pitchFamily="34" charset="0"/>
            </a:endParaRPr>
          </a:p>
          <a:p>
            <a:endParaRPr lang="en-US" sz="4000" b="1" dirty="0">
              <a:latin typeface="Aptos Display" panose="020B0004020202020204" pitchFamily="34" charset="0"/>
            </a:endParaRPr>
          </a:p>
          <a:p>
            <a:endParaRPr lang="en-US" sz="4000" b="1" dirty="0">
              <a:latin typeface="Aptos Display" panose="020B0004020202020204" pitchFamily="34" charset="0"/>
            </a:endParaRPr>
          </a:p>
          <a:p>
            <a:endParaRPr lang="en-US" sz="4000" b="1" dirty="0">
              <a:latin typeface="Aptos Display" panose="020B0004020202020204" pitchFamily="34" charset="0"/>
            </a:endParaRPr>
          </a:p>
          <a:p>
            <a:endParaRPr lang="en-US" sz="4000" b="1" dirty="0">
              <a:latin typeface="Aptos Display" panose="020B0004020202020204" pitchFamily="34" charset="0"/>
            </a:endParaRPr>
          </a:p>
        </p:txBody>
      </p:sp>
      <p:sp>
        <p:nvSpPr>
          <p:cNvPr id="8" name="AutoShape 2" descr="MELCOM PLUS SHOPPING MALL GHANA ...">
            <a:extLst>
              <a:ext uri="{FF2B5EF4-FFF2-40B4-BE49-F238E27FC236}">
                <a16:creationId xmlns:a16="http://schemas.microsoft.com/office/drawing/2014/main" id="{911C40EB-B976-18C2-AB54-ACC7A147B1E6}"/>
              </a:ext>
            </a:extLst>
          </p:cNvPr>
          <p:cNvSpPr>
            <a:spLocks noChangeAspect="1" noChangeArrowheads="1"/>
          </p:cNvSpPr>
          <p:nvPr/>
        </p:nvSpPr>
        <p:spPr bwMode="auto">
          <a:xfrm>
            <a:off x="1262125" y="1534795"/>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Aptos Display" panose="020B0004020202020204" pitchFamily="34" charset="0"/>
            </a:endParaRPr>
          </a:p>
        </p:txBody>
      </p:sp>
      <p:pic>
        <p:nvPicPr>
          <p:cNvPr id="9" name="Picture 8" descr="Melcom Plus - North Kaneshie, Shopping Mall at Ablekuma North">
            <a:extLst>
              <a:ext uri="{FF2B5EF4-FFF2-40B4-BE49-F238E27FC236}">
                <a16:creationId xmlns:a16="http://schemas.microsoft.com/office/drawing/2014/main" id="{968E28C0-95A0-7FAA-3489-EC5769CAC170}"/>
              </a:ext>
            </a:extLst>
          </p:cNvPr>
          <p:cNvPicPr/>
          <p:nvPr/>
        </p:nvPicPr>
        <p:blipFill>
          <a:blip r:embed="rId2">
            <a:extLst>
              <a:ext uri="{28A0092B-C50C-407E-A947-70E740481C1C}">
                <a14:useLocalDpi xmlns:a14="http://schemas.microsoft.com/office/drawing/2010/main" val="0"/>
              </a:ext>
            </a:extLst>
          </a:blip>
          <a:srcRect l="15008" t="27577"/>
          <a:stretch/>
        </p:blipFill>
        <p:spPr bwMode="auto">
          <a:xfrm>
            <a:off x="8767562" y="601295"/>
            <a:ext cx="3353871" cy="1867428"/>
          </a:xfrm>
          <a:prstGeom prst="rect">
            <a:avLst/>
          </a:prstGeom>
          <a:noFill/>
          <a:ln>
            <a:noFill/>
          </a:ln>
        </p:spPr>
      </p:pic>
      <p:grpSp>
        <p:nvGrpSpPr>
          <p:cNvPr id="23" name="Google Shape;4347;p40">
            <a:extLst>
              <a:ext uri="{FF2B5EF4-FFF2-40B4-BE49-F238E27FC236}">
                <a16:creationId xmlns:a16="http://schemas.microsoft.com/office/drawing/2014/main" id="{C6B9F616-2E09-6C43-B410-B5E894696872}"/>
              </a:ext>
            </a:extLst>
          </p:cNvPr>
          <p:cNvGrpSpPr/>
          <p:nvPr/>
        </p:nvGrpSpPr>
        <p:grpSpPr>
          <a:xfrm>
            <a:off x="2609972" y="1538715"/>
            <a:ext cx="6129888" cy="5012436"/>
            <a:chOff x="5976993" y="264821"/>
            <a:chExt cx="486776" cy="586381"/>
          </a:xfrm>
        </p:grpSpPr>
        <p:grpSp>
          <p:nvGrpSpPr>
            <p:cNvPr id="24" name="Google Shape;4348;p40">
              <a:extLst>
                <a:ext uri="{FF2B5EF4-FFF2-40B4-BE49-F238E27FC236}">
                  <a16:creationId xmlns:a16="http://schemas.microsoft.com/office/drawing/2014/main" id="{08B0457D-C982-C2AC-8C95-E1388E6E1660}"/>
                </a:ext>
              </a:extLst>
            </p:cNvPr>
            <p:cNvGrpSpPr/>
            <p:nvPr/>
          </p:nvGrpSpPr>
          <p:grpSpPr>
            <a:xfrm>
              <a:off x="6207869" y="264821"/>
              <a:ext cx="255900" cy="309550"/>
              <a:chOff x="4721075" y="260350"/>
              <a:chExt cx="255900" cy="309550"/>
            </a:xfrm>
          </p:grpSpPr>
          <p:sp>
            <p:nvSpPr>
              <p:cNvPr id="41" name="Google Shape;4349;p40">
                <a:extLst>
                  <a:ext uri="{FF2B5EF4-FFF2-40B4-BE49-F238E27FC236}">
                    <a16:creationId xmlns:a16="http://schemas.microsoft.com/office/drawing/2014/main" id="{060D035B-7139-FD0C-E375-E8FA916528F1}"/>
                  </a:ext>
                </a:extLst>
              </p:cNvPr>
              <p:cNvSpPr/>
              <p:nvPr/>
            </p:nvSpPr>
            <p:spPr>
              <a:xfrm>
                <a:off x="4721075" y="272900"/>
                <a:ext cx="74325" cy="294475"/>
              </a:xfrm>
              <a:custGeom>
                <a:avLst/>
                <a:gdLst/>
                <a:ahLst/>
                <a:cxnLst/>
                <a:rect l="l" t="t" r="r" b="b"/>
                <a:pathLst>
                  <a:path w="2973" h="11779" extrusionOk="0">
                    <a:moveTo>
                      <a:pt x="30" y="1"/>
                    </a:moveTo>
                    <a:lnTo>
                      <a:pt x="1" y="7488"/>
                    </a:lnTo>
                    <a:lnTo>
                      <a:pt x="2943" y="11779"/>
                    </a:lnTo>
                    <a:lnTo>
                      <a:pt x="2972" y="4292"/>
                    </a:lnTo>
                    <a:lnTo>
                      <a:pt x="30" y="1"/>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42" name="Google Shape;4350;p40">
                <a:extLst>
                  <a:ext uri="{FF2B5EF4-FFF2-40B4-BE49-F238E27FC236}">
                    <a16:creationId xmlns:a16="http://schemas.microsoft.com/office/drawing/2014/main" id="{01399066-4ECB-E9DF-D81F-78F1182D541B}"/>
                  </a:ext>
                </a:extLst>
              </p:cNvPr>
              <p:cNvSpPr/>
              <p:nvPr/>
            </p:nvSpPr>
            <p:spPr>
              <a:xfrm>
                <a:off x="4794825" y="375875"/>
                <a:ext cx="103175" cy="194025"/>
              </a:xfrm>
              <a:custGeom>
                <a:avLst/>
                <a:gdLst/>
                <a:ahLst/>
                <a:cxnLst/>
                <a:rect l="l" t="t" r="r" b="b"/>
                <a:pathLst>
                  <a:path w="4127" h="7761" extrusionOk="0">
                    <a:moveTo>
                      <a:pt x="1804" y="0"/>
                    </a:moveTo>
                    <a:cubicBezTo>
                      <a:pt x="1717" y="0"/>
                      <a:pt x="1623" y="0"/>
                      <a:pt x="1537" y="8"/>
                    </a:cubicBezTo>
                    <a:lnTo>
                      <a:pt x="1522" y="8"/>
                    </a:lnTo>
                    <a:cubicBezTo>
                      <a:pt x="1429" y="8"/>
                      <a:pt x="1342" y="15"/>
                      <a:pt x="1248" y="22"/>
                    </a:cubicBezTo>
                    <a:lnTo>
                      <a:pt x="1155" y="29"/>
                    </a:lnTo>
                    <a:lnTo>
                      <a:pt x="960" y="44"/>
                    </a:lnTo>
                    <a:lnTo>
                      <a:pt x="909" y="51"/>
                    </a:lnTo>
                    <a:lnTo>
                      <a:pt x="866" y="58"/>
                    </a:lnTo>
                    <a:cubicBezTo>
                      <a:pt x="765" y="65"/>
                      <a:pt x="664" y="80"/>
                      <a:pt x="570" y="87"/>
                    </a:cubicBezTo>
                    <a:lnTo>
                      <a:pt x="534" y="94"/>
                    </a:lnTo>
                    <a:cubicBezTo>
                      <a:pt x="426" y="108"/>
                      <a:pt x="318" y="130"/>
                      <a:pt x="210" y="145"/>
                    </a:cubicBezTo>
                    <a:lnTo>
                      <a:pt x="181" y="152"/>
                    </a:lnTo>
                    <a:lnTo>
                      <a:pt x="29" y="181"/>
                    </a:lnTo>
                    <a:lnTo>
                      <a:pt x="1" y="7667"/>
                    </a:lnTo>
                    <a:lnTo>
                      <a:pt x="181" y="7638"/>
                    </a:lnTo>
                    <a:cubicBezTo>
                      <a:pt x="289" y="7617"/>
                      <a:pt x="397" y="7602"/>
                      <a:pt x="505" y="7588"/>
                    </a:cubicBezTo>
                    <a:lnTo>
                      <a:pt x="542" y="7581"/>
                    </a:lnTo>
                    <a:cubicBezTo>
                      <a:pt x="635" y="7566"/>
                      <a:pt x="736" y="7552"/>
                      <a:pt x="837" y="7545"/>
                    </a:cubicBezTo>
                    <a:lnTo>
                      <a:pt x="924" y="7537"/>
                    </a:lnTo>
                    <a:cubicBezTo>
                      <a:pt x="989" y="7530"/>
                      <a:pt x="1054" y="7523"/>
                      <a:pt x="1119" y="7516"/>
                    </a:cubicBezTo>
                    <a:lnTo>
                      <a:pt x="1212" y="7508"/>
                    </a:lnTo>
                    <a:cubicBezTo>
                      <a:pt x="1306" y="7508"/>
                      <a:pt x="1393" y="7501"/>
                      <a:pt x="1486" y="7494"/>
                    </a:cubicBezTo>
                    <a:lnTo>
                      <a:pt x="2164" y="7494"/>
                    </a:lnTo>
                    <a:lnTo>
                      <a:pt x="2316" y="7501"/>
                    </a:lnTo>
                    <a:lnTo>
                      <a:pt x="2438" y="7508"/>
                    </a:lnTo>
                    <a:lnTo>
                      <a:pt x="2590" y="7516"/>
                    </a:lnTo>
                    <a:lnTo>
                      <a:pt x="2712" y="7530"/>
                    </a:lnTo>
                    <a:lnTo>
                      <a:pt x="2857" y="7545"/>
                    </a:lnTo>
                    <a:lnTo>
                      <a:pt x="2979" y="7552"/>
                    </a:lnTo>
                    <a:lnTo>
                      <a:pt x="3124" y="7573"/>
                    </a:lnTo>
                    <a:lnTo>
                      <a:pt x="3246" y="7588"/>
                    </a:lnTo>
                    <a:lnTo>
                      <a:pt x="3398" y="7617"/>
                    </a:lnTo>
                    <a:lnTo>
                      <a:pt x="3520" y="7638"/>
                    </a:lnTo>
                    <a:lnTo>
                      <a:pt x="3672" y="7667"/>
                    </a:lnTo>
                    <a:lnTo>
                      <a:pt x="3780" y="7689"/>
                    </a:lnTo>
                    <a:cubicBezTo>
                      <a:pt x="3888" y="7710"/>
                      <a:pt x="3996" y="7732"/>
                      <a:pt x="4097" y="7761"/>
                    </a:cubicBezTo>
                    <a:lnTo>
                      <a:pt x="4126" y="267"/>
                    </a:lnTo>
                    <a:cubicBezTo>
                      <a:pt x="4025" y="238"/>
                      <a:pt x="3917" y="217"/>
                      <a:pt x="3816" y="195"/>
                    </a:cubicBezTo>
                    <a:lnTo>
                      <a:pt x="3773" y="188"/>
                    </a:lnTo>
                    <a:cubicBezTo>
                      <a:pt x="3751" y="181"/>
                      <a:pt x="3729" y="173"/>
                      <a:pt x="3701" y="173"/>
                    </a:cubicBezTo>
                    <a:lnTo>
                      <a:pt x="3549" y="145"/>
                    </a:lnTo>
                    <a:lnTo>
                      <a:pt x="3434" y="123"/>
                    </a:lnTo>
                    <a:lnTo>
                      <a:pt x="3275" y="101"/>
                    </a:lnTo>
                    <a:lnTo>
                      <a:pt x="3210" y="87"/>
                    </a:lnTo>
                    <a:lnTo>
                      <a:pt x="3160" y="80"/>
                    </a:lnTo>
                    <a:lnTo>
                      <a:pt x="3015" y="65"/>
                    </a:lnTo>
                    <a:lnTo>
                      <a:pt x="2886" y="51"/>
                    </a:lnTo>
                    <a:lnTo>
                      <a:pt x="2741" y="36"/>
                    </a:lnTo>
                    <a:lnTo>
                      <a:pt x="2662" y="29"/>
                    </a:lnTo>
                    <a:lnTo>
                      <a:pt x="2619" y="29"/>
                    </a:lnTo>
                    <a:lnTo>
                      <a:pt x="2467" y="15"/>
                    </a:lnTo>
                    <a:lnTo>
                      <a:pt x="2352" y="8"/>
                    </a:lnTo>
                    <a:lnTo>
                      <a:pt x="2200" y="0"/>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43" name="Google Shape;4351;p40">
                <a:extLst>
                  <a:ext uri="{FF2B5EF4-FFF2-40B4-BE49-F238E27FC236}">
                    <a16:creationId xmlns:a16="http://schemas.microsoft.com/office/drawing/2014/main" id="{84F3706A-A039-D47A-BE11-F50020DAFB74}"/>
                  </a:ext>
                </a:extLst>
              </p:cNvPr>
              <p:cNvSpPr/>
              <p:nvPr/>
            </p:nvSpPr>
            <p:spPr>
              <a:xfrm>
                <a:off x="4897425" y="276875"/>
                <a:ext cx="79550" cy="292850"/>
              </a:xfrm>
              <a:custGeom>
                <a:avLst/>
                <a:gdLst/>
                <a:ahLst/>
                <a:cxnLst/>
                <a:rect l="l" t="t" r="r" b="b"/>
                <a:pathLst>
                  <a:path w="3182" h="11714" extrusionOk="0">
                    <a:moveTo>
                      <a:pt x="3181" y="1"/>
                    </a:moveTo>
                    <a:lnTo>
                      <a:pt x="29" y="4227"/>
                    </a:lnTo>
                    <a:lnTo>
                      <a:pt x="0" y="11714"/>
                    </a:lnTo>
                    <a:lnTo>
                      <a:pt x="3152" y="7487"/>
                    </a:lnTo>
                    <a:lnTo>
                      <a:pt x="3181" y="1"/>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44" name="Google Shape;4352;p40">
                <a:extLst>
                  <a:ext uri="{FF2B5EF4-FFF2-40B4-BE49-F238E27FC236}">
                    <a16:creationId xmlns:a16="http://schemas.microsoft.com/office/drawing/2014/main" id="{9CE223F3-2566-159E-9B30-FCCEF24B6B20}"/>
                  </a:ext>
                </a:extLst>
              </p:cNvPr>
              <p:cNvSpPr/>
              <p:nvPr/>
            </p:nvSpPr>
            <p:spPr>
              <a:xfrm>
                <a:off x="4721800" y="260350"/>
                <a:ext cx="255175" cy="122225"/>
              </a:xfrm>
              <a:custGeom>
                <a:avLst/>
                <a:gdLst/>
                <a:ahLst/>
                <a:cxnLst/>
                <a:rect l="l" t="t" r="r" b="b"/>
                <a:pathLst>
                  <a:path w="10207" h="4889" extrusionOk="0">
                    <a:moveTo>
                      <a:pt x="4749" y="1"/>
                    </a:moveTo>
                    <a:cubicBezTo>
                      <a:pt x="3158" y="1"/>
                      <a:pt x="1567" y="168"/>
                      <a:pt x="1" y="503"/>
                    </a:cubicBezTo>
                    <a:lnTo>
                      <a:pt x="2943" y="4794"/>
                    </a:lnTo>
                    <a:cubicBezTo>
                      <a:pt x="3555" y="4675"/>
                      <a:pt x="4174" y="4614"/>
                      <a:pt x="4792" y="4614"/>
                    </a:cubicBezTo>
                    <a:cubicBezTo>
                      <a:pt x="5552" y="4614"/>
                      <a:pt x="6311" y="4705"/>
                      <a:pt x="7054" y="4888"/>
                    </a:cubicBezTo>
                    <a:lnTo>
                      <a:pt x="10206" y="662"/>
                    </a:lnTo>
                    <a:cubicBezTo>
                      <a:pt x="8412" y="222"/>
                      <a:pt x="6580" y="1"/>
                      <a:pt x="4749" y="1"/>
                    </a:cubicBez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grpSp>
        <p:grpSp>
          <p:nvGrpSpPr>
            <p:cNvPr id="25" name="Google Shape;4353;p40">
              <a:extLst>
                <a:ext uri="{FF2B5EF4-FFF2-40B4-BE49-F238E27FC236}">
                  <a16:creationId xmlns:a16="http://schemas.microsoft.com/office/drawing/2014/main" id="{5469587E-1E69-2B09-5668-51B3755A34E5}"/>
                </a:ext>
              </a:extLst>
            </p:cNvPr>
            <p:cNvGrpSpPr/>
            <p:nvPr/>
          </p:nvGrpSpPr>
          <p:grpSpPr>
            <a:xfrm>
              <a:off x="6014775" y="319425"/>
              <a:ext cx="267975" cy="297900"/>
              <a:chOff x="4428250" y="314750"/>
              <a:chExt cx="267975" cy="297900"/>
            </a:xfrm>
          </p:grpSpPr>
          <p:sp>
            <p:nvSpPr>
              <p:cNvPr id="38" name="Google Shape;4354;p40">
                <a:extLst>
                  <a:ext uri="{FF2B5EF4-FFF2-40B4-BE49-F238E27FC236}">
                    <a16:creationId xmlns:a16="http://schemas.microsoft.com/office/drawing/2014/main" id="{2CCEEE95-07EB-17C0-02F0-9D21B76BEF24}"/>
                  </a:ext>
                </a:extLst>
              </p:cNvPr>
              <p:cNvSpPr/>
              <p:nvPr/>
            </p:nvSpPr>
            <p:spPr>
              <a:xfrm>
                <a:off x="4428975" y="314750"/>
                <a:ext cx="267250" cy="152575"/>
              </a:xfrm>
              <a:custGeom>
                <a:avLst/>
                <a:gdLst/>
                <a:ahLst/>
                <a:cxnLst/>
                <a:rect l="l" t="t" r="r" b="b"/>
                <a:pathLst>
                  <a:path w="10690" h="6103" extrusionOk="0">
                    <a:moveTo>
                      <a:pt x="7747" y="0"/>
                    </a:moveTo>
                    <a:cubicBezTo>
                      <a:pt x="4386" y="729"/>
                      <a:pt x="1530" y="2207"/>
                      <a:pt x="1" y="4263"/>
                    </a:cubicBezTo>
                    <a:lnTo>
                      <a:pt x="7314" y="6102"/>
                    </a:lnTo>
                    <a:cubicBezTo>
                      <a:pt x="7970" y="5215"/>
                      <a:pt x="9225" y="4580"/>
                      <a:pt x="10689" y="4292"/>
                    </a:cubicBezTo>
                    <a:lnTo>
                      <a:pt x="7747" y="0"/>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39" name="Google Shape;4355;p40">
                <a:extLst>
                  <a:ext uri="{FF2B5EF4-FFF2-40B4-BE49-F238E27FC236}">
                    <a16:creationId xmlns:a16="http://schemas.microsoft.com/office/drawing/2014/main" id="{BE0EDC3D-BBC7-DBF5-F7BF-56B8D4346CBE}"/>
                  </a:ext>
                </a:extLst>
              </p:cNvPr>
              <p:cNvSpPr/>
              <p:nvPr/>
            </p:nvSpPr>
            <p:spPr>
              <a:xfrm>
                <a:off x="4611100" y="422025"/>
                <a:ext cx="84775" cy="190450"/>
              </a:xfrm>
              <a:custGeom>
                <a:avLst/>
                <a:gdLst/>
                <a:ahLst/>
                <a:cxnLst/>
                <a:rect l="l" t="t" r="r" b="b"/>
                <a:pathLst>
                  <a:path w="3391" h="7618" extrusionOk="0">
                    <a:moveTo>
                      <a:pt x="3390" y="1"/>
                    </a:moveTo>
                    <a:cubicBezTo>
                      <a:pt x="3318" y="22"/>
                      <a:pt x="3231" y="37"/>
                      <a:pt x="3145" y="58"/>
                    </a:cubicBezTo>
                    <a:lnTo>
                      <a:pt x="3065" y="80"/>
                    </a:lnTo>
                    <a:lnTo>
                      <a:pt x="2900" y="123"/>
                    </a:lnTo>
                    <a:lnTo>
                      <a:pt x="2806" y="145"/>
                    </a:lnTo>
                    <a:cubicBezTo>
                      <a:pt x="2755" y="159"/>
                      <a:pt x="2705" y="174"/>
                      <a:pt x="2654" y="188"/>
                    </a:cubicBezTo>
                    <a:lnTo>
                      <a:pt x="2553" y="217"/>
                    </a:lnTo>
                    <a:lnTo>
                      <a:pt x="2481" y="239"/>
                    </a:lnTo>
                    <a:lnTo>
                      <a:pt x="2395" y="268"/>
                    </a:lnTo>
                    <a:lnTo>
                      <a:pt x="2330" y="289"/>
                    </a:lnTo>
                    <a:cubicBezTo>
                      <a:pt x="2258" y="318"/>
                      <a:pt x="2186" y="340"/>
                      <a:pt x="2113" y="369"/>
                    </a:cubicBezTo>
                    <a:lnTo>
                      <a:pt x="2085" y="383"/>
                    </a:lnTo>
                    <a:lnTo>
                      <a:pt x="1897" y="455"/>
                    </a:lnTo>
                    <a:lnTo>
                      <a:pt x="1839" y="484"/>
                    </a:lnTo>
                    <a:cubicBezTo>
                      <a:pt x="1782" y="506"/>
                      <a:pt x="1724" y="534"/>
                      <a:pt x="1673" y="556"/>
                    </a:cubicBezTo>
                    <a:lnTo>
                      <a:pt x="1623" y="578"/>
                    </a:lnTo>
                    <a:cubicBezTo>
                      <a:pt x="1558" y="607"/>
                      <a:pt x="1493" y="643"/>
                      <a:pt x="1428" y="679"/>
                    </a:cubicBezTo>
                    <a:lnTo>
                      <a:pt x="1385" y="700"/>
                    </a:lnTo>
                    <a:cubicBezTo>
                      <a:pt x="1334" y="729"/>
                      <a:pt x="1284" y="758"/>
                      <a:pt x="1234" y="787"/>
                    </a:cubicBezTo>
                    <a:lnTo>
                      <a:pt x="1183" y="816"/>
                    </a:lnTo>
                    <a:lnTo>
                      <a:pt x="1140" y="837"/>
                    </a:lnTo>
                    <a:lnTo>
                      <a:pt x="1068" y="888"/>
                    </a:lnTo>
                    <a:lnTo>
                      <a:pt x="981" y="946"/>
                    </a:lnTo>
                    <a:cubicBezTo>
                      <a:pt x="945" y="967"/>
                      <a:pt x="909" y="989"/>
                      <a:pt x="880" y="1010"/>
                    </a:cubicBezTo>
                    <a:lnTo>
                      <a:pt x="786" y="1075"/>
                    </a:lnTo>
                    <a:lnTo>
                      <a:pt x="693" y="1147"/>
                    </a:lnTo>
                    <a:lnTo>
                      <a:pt x="613" y="1212"/>
                    </a:lnTo>
                    <a:cubicBezTo>
                      <a:pt x="577" y="1234"/>
                      <a:pt x="548" y="1263"/>
                      <a:pt x="519" y="1284"/>
                    </a:cubicBezTo>
                    <a:lnTo>
                      <a:pt x="447" y="1349"/>
                    </a:lnTo>
                    <a:lnTo>
                      <a:pt x="433" y="1364"/>
                    </a:lnTo>
                    <a:cubicBezTo>
                      <a:pt x="390" y="1400"/>
                      <a:pt x="354" y="1443"/>
                      <a:pt x="310" y="1479"/>
                    </a:cubicBezTo>
                    <a:lnTo>
                      <a:pt x="289" y="1508"/>
                    </a:lnTo>
                    <a:cubicBezTo>
                      <a:pt x="245" y="1551"/>
                      <a:pt x="195" y="1595"/>
                      <a:pt x="159" y="1645"/>
                    </a:cubicBezTo>
                    <a:cubicBezTo>
                      <a:pt x="130" y="1681"/>
                      <a:pt x="101" y="1710"/>
                      <a:pt x="72" y="1746"/>
                    </a:cubicBezTo>
                    <a:lnTo>
                      <a:pt x="29" y="1804"/>
                    </a:lnTo>
                    <a:lnTo>
                      <a:pt x="0" y="7617"/>
                    </a:lnTo>
                    <a:cubicBezTo>
                      <a:pt x="43" y="7567"/>
                      <a:pt x="87" y="7509"/>
                      <a:pt x="130" y="7458"/>
                    </a:cubicBezTo>
                    <a:lnTo>
                      <a:pt x="130" y="7451"/>
                    </a:lnTo>
                    <a:cubicBezTo>
                      <a:pt x="173" y="7401"/>
                      <a:pt x="209" y="7357"/>
                      <a:pt x="253" y="7314"/>
                    </a:cubicBezTo>
                    <a:lnTo>
                      <a:pt x="281" y="7285"/>
                    </a:lnTo>
                    <a:cubicBezTo>
                      <a:pt x="325" y="7242"/>
                      <a:pt x="368" y="7199"/>
                      <a:pt x="411" y="7155"/>
                    </a:cubicBezTo>
                    <a:cubicBezTo>
                      <a:pt x="440" y="7134"/>
                      <a:pt x="462" y="7112"/>
                      <a:pt x="491" y="7091"/>
                    </a:cubicBezTo>
                    <a:cubicBezTo>
                      <a:pt x="512" y="7069"/>
                      <a:pt x="548" y="7040"/>
                      <a:pt x="577" y="7018"/>
                    </a:cubicBezTo>
                    <a:lnTo>
                      <a:pt x="657" y="6953"/>
                    </a:lnTo>
                    <a:cubicBezTo>
                      <a:pt x="693" y="6925"/>
                      <a:pt x="721" y="6903"/>
                      <a:pt x="757" y="6881"/>
                    </a:cubicBezTo>
                    <a:cubicBezTo>
                      <a:pt x="786" y="6852"/>
                      <a:pt x="815" y="6838"/>
                      <a:pt x="844" y="6816"/>
                    </a:cubicBezTo>
                    <a:cubicBezTo>
                      <a:pt x="873" y="6802"/>
                      <a:pt x="909" y="6773"/>
                      <a:pt x="945" y="6752"/>
                    </a:cubicBezTo>
                    <a:lnTo>
                      <a:pt x="1032" y="6694"/>
                    </a:lnTo>
                    <a:lnTo>
                      <a:pt x="1147" y="6622"/>
                    </a:lnTo>
                    <a:lnTo>
                      <a:pt x="1197" y="6593"/>
                    </a:lnTo>
                    <a:cubicBezTo>
                      <a:pt x="1248" y="6564"/>
                      <a:pt x="1298" y="6535"/>
                      <a:pt x="1349" y="6506"/>
                    </a:cubicBezTo>
                    <a:lnTo>
                      <a:pt x="1392" y="6485"/>
                    </a:lnTo>
                    <a:cubicBezTo>
                      <a:pt x="1457" y="6449"/>
                      <a:pt x="1522" y="6413"/>
                      <a:pt x="1594" y="6384"/>
                    </a:cubicBezTo>
                    <a:lnTo>
                      <a:pt x="1637" y="6362"/>
                    </a:lnTo>
                    <a:cubicBezTo>
                      <a:pt x="1688" y="6340"/>
                      <a:pt x="1746" y="6312"/>
                      <a:pt x="1803" y="6290"/>
                    </a:cubicBezTo>
                    <a:lnTo>
                      <a:pt x="1861" y="6261"/>
                    </a:lnTo>
                    <a:cubicBezTo>
                      <a:pt x="1926" y="6239"/>
                      <a:pt x="1984" y="6211"/>
                      <a:pt x="2049" y="6189"/>
                    </a:cubicBezTo>
                    <a:lnTo>
                      <a:pt x="2077" y="6175"/>
                    </a:lnTo>
                    <a:cubicBezTo>
                      <a:pt x="2149" y="6146"/>
                      <a:pt x="2222" y="6124"/>
                      <a:pt x="2294" y="6095"/>
                    </a:cubicBezTo>
                    <a:lnTo>
                      <a:pt x="2359" y="6074"/>
                    </a:lnTo>
                    <a:lnTo>
                      <a:pt x="2517" y="6023"/>
                    </a:lnTo>
                    <a:lnTo>
                      <a:pt x="2618" y="5994"/>
                    </a:lnTo>
                    <a:lnTo>
                      <a:pt x="2770" y="5951"/>
                    </a:lnTo>
                    <a:lnTo>
                      <a:pt x="2856" y="5929"/>
                    </a:lnTo>
                    <a:cubicBezTo>
                      <a:pt x="2914" y="5915"/>
                      <a:pt x="2972" y="5900"/>
                      <a:pt x="3029" y="5886"/>
                    </a:cubicBezTo>
                    <a:lnTo>
                      <a:pt x="3109" y="5864"/>
                    </a:lnTo>
                    <a:cubicBezTo>
                      <a:pt x="3195" y="5843"/>
                      <a:pt x="3282" y="5828"/>
                      <a:pt x="3368" y="5807"/>
                    </a:cubicBezTo>
                    <a:lnTo>
                      <a:pt x="3390" y="1"/>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40" name="Google Shape;4356;p40">
                <a:extLst>
                  <a:ext uri="{FF2B5EF4-FFF2-40B4-BE49-F238E27FC236}">
                    <a16:creationId xmlns:a16="http://schemas.microsoft.com/office/drawing/2014/main" id="{B02EC5E3-0DB2-E122-BA31-647F94F78486}"/>
                  </a:ext>
                </a:extLst>
              </p:cNvPr>
              <p:cNvSpPr/>
              <p:nvPr/>
            </p:nvSpPr>
            <p:spPr>
              <a:xfrm>
                <a:off x="4428250" y="421300"/>
                <a:ext cx="183600" cy="191350"/>
              </a:xfrm>
              <a:custGeom>
                <a:avLst/>
                <a:gdLst/>
                <a:ahLst/>
                <a:cxnLst/>
                <a:rect l="l" t="t" r="r" b="b"/>
                <a:pathLst>
                  <a:path w="7344" h="7654" extrusionOk="0">
                    <a:moveTo>
                      <a:pt x="30" y="1"/>
                    </a:moveTo>
                    <a:lnTo>
                      <a:pt x="1" y="5814"/>
                    </a:lnTo>
                    <a:lnTo>
                      <a:pt x="7314" y="7653"/>
                    </a:lnTo>
                    <a:lnTo>
                      <a:pt x="7343" y="1840"/>
                    </a:lnTo>
                    <a:lnTo>
                      <a:pt x="30" y="1"/>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grpSp>
        <p:grpSp>
          <p:nvGrpSpPr>
            <p:cNvPr id="26" name="Google Shape;4361;p40">
              <a:extLst>
                <a:ext uri="{FF2B5EF4-FFF2-40B4-BE49-F238E27FC236}">
                  <a16:creationId xmlns:a16="http://schemas.microsoft.com/office/drawing/2014/main" id="{2C3C037D-51AA-AECB-4173-6B4916EDA107}"/>
                </a:ext>
              </a:extLst>
            </p:cNvPr>
            <p:cNvGrpSpPr/>
            <p:nvPr/>
          </p:nvGrpSpPr>
          <p:grpSpPr>
            <a:xfrm>
              <a:off x="5976993" y="471107"/>
              <a:ext cx="222175" cy="258225"/>
              <a:chOff x="4390750" y="609200"/>
              <a:chExt cx="222175" cy="258225"/>
            </a:xfrm>
          </p:grpSpPr>
          <p:sp>
            <p:nvSpPr>
              <p:cNvPr id="34" name="Google Shape;4362;p40">
                <a:extLst>
                  <a:ext uri="{FF2B5EF4-FFF2-40B4-BE49-F238E27FC236}">
                    <a16:creationId xmlns:a16="http://schemas.microsoft.com/office/drawing/2014/main" id="{4867C85D-4968-2BCF-53BC-AC365116CAEB}"/>
                  </a:ext>
                </a:extLst>
              </p:cNvPr>
              <p:cNvSpPr/>
              <p:nvPr/>
            </p:nvSpPr>
            <p:spPr>
              <a:xfrm>
                <a:off x="4599550" y="655000"/>
                <a:ext cx="12300" cy="135800"/>
              </a:xfrm>
              <a:custGeom>
                <a:avLst/>
                <a:gdLst/>
                <a:ahLst/>
                <a:cxnLst/>
                <a:rect l="l" t="t" r="r" b="b"/>
                <a:pathLst>
                  <a:path w="492" h="5432" extrusionOk="0">
                    <a:moveTo>
                      <a:pt x="491" y="0"/>
                    </a:moveTo>
                    <a:lnTo>
                      <a:pt x="491" y="0"/>
                    </a:lnTo>
                    <a:cubicBezTo>
                      <a:pt x="448" y="51"/>
                      <a:pt x="419" y="101"/>
                      <a:pt x="383" y="152"/>
                    </a:cubicBezTo>
                    <a:lnTo>
                      <a:pt x="354" y="202"/>
                    </a:lnTo>
                    <a:cubicBezTo>
                      <a:pt x="332" y="231"/>
                      <a:pt x="318" y="260"/>
                      <a:pt x="304" y="289"/>
                    </a:cubicBezTo>
                    <a:lnTo>
                      <a:pt x="296" y="303"/>
                    </a:lnTo>
                    <a:cubicBezTo>
                      <a:pt x="282" y="332"/>
                      <a:pt x="267" y="361"/>
                      <a:pt x="253" y="382"/>
                    </a:cubicBezTo>
                    <a:cubicBezTo>
                      <a:pt x="239" y="411"/>
                      <a:pt x="224" y="440"/>
                      <a:pt x="210" y="469"/>
                    </a:cubicBezTo>
                    <a:cubicBezTo>
                      <a:pt x="195" y="491"/>
                      <a:pt x="188" y="519"/>
                      <a:pt x="174" y="548"/>
                    </a:cubicBezTo>
                    <a:cubicBezTo>
                      <a:pt x="166" y="577"/>
                      <a:pt x="159" y="592"/>
                      <a:pt x="152" y="606"/>
                    </a:cubicBezTo>
                    <a:cubicBezTo>
                      <a:pt x="152" y="613"/>
                      <a:pt x="145" y="620"/>
                      <a:pt x="145" y="628"/>
                    </a:cubicBezTo>
                    <a:cubicBezTo>
                      <a:pt x="138" y="656"/>
                      <a:pt x="130" y="678"/>
                      <a:pt x="116" y="707"/>
                    </a:cubicBezTo>
                    <a:cubicBezTo>
                      <a:pt x="109" y="729"/>
                      <a:pt x="102" y="765"/>
                      <a:pt x="94" y="786"/>
                    </a:cubicBezTo>
                    <a:cubicBezTo>
                      <a:pt x="87" y="815"/>
                      <a:pt x="80" y="837"/>
                      <a:pt x="73" y="866"/>
                    </a:cubicBezTo>
                    <a:cubicBezTo>
                      <a:pt x="66" y="894"/>
                      <a:pt x="66" y="909"/>
                      <a:pt x="58" y="931"/>
                    </a:cubicBezTo>
                    <a:cubicBezTo>
                      <a:pt x="58" y="938"/>
                      <a:pt x="58" y="945"/>
                      <a:pt x="58" y="952"/>
                    </a:cubicBezTo>
                    <a:cubicBezTo>
                      <a:pt x="58" y="974"/>
                      <a:pt x="51" y="1003"/>
                      <a:pt x="44" y="1032"/>
                    </a:cubicBezTo>
                    <a:cubicBezTo>
                      <a:pt x="44" y="1053"/>
                      <a:pt x="37" y="1082"/>
                      <a:pt x="29" y="1111"/>
                    </a:cubicBezTo>
                    <a:lnTo>
                      <a:pt x="29" y="1190"/>
                    </a:lnTo>
                    <a:lnTo>
                      <a:pt x="29" y="1248"/>
                    </a:lnTo>
                    <a:lnTo>
                      <a:pt x="29" y="1298"/>
                    </a:lnTo>
                    <a:lnTo>
                      <a:pt x="2" y="5279"/>
                    </a:lnTo>
                    <a:lnTo>
                      <a:pt x="2" y="5279"/>
                    </a:lnTo>
                    <a:cubicBezTo>
                      <a:pt x="3" y="5268"/>
                      <a:pt x="4" y="5257"/>
                      <a:pt x="8" y="5244"/>
                    </a:cubicBezTo>
                    <a:cubicBezTo>
                      <a:pt x="15" y="5215"/>
                      <a:pt x="15" y="5193"/>
                      <a:pt x="15" y="5164"/>
                    </a:cubicBezTo>
                    <a:cubicBezTo>
                      <a:pt x="22" y="5135"/>
                      <a:pt x="22" y="5107"/>
                      <a:pt x="29" y="5085"/>
                    </a:cubicBezTo>
                    <a:cubicBezTo>
                      <a:pt x="37" y="5056"/>
                      <a:pt x="44" y="5027"/>
                      <a:pt x="51" y="4998"/>
                    </a:cubicBezTo>
                    <a:cubicBezTo>
                      <a:pt x="58" y="4970"/>
                      <a:pt x="58" y="4948"/>
                      <a:pt x="66" y="4919"/>
                    </a:cubicBezTo>
                    <a:cubicBezTo>
                      <a:pt x="73" y="4897"/>
                      <a:pt x="87" y="4869"/>
                      <a:pt x="94" y="4832"/>
                    </a:cubicBezTo>
                    <a:cubicBezTo>
                      <a:pt x="102" y="4796"/>
                      <a:pt x="109" y="4782"/>
                      <a:pt x="116" y="4753"/>
                    </a:cubicBezTo>
                    <a:cubicBezTo>
                      <a:pt x="130" y="4731"/>
                      <a:pt x="138" y="4703"/>
                      <a:pt x="152" y="4674"/>
                    </a:cubicBezTo>
                    <a:cubicBezTo>
                      <a:pt x="159" y="4645"/>
                      <a:pt x="174" y="4623"/>
                      <a:pt x="188" y="4594"/>
                    </a:cubicBezTo>
                    <a:cubicBezTo>
                      <a:pt x="195" y="4566"/>
                      <a:pt x="210" y="4537"/>
                      <a:pt x="224" y="4515"/>
                    </a:cubicBezTo>
                    <a:cubicBezTo>
                      <a:pt x="239" y="4486"/>
                      <a:pt x="253" y="4457"/>
                      <a:pt x="267" y="4429"/>
                    </a:cubicBezTo>
                    <a:cubicBezTo>
                      <a:pt x="282" y="4407"/>
                      <a:pt x="304" y="4364"/>
                      <a:pt x="325" y="4328"/>
                    </a:cubicBezTo>
                    <a:cubicBezTo>
                      <a:pt x="340" y="4313"/>
                      <a:pt x="347" y="4299"/>
                      <a:pt x="361" y="4284"/>
                    </a:cubicBezTo>
                    <a:cubicBezTo>
                      <a:pt x="390" y="4234"/>
                      <a:pt x="426" y="4183"/>
                      <a:pt x="462" y="4133"/>
                    </a:cubicBezTo>
                    <a:lnTo>
                      <a:pt x="491" y="0"/>
                    </a:lnTo>
                    <a:close/>
                    <a:moveTo>
                      <a:pt x="2" y="5279"/>
                    </a:moveTo>
                    <a:cubicBezTo>
                      <a:pt x="1" y="5291"/>
                      <a:pt x="1" y="5304"/>
                      <a:pt x="1" y="5323"/>
                    </a:cubicBezTo>
                    <a:lnTo>
                      <a:pt x="1" y="5431"/>
                    </a:lnTo>
                    <a:lnTo>
                      <a:pt x="2" y="5279"/>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35" name="Google Shape;4363;p40">
                <a:extLst>
                  <a:ext uri="{FF2B5EF4-FFF2-40B4-BE49-F238E27FC236}">
                    <a16:creationId xmlns:a16="http://schemas.microsoft.com/office/drawing/2014/main" id="{C3CF6245-DAF5-B42B-A8C1-2F67CBC1093D}"/>
                  </a:ext>
                </a:extLst>
              </p:cNvPr>
              <p:cNvSpPr/>
              <p:nvPr/>
            </p:nvSpPr>
            <p:spPr>
              <a:xfrm>
                <a:off x="4427175" y="721700"/>
                <a:ext cx="185750" cy="145725"/>
              </a:xfrm>
              <a:custGeom>
                <a:avLst/>
                <a:gdLst/>
                <a:ahLst/>
                <a:cxnLst/>
                <a:rect l="l" t="t" r="r" b="b"/>
                <a:pathLst>
                  <a:path w="7430" h="5829" extrusionOk="0">
                    <a:moveTo>
                      <a:pt x="7429" y="1"/>
                    </a:moveTo>
                    <a:lnTo>
                      <a:pt x="29" y="1696"/>
                    </a:lnTo>
                    <a:lnTo>
                      <a:pt x="1" y="5828"/>
                    </a:lnTo>
                    <a:lnTo>
                      <a:pt x="7400" y="4133"/>
                    </a:lnTo>
                    <a:lnTo>
                      <a:pt x="7429" y="1"/>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36" name="Google Shape;4364;p40">
                <a:extLst>
                  <a:ext uri="{FF2B5EF4-FFF2-40B4-BE49-F238E27FC236}">
                    <a16:creationId xmlns:a16="http://schemas.microsoft.com/office/drawing/2014/main" id="{ED343C26-76A0-E77F-92DF-810EA901D482}"/>
                  </a:ext>
                </a:extLst>
              </p:cNvPr>
              <p:cNvSpPr/>
              <p:nvPr/>
            </p:nvSpPr>
            <p:spPr>
              <a:xfrm>
                <a:off x="4400300" y="686900"/>
                <a:ext cx="27625" cy="180525"/>
              </a:xfrm>
              <a:custGeom>
                <a:avLst/>
                <a:gdLst/>
                <a:ahLst/>
                <a:cxnLst/>
                <a:rect l="l" t="t" r="r" b="b"/>
                <a:pathLst>
                  <a:path w="1105" h="7221" extrusionOk="0">
                    <a:moveTo>
                      <a:pt x="30" y="1"/>
                    </a:moveTo>
                    <a:lnTo>
                      <a:pt x="1" y="4133"/>
                    </a:lnTo>
                    <a:cubicBezTo>
                      <a:pt x="1" y="5201"/>
                      <a:pt x="369" y="6247"/>
                      <a:pt x="1076" y="7220"/>
                    </a:cubicBezTo>
                    <a:lnTo>
                      <a:pt x="1104" y="3088"/>
                    </a:lnTo>
                    <a:cubicBezTo>
                      <a:pt x="527" y="2294"/>
                      <a:pt x="174" y="1458"/>
                      <a:pt x="66" y="599"/>
                    </a:cubicBezTo>
                    <a:cubicBezTo>
                      <a:pt x="44" y="397"/>
                      <a:pt x="30" y="195"/>
                      <a:pt x="30" y="1"/>
                    </a:cubicBez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37" name="Google Shape;4365;p40">
                <a:extLst>
                  <a:ext uri="{FF2B5EF4-FFF2-40B4-BE49-F238E27FC236}">
                    <a16:creationId xmlns:a16="http://schemas.microsoft.com/office/drawing/2014/main" id="{03FE2B2E-0A59-EAC0-2FEA-40C53379D282}"/>
                  </a:ext>
                </a:extLst>
              </p:cNvPr>
              <p:cNvSpPr/>
              <p:nvPr/>
            </p:nvSpPr>
            <p:spPr>
              <a:xfrm>
                <a:off x="4390750" y="609200"/>
                <a:ext cx="222175" cy="154900"/>
              </a:xfrm>
              <a:custGeom>
                <a:avLst/>
                <a:gdLst/>
                <a:ahLst/>
                <a:cxnLst/>
                <a:rect l="l" t="t" r="r" b="b"/>
                <a:pathLst>
                  <a:path w="8887" h="6196" extrusionOk="0">
                    <a:moveTo>
                      <a:pt x="1530" y="0"/>
                    </a:moveTo>
                    <a:cubicBezTo>
                      <a:pt x="1" y="2049"/>
                      <a:pt x="94" y="4277"/>
                      <a:pt x="1486" y="6196"/>
                    </a:cubicBezTo>
                    <a:lnTo>
                      <a:pt x="8886" y="4508"/>
                    </a:lnTo>
                    <a:cubicBezTo>
                      <a:pt x="8244" y="3686"/>
                      <a:pt x="8180" y="2726"/>
                      <a:pt x="8843" y="1839"/>
                    </a:cubicBezTo>
                    <a:lnTo>
                      <a:pt x="1530" y="0"/>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grpSp>
        <p:grpSp>
          <p:nvGrpSpPr>
            <p:cNvPr id="27" name="Google Shape;4366;p40">
              <a:extLst>
                <a:ext uri="{FF2B5EF4-FFF2-40B4-BE49-F238E27FC236}">
                  <a16:creationId xmlns:a16="http://schemas.microsoft.com/office/drawing/2014/main" id="{E75781BD-D265-0788-9010-DECEB7D2D1F1}"/>
                </a:ext>
              </a:extLst>
            </p:cNvPr>
            <p:cNvGrpSpPr/>
            <p:nvPr/>
          </p:nvGrpSpPr>
          <p:grpSpPr>
            <a:xfrm>
              <a:off x="6012699" y="624883"/>
              <a:ext cx="258950" cy="209025"/>
              <a:chOff x="4427350" y="850800"/>
              <a:chExt cx="258950" cy="209025"/>
            </a:xfrm>
          </p:grpSpPr>
          <p:sp>
            <p:nvSpPr>
              <p:cNvPr id="31" name="Google Shape;4367;p40">
                <a:extLst>
                  <a:ext uri="{FF2B5EF4-FFF2-40B4-BE49-F238E27FC236}">
                    <a16:creationId xmlns:a16="http://schemas.microsoft.com/office/drawing/2014/main" id="{35866963-482E-C66F-ED36-93CF644BB69E}"/>
                  </a:ext>
                </a:extLst>
              </p:cNvPr>
              <p:cNvSpPr/>
              <p:nvPr/>
            </p:nvSpPr>
            <p:spPr>
              <a:xfrm>
                <a:off x="4427350" y="893175"/>
                <a:ext cx="179975" cy="166650"/>
              </a:xfrm>
              <a:custGeom>
                <a:avLst/>
                <a:gdLst/>
                <a:ahLst/>
                <a:cxnLst/>
                <a:rect l="l" t="t" r="r" b="b"/>
                <a:pathLst>
                  <a:path w="7199" h="6666" extrusionOk="0">
                    <a:moveTo>
                      <a:pt x="30" y="1"/>
                    </a:moveTo>
                    <a:lnTo>
                      <a:pt x="1" y="2453"/>
                    </a:lnTo>
                    <a:cubicBezTo>
                      <a:pt x="679" y="3398"/>
                      <a:pt x="1681" y="4271"/>
                      <a:pt x="2958" y="5006"/>
                    </a:cubicBezTo>
                    <a:lnTo>
                      <a:pt x="3181" y="5136"/>
                    </a:lnTo>
                    <a:lnTo>
                      <a:pt x="3261" y="5179"/>
                    </a:lnTo>
                    <a:lnTo>
                      <a:pt x="3412" y="5259"/>
                    </a:lnTo>
                    <a:lnTo>
                      <a:pt x="3506" y="5309"/>
                    </a:lnTo>
                    <a:lnTo>
                      <a:pt x="3650" y="5381"/>
                    </a:lnTo>
                    <a:lnTo>
                      <a:pt x="3751" y="5432"/>
                    </a:lnTo>
                    <a:lnTo>
                      <a:pt x="3888" y="5497"/>
                    </a:lnTo>
                    <a:lnTo>
                      <a:pt x="3996" y="5547"/>
                    </a:lnTo>
                    <a:lnTo>
                      <a:pt x="4133" y="5612"/>
                    </a:lnTo>
                    <a:lnTo>
                      <a:pt x="4249" y="5670"/>
                    </a:lnTo>
                    <a:lnTo>
                      <a:pt x="4386" y="5727"/>
                    </a:lnTo>
                    <a:lnTo>
                      <a:pt x="4509" y="5778"/>
                    </a:lnTo>
                    <a:lnTo>
                      <a:pt x="4646" y="5836"/>
                    </a:lnTo>
                    <a:lnTo>
                      <a:pt x="4768" y="5886"/>
                    </a:lnTo>
                    <a:lnTo>
                      <a:pt x="4912" y="5944"/>
                    </a:lnTo>
                    <a:lnTo>
                      <a:pt x="4920" y="5944"/>
                    </a:lnTo>
                    <a:lnTo>
                      <a:pt x="4948" y="5958"/>
                    </a:lnTo>
                    <a:cubicBezTo>
                      <a:pt x="5049" y="5994"/>
                      <a:pt x="5158" y="6038"/>
                      <a:pt x="5266" y="6074"/>
                    </a:cubicBezTo>
                    <a:lnTo>
                      <a:pt x="5360" y="6110"/>
                    </a:lnTo>
                    <a:cubicBezTo>
                      <a:pt x="5475" y="6153"/>
                      <a:pt x="5598" y="6203"/>
                      <a:pt x="5720" y="6240"/>
                    </a:cubicBezTo>
                    <a:lnTo>
                      <a:pt x="5735" y="6247"/>
                    </a:lnTo>
                    <a:cubicBezTo>
                      <a:pt x="5857" y="6283"/>
                      <a:pt x="5973" y="6319"/>
                      <a:pt x="6095" y="6362"/>
                    </a:cubicBezTo>
                    <a:lnTo>
                      <a:pt x="6189" y="6391"/>
                    </a:lnTo>
                    <a:cubicBezTo>
                      <a:pt x="6319" y="6427"/>
                      <a:pt x="6441" y="6463"/>
                      <a:pt x="6571" y="6499"/>
                    </a:cubicBezTo>
                    <a:cubicBezTo>
                      <a:pt x="6651" y="6528"/>
                      <a:pt x="6737" y="6550"/>
                      <a:pt x="6816" y="6571"/>
                    </a:cubicBezTo>
                    <a:lnTo>
                      <a:pt x="6867" y="6586"/>
                    </a:lnTo>
                    <a:cubicBezTo>
                      <a:pt x="6968" y="6615"/>
                      <a:pt x="7069" y="6636"/>
                      <a:pt x="7170" y="6665"/>
                    </a:cubicBezTo>
                    <a:lnTo>
                      <a:pt x="7199" y="4213"/>
                    </a:lnTo>
                    <a:lnTo>
                      <a:pt x="6910" y="4133"/>
                    </a:lnTo>
                    <a:lnTo>
                      <a:pt x="6853" y="4119"/>
                    </a:lnTo>
                    <a:lnTo>
                      <a:pt x="6607" y="4054"/>
                    </a:lnTo>
                    <a:cubicBezTo>
                      <a:pt x="6485" y="4018"/>
                      <a:pt x="6355" y="3975"/>
                      <a:pt x="6225" y="3939"/>
                    </a:cubicBezTo>
                    <a:lnTo>
                      <a:pt x="6131" y="3910"/>
                    </a:lnTo>
                    <a:cubicBezTo>
                      <a:pt x="6009" y="3874"/>
                      <a:pt x="5893" y="3831"/>
                      <a:pt x="5771" y="3795"/>
                    </a:cubicBezTo>
                    <a:lnTo>
                      <a:pt x="5756" y="3787"/>
                    </a:lnTo>
                    <a:cubicBezTo>
                      <a:pt x="5634" y="3744"/>
                      <a:pt x="5511" y="3701"/>
                      <a:pt x="5396" y="3657"/>
                    </a:cubicBezTo>
                    <a:lnTo>
                      <a:pt x="5302" y="3629"/>
                    </a:lnTo>
                    <a:cubicBezTo>
                      <a:pt x="5194" y="3585"/>
                      <a:pt x="5085" y="3549"/>
                      <a:pt x="4977" y="3506"/>
                    </a:cubicBezTo>
                    <a:lnTo>
                      <a:pt x="4941" y="3492"/>
                    </a:lnTo>
                    <a:lnTo>
                      <a:pt x="4804" y="3434"/>
                    </a:lnTo>
                    <a:lnTo>
                      <a:pt x="4682" y="3383"/>
                    </a:lnTo>
                    <a:lnTo>
                      <a:pt x="4545" y="3326"/>
                    </a:lnTo>
                    <a:lnTo>
                      <a:pt x="4422" y="3275"/>
                    </a:lnTo>
                    <a:lnTo>
                      <a:pt x="4285" y="3218"/>
                    </a:lnTo>
                    <a:lnTo>
                      <a:pt x="4170" y="3160"/>
                    </a:lnTo>
                    <a:lnTo>
                      <a:pt x="4032" y="3102"/>
                    </a:lnTo>
                    <a:lnTo>
                      <a:pt x="3924" y="3044"/>
                    </a:lnTo>
                    <a:lnTo>
                      <a:pt x="3787" y="2980"/>
                    </a:lnTo>
                    <a:lnTo>
                      <a:pt x="3679" y="2929"/>
                    </a:lnTo>
                    <a:cubicBezTo>
                      <a:pt x="3636" y="2907"/>
                      <a:pt x="3585" y="2879"/>
                      <a:pt x="3542" y="2857"/>
                    </a:cubicBezTo>
                    <a:lnTo>
                      <a:pt x="3448" y="2806"/>
                    </a:lnTo>
                    <a:cubicBezTo>
                      <a:pt x="3398" y="2778"/>
                      <a:pt x="3347" y="2749"/>
                      <a:pt x="3297" y="2727"/>
                    </a:cubicBezTo>
                    <a:lnTo>
                      <a:pt x="3217" y="2684"/>
                    </a:lnTo>
                    <a:lnTo>
                      <a:pt x="2994" y="2554"/>
                    </a:lnTo>
                    <a:cubicBezTo>
                      <a:pt x="1717" y="1818"/>
                      <a:pt x="715" y="946"/>
                      <a:pt x="30" y="1"/>
                    </a:cubicBez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32" name="Google Shape;4368;p40">
                <a:extLst>
                  <a:ext uri="{FF2B5EF4-FFF2-40B4-BE49-F238E27FC236}">
                    <a16:creationId xmlns:a16="http://schemas.microsoft.com/office/drawing/2014/main" id="{FB047B65-FDD2-58E4-863F-454F377ACD55}"/>
                  </a:ext>
                </a:extLst>
              </p:cNvPr>
              <p:cNvSpPr/>
              <p:nvPr/>
            </p:nvSpPr>
            <p:spPr>
              <a:xfrm>
                <a:off x="4427900" y="850800"/>
                <a:ext cx="258400" cy="147700"/>
              </a:xfrm>
              <a:custGeom>
                <a:avLst/>
                <a:gdLst/>
                <a:ahLst/>
                <a:cxnLst/>
                <a:rect l="l" t="t" r="r" b="b"/>
                <a:pathLst>
                  <a:path w="10336" h="5908" extrusionOk="0">
                    <a:moveTo>
                      <a:pt x="7400" y="1"/>
                    </a:moveTo>
                    <a:lnTo>
                      <a:pt x="0" y="1696"/>
                    </a:lnTo>
                    <a:cubicBezTo>
                      <a:pt x="686" y="2641"/>
                      <a:pt x="1688" y="3513"/>
                      <a:pt x="2957" y="4249"/>
                    </a:cubicBezTo>
                    <a:cubicBezTo>
                      <a:pt x="4140" y="4934"/>
                      <a:pt x="5561" y="5497"/>
                      <a:pt x="7184" y="5908"/>
                    </a:cubicBezTo>
                    <a:lnTo>
                      <a:pt x="10336" y="1681"/>
                    </a:lnTo>
                    <a:cubicBezTo>
                      <a:pt x="9715" y="1530"/>
                      <a:pt x="9124" y="1299"/>
                      <a:pt x="8569" y="989"/>
                    </a:cubicBezTo>
                    <a:cubicBezTo>
                      <a:pt x="8122" y="737"/>
                      <a:pt x="7725" y="405"/>
                      <a:pt x="7400" y="1"/>
                    </a:cubicBez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33" name="Google Shape;4369;p40">
                <a:extLst>
                  <a:ext uri="{FF2B5EF4-FFF2-40B4-BE49-F238E27FC236}">
                    <a16:creationId xmlns:a16="http://schemas.microsoft.com/office/drawing/2014/main" id="{16422FB6-2AD6-6F8F-5472-41A364C5E142}"/>
                  </a:ext>
                </a:extLst>
              </p:cNvPr>
              <p:cNvSpPr/>
              <p:nvPr/>
            </p:nvSpPr>
            <p:spPr>
              <a:xfrm>
                <a:off x="4606775" y="892825"/>
                <a:ext cx="79525" cy="167000"/>
              </a:xfrm>
              <a:custGeom>
                <a:avLst/>
                <a:gdLst/>
                <a:ahLst/>
                <a:cxnLst/>
                <a:rect l="l" t="t" r="r" b="b"/>
                <a:pathLst>
                  <a:path w="3181" h="6680" extrusionOk="0">
                    <a:moveTo>
                      <a:pt x="3181" y="0"/>
                    </a:moveTo>
                    <a:lnTo>
                      <a:pt x="29" y="4227"/>
                    </a:lnTo>
                    <a:lnTo>
                      <a:pt x="0" y="6679"/>
                    </a:lnTo>
                    <a:lnTo>
                      <a:pt x="3181" y="2467"/>
                    </a:lnTo>
                    <a:lnTo>
                      <a:pt x="3181" y="0"/>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grpSp>
        <p:grpSp>
          <p:nvGrpSpPr>
            <p:cNvPr id="28" name="Google Shape;4370;p40">
              <a:extLst>
                <a:ext uri="{FF2B5EF4-FFF2-40B4-BE49-F238E27FC236}">
                  <a16:creationId xmlns:a16="http://schemas.microsoft.com/office/drawing/2014/main" id="{30A55CEB-E641-0A30-65A3-BF9897C97E93}"/>
                </a:ext>
              </a:extLst>
            </p:cNvPr>
            <p:cNvGrpSpPr/>
            <p:nvPr/>
          </p:nvGrpSpPr>
          <p:grpSpPr>
            <a:xfrm>
              <a:off x="6192527" y="709277"/>
              <a:ext cx="269050" cy="141925"/>
              <a:chOff x="4703050" y="934300"/>
              <a:chExt cx="269050" cy="141925"/>
            </a:xfrm>
          </p:grpSpPr>
          <p:sp>
            <p:nvSpPr>
              <p:cNvPr id="29" name="Google Shape;4371;p40">
                <a:extLst>
                  <a:ext uri="{FF2B5EF4-FFF2-40B4-BE49-F238E27FC236}">
                    <a16:creationId xmlns:a16="http://schemas.microsoft.com/office/drawing/2014/main" id="{6FEBFB53-7009-82DC-AF58-79DD294771CE}"/>
                  </a:ext>
                </a:extLst>
              </p:cNvPr>
              <p:cNvSpPr/>
              <p:nvPr/>
            </p:nvSpPr>
            <p:spPr>
              <a:xfrm>
                <a:off x="4704500" y="934300"/>
                <a:ext cx="267600" cy="122600"/>
              </a:xfrm>
              <a:custGeom>
                <a:avLst/>
                <a:gdLst/>
                <a:ahLst/>
                <a:cxnLst/>
                <a:rect l="l" t="t" r="r" b="b"/>
                <a:pathLst>
                  <a:path w="10704" h="4904" extrusionOk="0">
                    <a:moveTo>
                      <a:pt x="7761" y="0"/>
                    </a:moveTo>
                    <a:cubicBezTo>
                      <a:pt x="6993" y="194"/>
                      <a:pt x="6208" y="291"/>
                      <a:pt x="5423" y="291"/>
                    </a:cubicBezTo>
                    <a:cubicBezTo>
                      <a:pt x="4661" y="291"/>
                      <a:pt x="3899" y="199"/>
                      <a:pt x="3152" y="15"/>
                    </a:cubicBezTo>
                    <a:lnTo>
                      <a:pt x="0" y="4248"/>
                    </a:lnTo>
                    <a:cubicBezTo>
                      <a:pt x="1790" y="4685"/>
                      <a:pt x="3617" y="4903"/>
                      <a:pt x="5444" y="4903"/>
                    </a:cubicBezTo>
                    <a:cubicBezTo>
                      <a:pt x="7209" y="4903"/>
                      <a:pt x="8974" y="4699"/>
                      <a:pt x="10703" y="4292"/>
                    </a:cubicBezTo>
                    <a:lnTo>
                      <a:pt x="7761" y="0"/>
                    </a:ln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sp>
            <p:nvSpPr>
              <p:cNvPr id="30" name="Google Shape;4372;p40">
                <a:extLst>
                  <a:ext uri="{FF2B5EF4-FFF2-40B4-BE49-F238E27FC236}">
                    <a16:creationId xmlns:a16="http://schemas.microsoft.com/office/drawing/2014/main" id="{5D49391D-9CF6-37E1-0195-B23ED079D358}"/>
                  </a:ext>
                </a:extLst>
              </p:cNvPr>
              <p:cNvSpPr/>
              <p:nvPr/>
            </p:nvSpPr>
            <p:spPr>
              <a:xfrm>
                <a:off x="4703050" y="1040675"/>
                <a:ext cx="268875" cy="35550"/>
              </a:xfrm>
              <a:custGeom>
                <a:avLst/>
                <a:gdLst/>
                <a:ahLst/>
                <a:cxnLst/>
                <a:rect l="l" t="t" r="r" b="b"/>
                <a:pathLst>
                  <a:path w="10755" h="1422" extrusionOk="0">
                    <a:moveTo>
                      <a:pt x="29" y="1"/>
                    </a:moveTo>
                    <a:lnTo>
                      <a:pt x="1" y="772"/>
                    </a:lnTo>
                    <a:cubicBezTo>
                      <a:pt x="130" y="808"/>
                      <a:pt x="260" y="837"/>
                      <a:pt x="390" y="866"/>
                    </a:cubicBezTo>
                    <a:lnTo>
                      <a:pt x="513" y="895"/>
                    </a:lnTo>
                    <a:lnTo>
                      <a:pt x="787" y="953"/>
                    </a:lnTo>
                    <a:lnTo>
                      <a:pt x="859" y="967"/>
                    </a:lnTo>
                    <a:lnTo>
                      <a:pt x="938" y="981"/>
                    </a:lnTo>
                    <a:lnTo>
                      <a:pt x="1104" y="1017"/>
                    </a:lnTo>
                    <a:cubicBezTo>
                      <a:pt x="1162" y="1025"/>
                      <a:pt x="1219" y="1039"/>
                      <a:pt x="1277" y="1046"/>
                    </a:cubicBezTo>
                    <a:lnTo>
                      <a:pt x="1443" y="1075"/>
                    </a:lnTo>
                    <a:lnTo>
                      <a:pt x="1616" y="1111"/>
                    </a:lnTo>
                    <a:lnTo>
                      <a:pt x="1782" y="1133"/>
                    </a:lnTo>
                    <a:lnTo>
                      <a:pt x="1955" y="1162"/>
                    </a:lnTo>
                    <a:lnTo>
                      <a:pt x="2121" y="1191"/>
                    </a:lnTo>
                    <a:lnTo>
                      <a:pt x="2215" y="1205"/>
                    </a:lnTo>
                    <a:lnTo>
                      <a:pt x="2294" y="1212"/>
                    </a:lnTo>
                    <a:lnTo>
                      <a:pt x="2453" y="1234"/>
                    </a:lnTo>
                    <a:lnTo>
                      <a:pt x="2633" y="1256"/>
                    </a:lnTo>
                    <a:lnTo>
                      <a:pt x="2792" y="1277"/>
                    </a:lnTo>
                    <a:lnTo>
                      <a:pt x="2972" y="1299"/>
                    </a:lnTo>
                    <a:lnTo>
                      <a:pt x="3131" y="1313"/>
                    </a:lnTo>
                    <a:lnTo>
                      <a:pt x="3311" y="1328"/>
                    </a:lnTo>
                    <a:lnTo>
                      <a:pt x="3470" y="1342"/>
                    </a:lnTo>
                    <a:lnTo>
                      <a:pt x="3542" y="1349"/>
                    </a:lnTo>
                    <a:cubicBezTo>
                      <a:pt x="3578" y="1349"/>
                      <a:pt x="3614" y="1356"/>
                      <a:pt x="3650" y="1356"/>
                    </a:cubicBezTo>
                    <a:lnTo>
                      <a:pt x="3809" y="1371"/>
                    </a:lnTo>
                    <a:lnTo>
                      <a:pt x="3989" y="1385"/>
                    </a:lnTo>
                    <a:lnTo>
                      <a:pt x="4148" y="1393"/>
                    </a:lnTo>
                    <a:lnTo>
                      <a:pt x="4328" y="1400"/>
                    </a:lnTo>
                    <a:lnTo>
                      <a:pt x="4487" y="1407"/>
                    </a:lnTo>
                    <a:lnTo>
                      <a:pt x="4667" y="1414"/>
                    </a:lnTo>
                    <a:lnTo>
                      <a:pt x="4826" y="1421"/>
                    </a:lnTo>
                    <a:lnTo>
                      <a:pt x="6362" y="1421"/>
                    </a:lnTo>
                    <a:lnTo>
                      <a:pt x="6571" y="1407"/>
                    </a:lnTo>
                    <a:lnTo>
                      <a:pt x="6722" y="1400"/>
                    </a:lnTo>
                    <a:lnTo>
                      <a:pt x="6932" y="1393"/>
                    </a:lnTo>
                    <a:lnTo>
                      <a:pt x="7083" y="1378"/>
                    </a:lnTo>
                    <a:lnTo>
                      <a:pt x="7292" y="1364"/>
                    </a:lnTo>
                    <a:lnTo>
                      <a:pt x="7436" y="1349"/>
                    </a:lnTo>
                    <a:lnTo>
                      <a:pt x="7660" y="1335"/>
                    </a:lnTo>
                    <a:lnTo>
                      <a:pt x="7768" y="1320"/>
                    </a:lnTo>
                    <a:lnTo>
                      <a:pt x="7790" y="1320"/>
                    </a:lnTo>
                    <a:cubicBezTo>
                      <a:pt x="7927" y="1313"/>
                      <a:pt x="8057" y="1292"/>
                      <a:pt x="8187" y="1277"/>
                    </a:cubicBezTo>
                    <a:lnTo>
                      <a:pt x="8280" y="1270"/>
                    </a:lnTo>
                    <a:cubicBezTo>
                      <a:pt x="8381" y="1256"/>
                      <a:pt x="8490" y="1241"/>
                      <a:pt x="8590" y="1227"/>
                    </a:cubicBezTo>
                    <a:lnTo>
                      <a:pt x="8713" y="1212"/>
                    </a:lnTo>
                    <a:cubicBezTo>
                      <a:pt x="8821" y="1198"/>
                      <a:pt x="8922" y="1183"/>
                      <a:pt x="9023" y="1162"/>
                    </a:cubicBezTo>
                    <a:lnTo>
                      <a:pt x="9110" y="1155"/>
                    </a:lnTo>
                    <a:cubicBezTo>
                      <a:pt x="9240" y="1133"/>
                      <a:pt x="9369" y="1104"/>
                      <a:pt x="9499" y="1082"/>
                    </a:cubicBezTo>
                    <a:lnTo>
                      <a:pt x="9521" y="1082"/>
                    </a:lnTo>
                    <a:lnTo>
                      <a:pt x="9564" y="1075"/>
                    </a:lnTo>
                    <a:cubicBezTo>
                      <a:pt x="9752" y="1039"/>
                      <a:pt x="9939" y="1003"/>
                      <a:pt x="10120" y="967"/>
                    </a:cubicBezTo>
                    <a:lnTo>
                      <a:pt x="10156" y="960"/>
                    </a:lnTo>
                    <a:cubicBezTo>
                      <a:pt x="10350" y="917"/>
                      <a:pt x="10538" y="873"/>
                      <a:pt x="10725" y="830"/>
                    </a:cubicBezTo>
                    <a:lnTo>
                      <a:pt x="10754" y="51"/>
                    </a:lnTo>
                    <a:lnTo>
                      <a:pt x="10754" y="51"/>
                    </a:lnTo>
                    <a:cubicBezTo>
                      <a:pt x="10574" y="87"/>
                      <a:pt x="10379" y="123"/>
                      <a:pt x="10192" y="166"/>
                    </a:cubicBezTo>
                    <a:lnTo>
                      <a:pt x="10156" y="174"/>
                    </a:lnTo>
                    <a:cubicBezTo>
                      <a:pt x="9968" y="217"/>
                      <a:pt x="9781" y="253"/>
                      <a:pt x="9593" y="282"/>
                    </a:cubicBezTo>
                    <a:lnTo>
                      <a:pt x="9535" y="296"/>
                    </a:lnTo>
                    <a:cubicBezTo>
                      <a:pt x="9405" y="318"/>
                      <a:pt x="9276" y="340"/>
                      <a:pt x="9146" y="361"/>
                    </a:cubicBezTo>
                    <a:cubicBezTo>
                      <a:pt x="9117" y="368"/>
                      <a:pt x="9088" y="368"/>
                      <a:pt x="9059" y="376"/>
                    </a:cubicBezTo>
                    <a:lnTo>
                      <a:pt x="8749" y="419"/>
                    </a:lnTo>
                    <a:lnTo>
                      <a:pt x="8627" y="440"/>
                    </a:lnTo>
                    <a:lnTo>
                      <a:pt x="8309" y="477"/>
                    </a:lnTo>
                    <a:lnTo>
                      <a:pt x="8223" y="491"/>
                    </a:lnTo>
                    <a:cubicBezTo>
                      <a:pt x="8093" y="505"/>
                      <a:pt x="7956" y="520"/>
                      <a:pt x="7826" y="534"/>
                    </a:cubicBezTo>
                    <a:lnTo>
                      <a:pt x="7696" y="541"/>
                    </a:lnTo>
                    <a:lnTo>
                      <a:pt x="7473" y="563"/>
                    </a:lnTo>
                    <a:lnTo>
                      <a:pt x="7328" y="578"/>
                    </a:lnTo>
                    <a:lnTo>
                      <a:pt x="7112" y="592"/>
                    </a:lnTo>
                    <a:lnTo>
                      <a:pt x="6968" y="599"/>
                    </a:lnTo>
                    <a:lnTo>
                      <a:pt x="6751" y="614"/>
                    </a:lnTo>
                    <a:lnTo>
                      <a:pt x="6607" y="628"/>
                    </a:lnTo>
                    <a:lnTo>
                      <a:pt x="6391" y="635"/>
                    </a:lnTo>
                    <a:lnTo>
                      <a:pt x="6239" y="642"/>
                    </a:lnTo>
                    <a:lnTo>
                      <a:pt x="4696" y="642"/>
                    </a:lnTo>
                    <a:lnTo>
                      <a:pt x="4515" y="635"/>
                    </a:lnTo>
                    <a:lnTo>
                      <a:pt x="4357" y="628"/>
                    </a:lnTo>
                    <a:lnTo>
                      <a:pt x="4176" y="614"/>
                    </a:lnTo>
                    <a:lnTo>
                      <a:pt x="4018" y="606"/>
                    </a:lnTo>
                    <a:lnTo>
                      <a:pt x="3838" y="592"/>
                    </a:lnTo>
                    <a:lnTo>
                      <a:pt x="3679" y="585"/>
                    </a:lnTo>
                    <a:lnTo>
                      <a:pt x="3499" y="570"/>
                    </a:lnTo>
                    <a:lnTo>
                      <a:pt x="3340" y="556"/>
                    </a:lnTo>
                    <a:lnTo>
                      <a:pt x="3160" y="534"/>
                    </a:lnTo>
                    <a:lnTo>
                      <a:pt x="3001" y="520"/>
                    </a:lnTo>
                    <a:lnTo>
                      <a:pt x="2821" y="498"/>
                    </a:lnTo>
                    <a:lnTo>
                      <a:pt x="2662" y="484"/>
                    </a:lnTo>
                    <a:lnTo>
                      <a:pt x="2482" y="462"/>
                    </a:lnTo>
                    <a:lnTo>
                      <a:pt x="2323" y="440"/>
                    </a:lnTo>
                    <a:lnTo>
                      <a:pt x="2150" y="412"/>
                    </a:lnTo>
                    <a:lnTo>
                      <a:pt x="1977" y="390"/>
                    </a:lnTo>
                    <a:lnTo>
                      <a:pt x="1811" y="361"/>
                    </a:lnTo>
                    <a:lnTo>
                      <a:pt x="1638" y="332"/>
                    </a:lnTo>
                    <a:lnTo>
                      <a:pt x="1472" y="303"/>
                    </a:lnTo>
                    <a:lnTo>
                      <a:pt x="1299" y="275"/>
                    </a:lnTo>
                    <a:lnTo>
                      <a:pt x="1133" y="239"/>
                    </a:lnTo>
                    <a:lnTo>
                      <a:pt x="960" y="210"/>
                    </a:lnTo>
                    <a:lnTo>
                      <a:pt x="816" y="174"/>
                    </a:lnTo>
                    <a:lnTo>
                      <a:pt x="541" y="116"/>
                    </a:lnTo>
                    <a:lnTo>
                      <a:pt x="419" y="87"/>
                    </a:lnTo>
                    <a:cubicBezTo>
                      <a:pt x="289" y="58"/>
                      <a:pt x="159" y="29"/>
                      <a:pt x="29" y="1"/>
                    </a:cubicBezTo>
                    <a:close/>
                  </a:path>
                </a:pathLst>
              </a:custGeom>
              <a:solidFill>
                <a:srgbClr val="0070C0"/>
              </a:solidFill>
              <a:ln>
                <a:solidFill>
                  <a:schemeClr val="tx2">
                    <a:lumMod val="50000"/>
                    <a:lumOff val="50000"/>
                  </a:schemeClr>
                </a:solidFill>
              </a:ln>
            </p:spPr>
            <p:txBody>
              <a:bodyPr spcFirstLastPara="1" wrap="square" lIns="121900" tIns="121900" rIns="121900" bIns="121900" anchor="ctr" anchorCtr="0">
                <a:noAutofit/>
              </a:bodyPr>
              <a:lstStyle/>
              <a:p>
                <a:endParaRPr sz="2400"/>
              </a:p>
            </p:txBody>
          </p:sp>
        </p:grpSp>
      </p:grpSp>
      <p:pic>
        <p:nvPicPr>
          <p:cNvPr id="45" name="Picture 44">
            <a:extLst>
              <a:ext uri="{FF2B5EF4-FFF2-40B4-BE49-F238E27FC236}">
                <a16:creationId xmlns:a16="http://schemas.microsoft.com/office/drawing/2014/main" id="{5A455A4C-4C5B-F44D-892D-9F57F1D32071}"/>
              </a:ext>
            </a:extLst>
          </p:cNvPr>
          <p:cNvPicPr>
            <a:picLocks noChangeAspect="1"/>
          </p:cNvPicPr>
          <p:nvPr/>
        </p:nvPicPr>
        <p:blipFill>
          <a:blip r:embed="rId3" cstate="print">
            <a:extLst>
              <a:ext uri="{28A0092B-C50C-407E-A947-70E740481C1C}">
                <a14:useLocalDpi xmlns:a14="http://schemas.microsoft.com/office/drawing/2010/main" val="0"/>
              </a:ext>
            </a:extLst>
          </a:blip>
          <a:srcRect l="3394" r="6551"/>
          <a:stretch/>
        </p:blipFill>
        <p:spPr>
          <a:xfrm>
            <a:off x="8764362" y="4504624"/>
            <a:ext cx="2832328" cy="1813327"/>
          </a:xfrm>
          <a:prstGeom prst="rect">
            <a:avLst/>
          </a:prstGeom>
        </p:spPr>
      </p:pic>
      <p:sp>
        <p:nvSpPr>
          <p:cNvPr id="46" name="TextBox 45">
            <a:extLst>
              <a:ext uri="{FF2B5EF4-FFF2-40B4-BE49-F238E27FC236}">
                <a16:creationId xmlns:a16="http://schemas.microsoft.com/office/drawing/2014/main" id="{233A74C7-5C97-562D-402E-30035576444D}"/>
              </a:ext>
            </a:extLst>
          </p:cNvPr>
          <p:cNvSpPr txBox="1"/>
          <p:nvPr/>
        </p:nvSpPr>
        <p:spPr>
          <a:xfrm>
            <a:off x="5856088" y="5524959"/>
            <a:ext cx="2376094" cy="646331"/>
          </a:xfrm>
          <a:prstGeom prst="rect">
            <a:avLst/>
          </a:prstGeom>
          <a:noFill/>
        </p:spPr>
        <p:txBody>
          <a:bodyPr wrap="square">
            <a:spAutoFit/>
          </a:bodyPr>
          <a:lstStyle/>
          <a:p>
            <a:r>
              <a:rPr lang="en-US" b="1" dirty="0">
                <a:latin typeface="Aptos Display" panose="020B0004020202020204" pitchFamily="34" charset="0"/>
              </a:rPr>
              <a:t>1946 - Glamour Stores</a:t>
            </a:r>
          </a:p>
        </p:txBody>
      </p:sp>
      <p:pic>
        <p:nvPicPr>
          <p:cNvPr id="47" name="Picture 46">
            <a:extLst>
              <a:ext uri="{FF2B5EF4-FFF2-40B4-BE49-F238E27FC236}">
                <a16:creationId xmlns:a16="http://schemas.microsoft.com/office/drawing/2014/main" id="{35DE528F-0DB4-D4F2-9240-D76CC46CED21}"/>
              </a:ext>
            </a:extLst>
          </p:cNvPr>
          <p:cNvPicPr>
            <a:picLocks noChangeAspect="1"/>
          </p:cNvPicPr>
          <p:nvPr/>
        </p:nvPicPr>
        <p:blipFill>
          <a:blip r:embed="rId4" cstate="print">
            <a:extLst>
              <a:ext uri="{28A0092B-C50C-407E-A947-70E740481C1C}">
                <a14:useLocalDpi xmlns:a14="http://schemas.microsoft.com/office/drawing/2010/main" val="0"/>
              </a:ext>
            </a:extLst>
          </a:blip>
          <a:srcRect l="4095" r="5343"/>
          <a:stretch/>
        </p:blipFill>
        <p:spPr>
          <a:xfrm>
            <a:off x="66713" y="2922219"/>
            <a:ext cx="2641343" cy="1941269"/>
          </a:xfrm>
          <a:prstGeom prst="rect">
            <a:avLst/>
          </a:prstGeom>
        </p:spPr>
      </p:pic>
      <p:sp>
        <p:nvSpPr>
          <p:cNvPr id="48" name="TextBox 47">
            <a:extLst>
              <a:ext uri="{FF2B5EF4-FFF2-40B4-BE49-F238E27FC236}">
                <a16:creationId xmlns:a16="http://schemas.microsoft.com/office/drawing/2014/main" id="{75B045A4-EE7A-2C8D-02B2-7D1A80F4406C}"/>
              </a:ext>
            </a:extLst>
          </p:cNvPr>
          <p:cNvSpPr txBox="1"/>
          <p:nvPr/>
        </p:nvSpPr>
        <p:spPr>
          <a:xfrm>
            <a:off x="3013772" y="3542637"/>
            <a:ext cx="2089544" cy="646331"/>
          </a:xfrm>
          <a:prstGeom prst="rect">
            <a:avLst/>
          </a:prstGeom>
          <a:noFill/>
        </p:spPr>
        <p:txBody>
          <a:bodyPr wrap="square">
            <a:spAutoFit/>
          </a:bodyPr>
          <a:lstStyle/>
          <a:p>
            <a:r>
              <a:rPr lang="en-US" b="1" dirty="0">
                <a:latin typeface="Aptos Display" panose="020B0004020202020204" pitchFamily="34" charset="0"/>
              </a:rPr>
              <a:t>1989 - First Melcom store</a:t>
            </a:r>
          </a:p>
        </p:txBody>
      </p:sp>
      <p:sp>
        <p:nvSpPr>
          <p:cNvPr id="49" name="TextBox 48">
            <a:extLst>
              <a:ext uri="{FF2B5EF4-FFF2-40B4-BE49-F238E27FC236}">
                <a16:creationId xmlns:a16="http://schemas.microsoft.com/office/drawing/2014/main" id="{6D6DB5F9-9099-9E9E-D5FE-4D743E2D3FCB}"/>
              </a:ext>
            </a:extLst>
          </p:cNvPr>
          <p:cNvSpPr txBox="1"/>
          <p:nvPr/>
        </p:nvSpPr>
        <p:spPr>
          <a:xfrm>
            <a:off x="5856088" y="1260313"/>
            <a:ext cx="2879516" cy="1415772"/>
          </a:xfrm>
          <a:prstGeom prst="rect">
            <a:avLst/>
          </a:prstGeom>
          <a:noFill/>
        </p:spPr>
        <p:txBody>
          <a:bodyPr wrap="square" lIns="91440" tIns="45720" rIns="91440" bIns="45720" rtlCol="0" anchor="t">
            <a:spAutoFit/>
          </a:bodyPr>
          <a:lstStyle/>
          <a:p>
            <a:endParaRPr lang="en-US" dirty="0">
              <a:solidFill>
                <a:srgbClr val="000000"/>
              </a:solidFill>
              <a:latin typeface="Aptos Display" panose="020B0004020202020204" pitchFamily="34" charset="0"/>
            </a:endParaRPr>
          </a:p>
          <a:p>
            <a:pPr marL="0" indent="0">
              <a:buFont typeface="Arial" panose="020B0604020202020204" pitchFamily="34" charset="0"/>
              <a:buNone/>
            </a:pPr>
            <a:r>
              <a:rPr lang="en-US" sz="2000" b="1" dirty="0">
                <a:solidFill>
                  <a:srgbClr val="000000"/>
                </a:solidFill>
                <a:latin typeface="Aptos Display"/>
              </a:rPr>
              <a:t>2</a:t>
            </a:r>
            <a:r>
              <a:rPr lang="en-US" sz="1600" b="1" dirty="0">
                <a:solidFill>
                  <a:srgbClr val="000000"/>
                </a:solidFill>
                <a:latin typeface="Aptos Display"/>
              </a:rPr>
              <a:t>009 - Melcom Plus Concept </a:t>
            </a:r>
          </a:p>
          <a:p>
            <a:pPr marL="0" indent="0">
              <a:buFont typeface="Arial" panose="020B0604020202020204" pitchFamily="34" charset="0"/>
              <a:buNone/>
            </a:pPr>
            <a:r>
              <a:rPr lang="en-US" sz="1600" b="1" dirty="0">
                <a:solidFill>
                  <a:srgbClr val="000000"/>
                </a:solidFill>
                <a:latin typeface="Aptos Display"/>
              </a:rPr>
              <a:t> Rejuvenation &amp; focus on introducing world-class brands and categories</a:t>
            </a:r>
            <a:r>
              <a:rPr lang="en-US" sz="1400" b="1" dirty="0">
                <a:solidFill>
                  <a:srgbClr val="000000"/>
                </a:solidFill>
                <a:latin typeface="Aptos Display"/>
              </a:rPr>
              <a:t>.</a:t>
            </a:r>
            <a:endParaRPr lang="en-US" sz="1400" dirty="0">
              <a:solidFill>
                <a:srgbClr val="000000"/>
              </a:solidFill>
              <a:latin typeface="Aptos"/>
            </a:endParaRPr>
          </a:p>
        </p:txBody>
      </p:sp>
    </p:spTree>
    <p:extLst>
      <p:ext uri="{BB962C8B-B14F-4D97-AF65-F5344CB8AC3E}">
        <p14:creationId xmlns:p14="http://schemas.microsoft.com/office/powerpoint/2010/main" val="634181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7" name="Rectangle 216">
            <a:extLst>
              <a:ext uri="{FF2B5EF4-FFF2-40B4-BE49-F238E27FC236}">
                <a16:creationId xmlns:a16="http://schemas.microsoft.com/office/drawing/2014/main" id="{477B3D0A-9C0E-8E65-3091-732A717D3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E76AAF-4BAE-9FF1-755E-41862EBD27F3}"/>
              </a:ext>
            </a:extLst>
          </p:cNvPr>
          <p:cNvSpPr txBox="1">
            <a:spLocks/>
          </p:cNvSpPr>
          <p:nvPr/>
        </p:nvSpPr>
        <p:spPr>
          <a:xfrm>
            <a:off x="142102" y="234057"/>
            <a:ext cx="10741039" cy="12282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dirty="0"/>
              <a:t>Our Journey…( 2021)</a:t>
            </a:r>
          </a:p>
        </p:txBody>
      </p:sp>
      <p:pic>
        <p:nvPicPr>
          <p:cNvPr id="8" name="Picture 7" descr="Melcom Mini - Dansoman is Now Open and Ready To Serve You🎉 It Is Located  Inside The Total Filling Station, Sahara Bus Stop (Opposite St Augustine  Anglican Church) Happy Shopping🎉 #MelcomGhana #WhereGhanaShops #">
            <a:extLst>
              <a:ext uri="{FF2B5EF4-FFF2-40B4-BE49-F238E27FC236}">
                <a16:creationId xmlns:a16="http://schemas.microsoft.com/office/drawing/2014/main" id="{05B15C86-7821-999F-D47F-A528A6A3F624}"/>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6940446" y="4129548"/>
            <a:ext cx="4567386" cy="2482174"/>
          </a:xfrm>
          <a:prstGeom prst="rect">
            <a:avLst/>
          </a:prstGeom>
          <a:noFill/>
        </p:spPr>
      </p:pic>
      <p:pic>
        <p:nvPicPr>
          <p:cNvPr id="4" name="object 13">
            <a:extLst>
              <a:ext uri="{FF2B5EF4-FFF2-40B4-BE49-F238E27FC236}">
                <a16:creationId xmlns:a16="http://schemas.microsoft.com/office/drawing/2014/main" id="{61896F05-A7FC-A488-6AB8-49E916BC373A}"/>
              </a:ext>
            </a:extLst>
          </p:cNvPr>
          <p:cNvPicPr>
            <a:picLocks/>
          </p:cNvPicPr>
          <p:nvPr/>
        </p:nvPicPr>
        <p:blipFill>
          <a:blip r:embed="rId3" cstate="print"/>
          <a:stretch>
            <a:fillRect/>
          </a:stretch>
        </p:blipFill>
        <p:spPr>
          <a:xfrm>
            <a:off x="6505240" y="2295806"/>
            <a:ext cx="2065720" cy="1061917"/>
          </a:xfrm>
          <a:prstGeom prst="rect">
            <a:avLst/>
          </a:prstGeom>
        </p:spPr>
      </p:pic>
      <p:sp>
        <p:nvSpPr>
          <p:cNvPr id="10" name="Rectangle 9">
            <a:extLst>
              <a:ext uri="{FF2B5EF4-FFF2-40B4-BE49-F238E27FC236}">
                <a16:creationId xmlns:a16="http://schemas.microsoft.com/office/drawing/2014/main" id="{AA7719EE-ACC9-2CF4-9590-F9B08AD56D71}"/>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210" name="Picture 209" descr="Melcom Limited - Melcom">
            <a:extLst>
              <a:ext uri="{FF2B5EF4-FFF2-40B4-BE49-F238E27FC236}">
                <a16:creationId xmlns:a16="http://schemas.microsoft.com/office/drawing/2014/main" id="{6B898A9B-1AEC-6767-7B97-AAAD65DA510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5964" y="133699"/>
            <a:ext cx="1623934" cy="465088"/>
          </a:xfrm>
          <a:prstGeom prst="rect">
            <a:avLst/>
          </a:prstGeom>
          <a:noFill/>
          <a:extLst>
            <a:ext uri="{909E8E84-426E-40DD-AFC4-6F175D3DCCD1}">
              <a14:hiddenFill xmlns:a14="http://schemas.microsoft.com/office/drawing/2010/main">
                <a:solidFill>
                  <a:srgbClr val="FFFFFF"/>
                </a:solidFill>
              </a14:hiddenFill>
            </a:ext>
          </a:extLst>
        </p:spPr>
      </p:pic>
      <p:grpSp>
        <p:nvGrpSpPr>
          <p:cNvPr id="5" name="object 10">
            <a:extLst>
              <a:ext uri="{FF2B5EF4-FFF2-40B4-BE49-F238E27FC236}">
                <a16:creationId xmlns:a16="http://schemas.microsoft.com/office/drawing/2014/main" id="{5E4DC6E4-3D6B-422E-AF7B-207C2B2F6546}"/>
              </a:ext>
            </a:extLst>
          </p:cNvPr>
          <p:cNvGrpSpPr/>
          <p:nvPr/>
        </p:nvGrpSpPr>
        <p:grpSpPr>
          <a:xfrm>
            <a:off x="8789280" y="2453590"/>
            <a:ext cx="2707543" cy="611663"/>
            <a:chOff x="2577858" y="7158950"/>
            <a:chExt cx="4531600" cy="960134"/>
          </a:xfrm>
        </p:grpSpPr>
        <p:pic>
          <p:nvPicPr>
            <p:cNvPr id="6" name="object 11">
              <a:extLst>
                <a:ext uri="{FF2B5EF4-FFF2-40B4-BE49-F238E27FC236}">
                  <a16:creationId xmlns:a16="http://schemas.microsoft.com/office/drawing/2014/main" id="{FAAC42A3-DC2D-BE09-8D4B-E578657C480D}"/>
                </a:ext>
              </a:extLst>
            </p:cNvPr>
            <p:cNvPicPr/>
            <p:nvPr/>
          </p:nvPicPr>
          <p:blipFill>
            <a:blip r:embed="rId5" cstate="print"/>
            <a:stretch>
              <a:fillRect/>
            </a:stretch>
          </p:blipFill>
          <p:spPr>
            <a:xfrm>
              <a:off x="3652075" y="7158950"/>
              <a:ext cx="3457383" cy="960134"/>
            </a:xfrm>
            <a:prstGeom prst="rect">
              <a:avLst/>
            </a:prstGeom>
          </p:spPr>
        </p:pic>
        <p:pic>
          <p:nvPicPr>
            <p:cNvPr id="7" name="object 12">
              <a:extLst>
                <a:ext uri="{FF2B5EF4-FFF2-40B4-BE49-F238E27FC236}">
                  <a16:creationId xmlns:a16="http://schemas.microsoft.com/office/drawing/2014/main" id="{1641D046-3B92-21EF-52D2-082F24579774}"/>
                </a:ext>
              </a:extLst>
            </p:cNvPr>
            <p:cNvPicPr/>
            <p:nvPr/>
          </p:nvPicPr>
          <p:blipFill>
            <a:blip r:embed="rId6" cstate="print"/>
            <a:stretch>
              <a:fillRect/>
            </a:stretch>
          </p:blipFill>
          <p:spPr>
            <a:xfrm>
              <a:off x="2577858" y="7230502"/>
              <a:ext cx="1070940" cy="815699"/>
            </a:xfrm>
            <a:prstGeom prst="rect">
              <a:avLst/>
            </a:prstGeom>
          </p:spPr>
        </p:pic>
      </p:grpSp>
      <p:grpSp>
        <p:nvGrpSpPr>
          <p:cNvPr id="9" name="Group 8">
            <a:extLst>
              <a:ext uri="{FF2B5EF4-FFF2-40B4-BE49-F238E27FC236}">
                <a16:creationId xmlns:a16="http://schemas.microsoft.com/office/drawing/2014/main" id="{174DA763-A5F4-6BDA-9B60-A8BF576BAD3B}"/>
              </a:ext>
            </a:extLst>
          </p:cNvPr>
          <p:cNvGrpSpPr/>
          <p:nvPr/>
        </p:nvGrpSpPr>
        <p:grpSpPr>
          <a:xfrm>
            <a:off x="-113517" y="1403445"/>
            <a:ext cx="7031252" cy="3548185"/>
            <a:chOff x="0" y="2267666"/>
            <a:chExt cx="4633992" cy="2379814"/>
          </a:xfrm>
        </p:grpSpPr>
        <p:sp>
          <p:nvSpPr>
            <p:cNvPr id="15" name="Freeform: Shape 14">
              <a:extLst>
                <a:ext uri="{FF2B5EF4-FFF2-40B4-BE49-F238E27FC236}">
                  <a16:creationId xmlns:a16="http://schemas.microsoft.com/office/drawing/2014/main" id="{0FB8B7D6-0817-62C0-C445-BB0FAE4B8E6F}"/>
                </a:ext>
              </a:extLst>
            </p:cNvPr>
            <p:cNvSpPr/>
            <p:nvPr/>
          </p:nvSpPr>
          <p:spPr>
            <a:xfrm>
              <a:off x="2043590" y="2267666"/>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54525" tIns="280603" rIns="254526" bIns="280602" numCol="1" spcCol="1270" anchor="ctr" anchorCtr="0">
              <a:noAutofit/>
            </a:bodyPr>
            <a:lstStyle/>
            <a:p>
              <a:pPr marL="0" lvl="0" indent="0" algn="ctr" defTabSz="933450">
                <a:lnSpc>
                  <a:spcPct val="90000"/>
                </a:lnSpc>
                <a:spcBef>
                  <a:spcPct val="0"/>
                </a:spcBef>
                <a:spcAft>
                  <a:spcPct val="35000"/>
                </a:spcAft>
                <a:buNone/>
              </a:pPr>
              <a:endParaRPr lang="en-US" sz="2100" kern="1200"/>
            </a:p>
          </p:txBody>
        </p:sp>
        <p:sp>
          <p:nvSpPr>
            <p:cNvPr id="16" name="Rectangle 15">
              <a:extLst>
                <a:ext uri="{FF2B5EF4-FFF2-40B4-BE49-F238E27FC236}">
                  <a16:creationId xmlns:a16="http://schemas.microsoft.com/office/drawing/2014/main" id="{3541B1D7-B066-BA51-FB62-660227C96EB6}"/>
                </a:ext>
              </a:extLst>
            </p:cNvPr>
            <p:cNvSpPr/>
            <p:nvPr/>
          </p:nvSpPr>
          <p:spPr>
            <a:xfrm>
              <a:off x="3197455" y="2525111"/>
              <a:ext cx="1436537" cy="77233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7" name="Freeform: Shape 16">
              <a:extLst>
                <a:ext uri="{FF2B5EF4-FFF2-40B4-BE49-F238E27FC236}">
                  <a16:creationId xmlns:a16="http://schemas.microsoft.com/office/drawing/2014/main" id="{5E724875-0063-4C8E-403E-8AC00739A0C4}"/>
                </a:ext>
              </a:extLst>
            </p:cNvPr>
            <p:cNvSpPr/>
            <p:nvPr/>
          </p:nvSpPr>
          <p:spPr>
            <a:xfrm>
              <a:off x="834118" y="2267666"/>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4515" tIns="200593" rIns="174516" bIns="200592" numCol="1" spcCol="1270" anchor="ctr" anchorCtr="0">
              <a:noAutofit/>
            </a:bodyPr>
            <a:lstStyle/>
            <a:p>
              <a:pPr marL="0" lvl="0" indent="0" algn="ctr" defTabSz="1600200">
                <a:lnSpc>
                  <a:spcPct val="90000"/>
                </a:lnSpc>
                <a:spcBef>
                  <a:spcPct val="0"/>
                </a:spcBef>
                <a:spcAft>
                  <a:spcPct val="35000"/>
                </a:spcAft>
                <a:buNone/>
              </a:pPr>
              <a:endParaRPr lang="en-US" sz="3600" kern="1200"/>
            </a:p>
          </p:txBody>
        </p:sp>
        <p:sp>
          <p:nvSpPr>
            <p:cNvPr id="18" name="Freeform: Shape 17">
              <a:extLst>
                <a:ext uri="{FF2B5EF4-FFF2-40B4-BE49-F238E27FC236}">
                  <a16:creationId xmlns:a16="http://schemas.microsoft.com/office/drawing/2014/main" id="{1CFC5490-DAA4-E085-2079-DBBC32C59711}"/>
                </a:ext>
              </a:extLst>
            </p:cNvPr>
            <p:cNvSpPr/>
            <p:nvPr/>
          </p:nvSpPr>
          <p:spPr>
            <a:xfrm>
              <a:off x="1436537" y="3360259"/>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a:solidFill>
              <a:srgbClr val="FF0000"/>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30725" tIns="356803" rIns="330726" bIns="356802" numCol="1" spcCol="1270" anchor="ctr" anchorCtr="0">
              <a:noAutofit/>
            </a:bodyPr>
            <a:lstStyle/>
            <a:p>
              <a:pPr marL="0" lvl="0" indent="0" algn="ctr" defTabSz="1822450">
                <a:lnSpc>
                  <a:spcPct val="90000"/>
                </a:lnSpc>
                <a:spcBef>
                  <a:spcPct val="0"/>
                </a:spcBef>
                <a:spcAft>
                  <a:spcPct val="35000"/>
                </a:spcAft>
                <a:buNone/>
              </a:pPr>
              <a:endParaRPr lang="en-US" sz="4100" kern="1200"/>
            </a:p>
          </p:txBody>
        </p:sp>
        <p:sp>
          <p:nvSpPr>
            <p:cNvPr id="19" name="Rectangle 18">
              <a:extLst>
                <a:ext uri="{FF2B5EF4-FFF2-40B4-BE49-F238E27FC236}">
                  <a16:creationId xmlns:a16="http://schemas.microsoft.com/office/drawing/2014/main" id="{287CE8DC-1FFA-754C-5B4F-E65F75EA4ED3}"/>
                </a:ext>
              </a:extLst>
            </p:cNvPr>
            <p:cNvSpPr/>
            <p:nvPr/>
          </p:nvSpPr>
          <p:spPr>
            <a:xfrm>
              <a:off x="0" y="3617704"/>
              <a:ext cx="1390197" cy="77233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Freeform: Shape 19">
              <a:extLst>
                <a:ext uri="{FF2B5EF4-FFF2-40B4-BE49-F238E27FC236}">
                  <a16:creationId xmlns:a16="http://schemas.microsoft.com/office/drawing/2014/main" id="{A2A30D4D-AA6C-3D31-79C8-59AE5E1CDFC3}"/>
                </a:ext>
              </a:extLst>
            </p:cNvPr>
            <p:cNvSpPr/>
            <p:nvPr/>
          </p:nvSpPr>
          <p:spPr>
            <a:xfrm>
              <a:off x="2646009" y="3360259"/>
              <a:ext cx="1119882" cy="128722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a:solidFill>
              <a:schemeClr val="bg1"/>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4515" tIns="200593" rIns="174516" bIns="200592" numCol="1" spcCol="1270" anchor="ctr" anchorCtr="0">
              <a:noAutofit/>
            </a:bodyPr>
            <a:lstStyle/>
            <a:p>
              <a:pPr marL="0" lvl="0" indent="0" algn="ctr" defTabSz="1600200">
                <a:lnSpc>
                  <a:spcPct val="90000"/>
                </a:lnSpc>
                <a:spcBef>
                  <a:spcPct val="0"/>
                </a:spcBef>
                <a:spcAft>
                  <a:spcPct val="35000"/>
                </a:spcAft>
                <a:buNone/>
              </a:pPr>
              <a:endParaRPr lang="en-US" sz="3600" kern="1200"/>
            </a:p>
          </p:txBody>
        </p:sp>
      </p:grpSp>
      <p:sp>
        <p:nvSpPr>
          <p:cNvPr id="34" name="Freeform: Shape 33">
            <a:extLst>
              <a:ext uri="{FF2B5EF4-FFF2-40B4-BE49-F238E27FC236}">
                <a16:creationId xmlns:a16="http://schemas.microsoft.com/office/drawing/2014/main" id="{5C8FF02A-C4F2-6350-DF41-5F135AE73B3F}"/>
              </a:ext>
            </a:extLst>
          </p:cNvPr>
          <p:cNvSpPr/>
          <p:nvPr/>
        </p:nvSpPr>
        <p:spPr>
          <a:xfrm>
            <a:off x="240974" y="3007618"/>
            <a:ext cx="1699220" cy="1919183"/>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a:solidFill>
            <a:srgbClr val="0070C0"/>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4515" tIns="200593" rIns="174516" bIns="200592" numCol="1" spcCol="1270" anchor="ctr" anchorCtr="0">
            <a:noAutofit/>
          </a:bodyPr>
          <a:lstStyle/>
          <a:p>
            <a:pPr lvl="0" algn="ctr"/>
            <a:r>
              <a:rPr lang="en-US" sz="1600" dirty="0">
                <a:solidFill>
                  <a:schemeClr val="tx1"/>
                </a:solidFill>
              </a:rPr>
              <a:t>Trustworthy, Reliable &amp; Calm - </a:t>
            </a:r>
            <a:r>
              <a:rPr lang="en-US" sz="1600" b="1" dirty="0">
                <a:solidFill>
                  <a:schemeClr val="tx1"/>
                </a:solidFill>
              </a:rPr>
              <a:t>BLUE</a:t>
            </a:r>
          </a:p>
        </p:txBody>
      </p:sp>
      <p:sp>
        <p:nvSpPr>
          <p:cNvPr id="42" name="TextBox 41">
            <a:extLst>
              <a:ext uri="{FF2B5EF4-FFF2-40B4-BE49-F238E27FC236}">
                <a16:creationId xmlns:a16="http://schemas.microsoft.com/office/drawing/2014/main" id="{267232C9-ACC9-768C-6FBF-DE90DD9F9066}"/>
              </a:ext>
            </a:extLst>
          </p:cNvPr>
          <p:cNvSpPr txBox="1"/>
          <p:nvPr/>
        </p:nvSpPr>
        <p:spPr>
          <a:xfrm>
            <a:off x="3888438" y="3538688"/>
            <a:ext cx="1699220" cy="830997"/>
          </a:xfrm>
          <a:prstGeom prst="rect">
            <a:avLst/>
          </a:prstGeom>
          <a:noFill/>
        </p:spPr>
        <p:txBody>
          <a:bodyPr wrap="square">
            <a:spAutoFit/>
          </a:bodyPr>
          <a:lstStyle/>
          <a:p>
            <a:pPr lvl="0" algn="ctr"/>
            <a:r>
              <a:rPr lang="en-US" sz="1600" dirty="0"/>
              <a:t>Sophisticated, PURE and Pristine - WHITE                                                           </a:t>
            </a:r>
          </a:p>
        </p:txBody>
      </p:sp>
      <p:sp>
        <p:nvSpPr>
          <p:cNvPr id="43" name="Freeform: Shape 42">
            <a:extLst>
              <a:ext uri="{FF2B5EF4-FFF2-40B4-BE49-F238E27FC236}">
                <a16:creationId xmlns:a16="http://schemas.microsoft.com/office/drawing/2014/main" id="{C481526E-D6E9-8B09-1EC3-8AE721853F0D}"/>
              </a:ext>
            </a:extLst>
          </p:cNvPr>
          <p:cNvSpPr/>
          <p:nvPr/>
        </p:nvSpPr>
        <p:spPr>
          <a:xfrm>
            <a:off x="1649111" y="4991882"/>
            <a:ext cx="2533338" cy="1632061"/>
          </a:xfrm>
          <a:custGeom>
            <a:avLst/>
            <a:gdLst>
              <a:gd name="connsiteX0" fmla="*/ 0 w 1287220"/>
              <a:gd name="connsiteY0" fmla="*/ 559941 h 1119881"/>
              <a:gd name="connsiteX1" fmla="*/ 279970 w 1287220"/>
              <a:gd name="connsiteY1" fmla="*/ 0 h 1119881"/>
              <a:gd name="connsiteX2" fmla="*/ 1007250 w 1287220"/>
              <a:gd name="connsiteY2" fmla="*/ 0 h 1119881"/>
              <a:gd name="connsiteX3" fmla="*/ 1287220 w 1287220"/>
              <a:gd name="connsiteY3" fmla="*/ 559941 h 1119881"/>
              <a:gd name="connsiteX4" fmla="*/ 1007250 w 1287220"/>
              <a:gd name="connsiteY4" fmla="*/ 1119881 h 1119881"/>
              <a:gd name="connsiteX5" fmla="*/ 279970 w 1287220"/>
              <a:gd name="connsiteY5" fmla="*/ 1119881 h 1119881"/>
              <a:gd name="connsiteX6" fmla="*/ 0 w 1287220"/>
              <a:gd name="connsiteY6" fmla="*/ 559941 h 111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20" h="1119881">
                <a:moveTo>
                  <a:pt x="643609" y="0"/>
                </a:moveTo>
                <a:lnTo>
                  <a:pt x="1287219" y="243574"/>
                </a:lnTo>
                <a:lnTo>
                  <a:pt x="1287219" y="876307"/>
                </a:lnTo>
                <a:lnTo>
                  <a:pt x="643609" y="1119881"/>
                </a:lnTo>
                <a:lnTo>
                  <a:pt x="1" y="876307"/>
                </a:lnTo>
                <a:lnTo>
                  <a:pt x="1" y="243574"/>
                </a:lnTo>
                <a:lnTo>
                  <a:pt x="643609"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30725" tIns="356803" rIns="330726" bIns="356802" numCol="1" spcCol="1270" anchor="ctr" anchorCtr="0">
            <a:noAutofit/>
          </a:bodyPr>
          <a:lstStyle/>
          <a:p>
            <a:pPr marL="0" lvl="0" indent="0" algn="ctr" defTabSz="1822450">
              <a:lnSpc>
                <a:spcPct val="90000"/>
              </a:lnSpc>
              <a:spcBef>
                <a:spcPct val="0"/>
              </a:spcBef>
              <a:spcAft>
                <a:spcPct val="35000"/>
              </a:spcAft>
              <a:buNone/>
            </a:pPr>
            <a:endParaRPr lang="en-US" sz="4100" kern="1200" dirty="0"/>
          </a:p>
        </p:txBody>
      </p:sp>
      <p:sp>
        <p:nvSpPr>
          <p:cNvPr id="45" name="TextBox 44">
            <a:extLst>
              <a:ext uri="{FF2B5EF4-FFF2-40B4-BE49-F238E27FC236}">
                <a16:creationId xmlns:a16="http://schemas.microsoft.com/office/drawing/2014/main" id="{77D050E0-64BC-FD21-C591-8222431C83C4}"/>
              </a:ext>
            </a:extLst>
          </p:cNvPr>
          <p:cNvSpPr txBox="1"/>
          <p:nvPr/>
        </p:nvSpPr>
        <p:spPr>
          <a:xfrm>
            <a:off x="1784216" y="5383653"/>
            <a:ext cx="2398233" cy="830997"/>
          </a:xfrm>
          <a:prstGeom prst="rect">
            <a:avLst/>
          </a:prstGeom>
          <a:noFill/>
        </p:spPr>
        <p:txBody>
          <a:bodyPr wrap="square">
            <a:spAutoFit/>
          </a:bodyPr>
          <a:lstStyle/>
          <a:p>
            <a:pPr lvl="0" algn="ctr"/>
            <a:r>
              <a:rPr lang="en-US" sz="1600" dirty="0"/>
              <a:t>New concept Melcom Mini stores 7 am to 11 pm, neighborhood store</a:t>
            </a:r>
          </a:p>
        </p:txBody>
      </p:sp>
      <p:pic>
        <p:nvPicPr>
          <p:cNvPr id="46" name="Picture 45" descr="Melcom Mini - Dansoman is Now Open and Ready To Serve You🎉 It Is Located  Inside The Total Filling Station, Sahara Bus Stop (Opposite St Augustine  Anglican Church) Happy Shopping🎉 #MelcomGhana #WhereGhanaShops #">
            <a:extLst>
              <a:ext uri="{FF2B5EF4-FFF2-40B4-BE49-F238E27FC236}">
                <a16:creationId xmlns:a16="http://schemas.microsoft.com/office/drawing/2014/main" id="{E5E1C9C9-80B0-CF4F-2EED-1AD25686FE21}"/>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6917735" y="4007719"/>
            <a:ext cx="4567386" cy="2482174"/>
          </a:xfrm>
          <a:prstGeom prst="rect">
            <a:avLst/>
          </a:prstGeom>
          <a:noFill/>
        </p:spPr>
      </p:pic>
      <p:sp>
        <p:nvSpPr>
          <p:cNvPr id="54" name="TextBox 53">
            <a:extLst>
              <a:ext uri="{FF2B5EF4-FFF2-40B4-BE49-F238E27FC236}">
                <a16:creationId xmlns:a16="http://schemas.microsoft.com/office/drawing/2014/main" id="{226F881C-1B54-471E-5215-0586E111D979}"/>
              </a:ext>
            </a:extLst>
          </p:cNvPr>
          <p:cNvSpPr txBox="1"/>
          <p:nvPr/>
        </p:nvSpPr>
        <p:spPr>
          <a:xfrm>
            <a:off x="1162120" y="1957587"/>
            <a:ext cx="1680704" cy="830997"/>
          </a:xfrm>
          <a:prstGeom prst="rect">
            <a:avLst/>
          </a:prstGeom>
          <a:noFill/>
        </p:spPr>
        <p:txBody>
          <a:bodyPr wrap="square">
            <a:spAutoFit/>
          </a:bodyPr>
          <a:lstStyle/>
          <a:p>
            <a:pPr lvl="0" algn="ctr"/>
            <a:r>
              <a:rPr lang="en-US" sz="1600" dirty="0">
                <a:latin typeface="+mj-lt"/>
              </a:rPr>
              <a:t>Brand Rejuvenation - New Logo </a:t>
            </a:r>
          </a:p>
        </p:txBody>
      </p:sp>
      <p:sp>
        <p:nvSpPr>
          <p:cNvPr id="55" name="TextBox 54">
            <a:extLst>
              <a:ext uri="{FF2B5EF4-FFF2-40B4-BE49-F238E27FC236}">
                <a16:creationId xmlns:a16="http://schemas.microsoft.com/office/drawing/2014/main" id="{0EB5CD47-5CCF-611D-54BF-04AD52C79B12}"/>
              </a:ext>
            </a:extLst>
          </p:cNvPr>
          <p:cNvSpPr txBox="1"/>
          <p:nvPr/>
        </p:nvSpPr>
        <p:spPr>
          <a:xfrm>
            <a:off x="3017946" y="1802543"/>
            <a:ext cx="1699220" cy="1323439"/>
          </a:xfrm>
          <a:prstGeom prst="rect">
            <a:avLst/>
          </a:prstGeom>
          <a:noFill/>
        </p:spPr>
        <p:txBody>
          <a:bodyPr wrap="square">
            <a:spAutoFit/>
          </a:bodyPr>
          <a:lstStyle/>
          <a:p>
            <a:pPr lvl="0" algn="ctr"/>
            <a:r>
              <a:rPr lang="en-US" sz="1600" dirty="0">
                <a:latin typeface="+mj-lt"/>
              </a:rPr>
              <a:t>The new identity via its architecture and colors demonstrates it’s values of being:</a:t>
            </a:r>
          </a:p>
        </p:txBody>
      </p:sp>
      <p:sp>
        <p:nvSpPr>
          <p:cNvPr id="56" name="TextBox 55">
            <a:extLst>
              <a:ext uri="{FF2B5EF4-FFF2-40B4-BE49-F238E27FC236}">
                <a16:creationId xmlns:a16="http://schemas.microsoft.com/office/drawing/2014/main" id="{7B2BC568-2829-07BA-5537-A98F92FAA94A}"/>
              </a:ext>
            </a:extLst>
          </p:cNvPr>
          <p:cNvSpPr txBox="1"/>
          <p:nvPr/>
        </p:nvSpPr>
        <p:spPr>
          <a:xfrm>
            <a:off x="2098266" y="3562966"/>
            <a:ext cx="1571624" cy="584775"/>
          </a:xfrm>
          <a:prstGeom prst="rect">
            <a:avLst/>
          </a:prstGeom>
          <a:noFill/>
        </p:spPr>
        <p:txBody>
          <a:bodyPr wrap="square">
            <a:spAutoFit/>
          </a:bodyPr>
          <a:lstStyle/>
          <a:p>
            <a:pPr lvl="0" algn="ctr"/>
            <a:r>
              <a:rPr lang="en-US" sz="1600" dirty="0">
                <a:solidFill>
                  <a:schemeClr val="bg1"/>
                </a:solidFill>
              </a:rPr>
              <a:t>Bold, Strong &amp; Energetic - </a:t>
            </a:r>
            <a:r>
              <a:rPr lang="en-US" sz="1600" b="1" dirty="0">
                <a:solidFill>
                  <a:schemeClr val="bg1"/>
                </a:solidFill>
              </a:rPr>
              <a:t>RED</a:t>
            </a:r>
          </a:p>
        </p:txBody>
      </p:sp>
    </p:spTree>
    <p:extLst>
      <p:ext uri="{BB962C8B-B14F-4D97-AF65-F5344CB8AC3E}">
        <p14:creationId xmlns:p14="http://schemas.microsoft.com/office/powerpoint/2010/main" val="4059024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80" y="66793"/>
            <a:ext cx="4965940" cy="917412"/>
          </a:xfrm>
        </p:spPr>
        <p:txBody>
          <a:bodyPr/>
          <a:lstStyle/>
          <a:p>
            <a:r>
              <a:rPr lang="en-US" b="1" dirty="0"/>
              <a:t>Our Journey…2022</a:t>
            </a:r>
          </a:p>
        </p:txBody>
      </p:sp>
      <p:pic>
        <p:nvPicPr>
          <p:cNvPr id="5" name="Picture 4" descr="Z:\QSRs\RESTAURANT LOGOS\Pizza_Hut_logo.svg.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59794" y="896928"/>
            <a:ext cx="1418859" cy="1056610"/>
          </a:xfrm>
          <a:prstGeom prst="rect">
            <a:avLst/>
          </a:prstGeom>
          <a:noFill/>
          <a:ln>
            <a:noFill/>
          </a:ln>
        </p:spPr>
      </p:pic>
      <p:pic>
        <p:nvPicPr>
          <p:cNvPr id="9" name="Picture 8" descr="Z:\PRINCE\Giordano Logo.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63358" y="1967476"/>
            <a:ext cx="1802656" cy="861928"/>
          </a:xfrm>
          <a:prstGeom prst="rect">
            <a:avLst/>
          </a:prstGeom>
          <a:noFill/>
          <a:ln>
            <a:noFill/>
          </a:ln>
        </p:spPr>
      </p:pic>
      <p:sp>
        <p:nvSpPr>
          <p:cNvPr id="49" name="Rectangle 48">
            <a:extLst>
              <a:ext uri="{FF2B5EF4-FFF2-40B4-BE49-F238E27FC236}">
                <a16:creationId xmlns:a16="http://schemas.microsoft.com/office/drawing/2014/main" id="{51A08391-25F4-764C-CA4E-A89C8B4CDEBC}"/>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51" name="Picture 50" descr="Melcom Limited - Melcom">
            <a:extLst>
              <a:ext uri="{FF2B5EF4-FFF2-40B4-BE49-F238E27FC236}">
                <a16:creationId xmlns:a16="http://schemas.microsoft.com/office/drawing/2014/main" id="{209B36A2-D70A-36D0-D20A-EAE426E76B1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54719" y="119322"/>
            <a:ext cx="1623934" cy="46508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rcRect t="12355" r="-234" b="11345"/>
          <a:stretch/>
        </p:blipFill>
        <p:spPr>
          <a:xfrm>
            <a:off x="6027365" y="864245"/>
            <a:ext cx="4335993" cy="2246184"/>
          </a:xfrm>
          <a:prstGeom prst="rect">
            <a:avLst/>
          </a:prstGeom>
        </p:spPr>
      </p:pic>
      <p:pic>
        <p:nvPicPr>
          <p:cNvPr id="1026" name="Picture 2" descr="Journey - Free travel icons">
            <a:extLst>
              <a:ext uri="{FF2B5EF4-FFF2-40B4-BE49-F238E27FC236}">
                <a16:creationId xmlns:a16="http://schemas.microsoft.com/office/drawing/2014/main" id="{C63C5CFF-AD0B-FDD6-DBD2-A2513C7323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346" y="1005654"/>
            <a:ext cx="5290343" cy="4762971"/>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24642897-528D-E750-CB3E-D5A0323E612D}"/>
              </a:ext>
            </a:extLst>
          </p:cNvPr>
          <p:cNvGrpSpPr/>
          <p:nvPr/>
        </p:nvGrpSpPr>
        <p:grpSpPr>
          <a:xfrm>
            <a:off x="80363" y="916969"/>
            <a:ext cx="3607327" cy="1549685"/>
            <a:chOff x="1756902" y="839413"/>
            <a:chExt cx="3607327" cy="1549685"/>
          </a:xfrm>
        </p:grpSpPr>
        <p:sp>
          <p:nvSpPr>
            <p:cNvPr id="15" name="Rectangle 14">
              <a:extLst>
                <a:ext uri="{FF2B5EF4-FFF2-40B4-BE49-F238E27FC236}">
                  <a16:creationId xmlns:a16="http://schemas.microsoft.com/office/drawing/2014/main" id="{D439FEE7-D406-0098-2F90-369E00A0D166}"/>
                </a:ext>
              </a:extLst>
            </p:cNvPr>
            <p:cNvSpPr/>
            <p:nvPr/>
          </p:nvSpPr>
          <p:spPr>
            <a:xfrm>
              <a:off x="1789886" y="839413"/>
              <a:ext cx="2586582" cy="154968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6" name="TextBox 15">
              <a:extLst>
                <a:ext uri="{FF2B5EF4-FFF2-40B4-BE49-F238E27FC236}">
                  <a16:creationId xmlns:a16="http://schemas.microsoft.com/office/drawing/2014/main" id="{97C95358-646A-92A2-0AC0-6BD174EDAA47}"/>
                </a:ext>
              </a:extLst>
            </p:cNvPr>
            <p:cNvSpPr txBox="1"/>
            <p:nvPr/>
          </p:nvSpPr>
          <p:spPr>
            <a:xfrm>
              <a:off x="1756902" y="1038117"/>
              <a:ext cx="3607327" cy="917412"/>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64008" tIns="164008" rIns="164008" bIns="164008" numCol="1" spcCol="1270" anchor="ctr" anchorCtr="0">
              <a:noAutofit/>
            </a:bodyPr>
            <a:lstStyle/>
            <a:p>
              <a:pPr marL="0" lvl="0" indent="0" algn="l" defTabSz="889000">
                <a:lnSpc>
                  <a:spcPct val="100000"/>
                </a:lnSpc>
                <a:spcBef>
                  <a:spcPct val="0"/>
                </a:spcBef>
                <a:spcAft>
                  <a:spcPct val="35000"/>
                </a:spcAft>
                <a:buNone/>
              </a:pPr>
              <a:r>
                <a:rPr lang="en-US" sz="1600" b="1" kern="1200" dirty="0"/>
                <a:t>2022 – </a:t>
              </a:r>
              <a:r>
                <a:rPr lang="en-US" sz="1600" b="0" kern="1200" dirty="0"/>
                <a:t>New Concept Melcom Store, </a:t>
              </a:r>
              <a:r>
                <a:rPr lang="en-US" sz="1600" kern="1200" dirty="0"/>
                <a:t>Global Franchise </a:t>
              </a:r>
            </a:p>
          </p:txBody>
        </p:sp>
      </p:grpSp>
      <p:grpSp>
        <p:nvGrpSpPr>
          <p:cNvPr id="17" name="Group 16">
            <a:extLst>
              <a:ext uri="{FF2B5EF4-FFF2-40B4-BE49-F238E27FC236}">
                <a16:creationId xmlns:a16="http://schemas.microsoft.com/office/drawing/2014/main" id="{BC678459-DBF9-D3A9-F3D7-4A7777277BDF}"/>
              </a:ext>
            </a:extLst>
          </p:cNvPr>
          <p:cNvGrpSpPr/>
          <p:nvPr/>
        </p:nvGrpSpPr>
        <p:grpSpPr>
          <a:xfrm>
            <a:off x="1733362" y="3301294"/>
            <a:ext cx="3393273" cy="3263622"/>
            <a:chOff x="1786379" y="2776520"/>
            <a:chExt cx="3393273" cy="3263622"/>
          </a:xfrm>
        </p:grpSpPr>
        <p:sp>
          <p:nvSpPr>
            <p:cNvPr id="19" name="Rectangle 18">
              <a:extLst>
                <a:ext uri="{FF2B5EF4-FFF2-40B4-BE49-F238E27FC236}">
                  <a16:creationId xmlns:a16="http://schemas.microsoft.com/office/drawing/2014/main" id="{EE0ACB85-4AA2-12A4-33B6-519E7760984E}"/>
                </a:ext>
              </a:extLst>
            </p:cNvPr>
            <p:cNvSpPr/>
            <p:nvPr/>
          </p:nvSpPr>
          <p:spPr>
            <a:xfrm>
              <a:off x="1789886" y="2776520"/>
              <a:ext cx="2586582" cy="154968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TextBox 19">
              <a:extLst>
                <a:ext uri="{FF2B5EF4-FFF2-40B4-BE49-F238E27FC236}">
                  <a16:creationId xmlns:a16="http://schemas.microsoft.com/office/drawing/2014/main" id="{E3BFA7BF-4EFF-42C7-3D02-61585D4EDBE1}"/>
                </a:ext>
              </a:extLst>
            </p:cNvPr>
            <p:cNvSpPr txBox="1"/>
            <p:nvPr/>
          </p:nvSpPr>
          <p:spPr>
            <a:xfrm>
              <a:off x="1786379" y="4490457"/>
              <a:ext cx="3393273" cy="154968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64008" tIns="164008" rIns="164008" bIns="164008" numCol="1" spcCol="1270" anchor="ctr" anchorCtr="0">
              <a:noAutofit/>
            </a:bodyPr>
            <a:lstStyle/>
            <a:p>
              <a:r>
                <a:rPr lang="en-US" sz="1600" dirty="0">
                  <a:latin typeface="+mj-lt"/>
                </a:rPr>
                <a:t>Melcom adds more food concepts, Gym, play zones &amp; Gaming Zones to its portfolio</a:t>
              </a:r>
            </a:p>
          </p:txBody>
        </p:sp>
      </p:grpSp>
      <p:sp>
        <p:nvSpPr>
          <p:cNvPr id="22" name="TextBox 21">
            <a:extLst>
              <a:ext uri="{FF2B5EF4-FFF2-40B4-BE49-F238E27FC236}">
                <a16:creationId xmlns:a16="http://schemas.microsoft.com/office/drawing/2014/main" id="{9FD2CB3C-9B1E-723D-1C8D-A13151E9AB01}"/>
              </a:ext>
            </a:extLst>
          </p:cNvPr>
          <p:cNvSpPr txBox="1"/>
          <p:nvPr/>
        </p:nvSpPr>
        <p:spPr>
          <a:xfrm>
            <a:off x="1884027" y="4119854"/>
            <a:ext cx="3089022" cy="461665"/>
          </a:xfrm>
          <a:prstGeom prst="rect">
            <a:avLst/>
          </a:prstGeom>
          <a:noFill/>
        </p:spPr>
        <p:txBody>
          <a:bodyPr wrap="square">
            <a:spAutoFit/>
          </a:bodyPr>
          <a:lstStyle/>
          <a:p>
            <a:r>
              <a:rPr lang="en-US" sz="2400" b="1" dirty="0"/>
              <a:t>Our Journey…2023</a:t>
            </a:r>
            <a:endParaRPr lang="en-US" sz="2400" dirty="0"/>
          </a:p>
        </p:txBody>
      </p:sp>
      <p:sp>
        <p:nvSpPr>
          <p:cNvPr id="25" name="Rectangle 24">
            <a:extLst>
              <a:ext uri="{FF2B5EF4-FFF2-40B4-BE49-F238E27FC236}">
                <a16:creationId xmlns:a16="http://schemas.microsoft.com/office/drawing/2014/main" id="{980F3EE8-751B-8174-B5DD-1EDEF00E61DD}"/>
              </a:ext>
            </a:extLst>
          </p:cNvPr>
          <p:cNvSpPr/>
          <p:nvPr/>
        </p:nvSpPr>
        <p:spPr>
          <a:xfrm>
            <a:off x="5914062" y="3422947"/>
            <a:ext cx="6164591" cy="3076731"/>
          </a:xfrm>
          <a:prstGeom prst="rect">
            <a:avLst/>
          </a:prstGeom>
          <a:solidFill>
            <a:schemeClr val="bg1"/>
          </a:solidFill>
          <a:ln>
            <a:noFill/>
          </a:ln>
          <a:effectLst>
            <a:glow rad="228600">
              <a:schemeClr val="accent4">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Z:\QSRs\RESTAURANT LOGOS\HALLAB 1881_.png"/>
          <p:cNvPicPr/>
          <p:nvPr/>
        </p:nvPicPr>
        <p:blipFill>
          <a:blip r:embed="rId7" cstate="print">
            <a:extLst>
              <a:ext uri="{28A0092B-C50C-407E-A947-70E740481C1C}">
                <a14:useLocalDpi xmlns:a14="http://schemas.microsoft.com/office/drawing/2010/main" val="0"/>
              </a:ext>
            </a:extLst>
          </a:blip>
          <a:srcRect l="379" t="19185" b="26103"/>
          <a:stretch/>
        </p:blipFill>
        <p:spPr bwMode="auto">
          <a:xfrm>
            <a:off x="7932056" y="4786449"/>
            <a:ext cx="2128601" cy="768245"/>
          </a:xfrm>
          <a:prstGeom prst="rect">
            <a:avLst/>
          </a:prstGeom>
          <a:noFill/>
          <a:ln>
            <a:noFill/>
          </a:ln>
        </p:spPr>
      </p:pic>
      <p:pic>
        <p:nvPicPr>
          <p:cNvPr id="27" name="Picture 26" descr="C:\Users\advt_\Pictures\YOLE LOGO_ORIGINAL.jpg"/>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42326" y="5759054"/>
            <a:ext cx="1596685" cy="447735"/>
          </a:xfrm>
          <a:prstGeom prst="rect">
            <a:avLst/>
          </a:prstGeom>
          <a:noFill/>
          <a:ln>
            <a:noFill/>
          </a:ln>
        </p:spPr>
      </p:pic>
      <p:pic>
        <p:nvPicPr>
          <p:cNvPr id="28" name="Picture 27" descr="Z:\QSRs\RESTAURANT LOGOS\TheArtKitchen-logo-V.png"/>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27365" y="3583485"/>
            <a:ext cx="1385413" cy="869232"/>
          </a:xfrm>
          <a:prstGeom prst="rect">
            <a:avLst/>
          </a:prstGeom>
          <a:noFill/>
          <a:ln>
            <a:noFill/>
          </a:ln>
        </p:spPr>
      </p:pic>
      <p:pic>
        <p:nvPicPr>
          <p:cNvPr id="29" name="Picture 28" descr="Z:\QSRs\RESTAURANT LOGOS\ON THE ROCKS LOGO.png"/>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360819" y="3535499"/>
            <a:ext cx="1385412" cy="1135312"/>
          </a:xfrm>
          <a:prstGeom prst="rect">
            <a:avLst/>
          </a:prstGeom>
          <a:noFill/>
          <a:ln>
            <a:noFill/>
          </a:ln>
        </p:spPr>
      </p:pic>
      <p:pic>
        <p:nvPicPr>
          <p:cNvPr id="30" name="Picture 29" descr="Z:\QSRs\RESTAURANT LOGOS\CHOP BAR BY TAK LOGO.png"/>
          <p:cNvPicPr/>
          <p:nvPr/>
        </p:nvPicPr>
        <p:blipFill>
          <a:blip r:embed="rId11" cstate="print">
            <a:extLst>
              <a:ext uri="{28A0092B-C50C-407E-A947-70E740481C1C}">
                <a14:useLocalDpi xmlns:a14="http://schemas.microsoft.com/office/drawing/2010/main" val="0"/>
              </a:ext>
            </a:extLst>
          </a:blip>
          <a:srcRect l="17484" t="19812" r="18193" b="26242"/>
          <a:stretch/>
        </p:blipFill>
        <p:spPr bwMode="auto">
          <a:xfrm>
            <a:off x="7523673" y="3581999"/>
            <a:ext cx="1248141" cy="869232"/>
          </a:xfrm>
          <a:prstGeom prst="rect">
            <a:avLst/>
          </a:prstGeom>
          <a:noFill/>
          <a:ln>
            <a:noFill/>
          </a:ln>
        </p:spPr>
      </p:pic>
      <p:pic>
        <p:nvPicPr>
          <p:cNvPr id="31" name="Picture 30" descr="\\10.10.10.24\advertNew\NEW LOGOS\ARCADIA-FINAL-240x100-cm.jpg"/>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948753" y="4863081"/>
            <a:ext cx="1966849" cy="1135312"/>
          </a:xfrm>
          <a:prstGeom prst="rect">
            <a:avLst/>
          </a:prstGeom>
          <a:noFill/>
          <a:ln>
            <a:noFill/>
          </a:ln>
        </p:spPr>
      </p:pic>
      <p:pic>
        <p:nvPicPr>
          <p:cNvPr id="32" name="object 12" descr="A black and white sign with white letters&#10;&#10;AI-generated content may be incorrect.">
            <a:extLst>
              <a:ext uri="{FF2B5EF4-FFF2-40B4-BE49-F238E27FC236}">
                <a16:creationId xmlns:a16="http://schemas.microsoft.com/office/drawing/2014/main" id="{AFE9C700-F4DC-67D1-9A55-EFC23D2D82FE}"/>
              </a:ext>
            </a:extLst>
          </p:cNvPr>
          <p:cNvPicPr/>
          <p:nvPr/>
        </p:nvPicPr>
        <p:blipFill>
          <a:blip r:embed="rId13" cstate="print"/>
          <a:stretch>
            <a:fillRect/>
          </a:stretch>
        </p:blipFill>
        <p:spPr>
          <a:xfrm>
            <a:off x="8882709" y="3763502"/>
            <a:ext cx="1248142" cy="625268"/>
          </a:xfrm>
          <a:prstGeom prst="rect">
            <a:avLst/>
          </a:prstGeom>
        </p:spPr>
      </p:pic>
      <p:pic>
        <p:nvPicPr>
          <p:cNvPr id="34" name="object 15">
            <a:extLst>
              <a:ext uri="{FF2B5EF4-FFF2-40B4-BE49-F238E27FC236}">
                <a16:creationId xmlns:a16="http://schemas.microsoft.com/office/drawing/2014/main" id="{79058F43-DBB8-3506-4611-1018C8FBA88D}"/>
              </a:ext>
            </a:extLst>
          </p:cNvPr>
          <p:cNvPicPr/>
          <p:nvPr/>
        </p:nvPicPr>
        <p:blipFill>
          <a:blip r:embed="rId14" cstate="print"/>
          <a:stretch>
            <a:fillRect/>
          </a:stretch>
        </p:blipFill>
        <p:spPr>
          <a:xfrm>
            <a:off x="5914062" y="4732256"/>
            <a:ext cx="2059565" cy="787163"/>
          </a:xfrm>
          <a:prstGeom prst="rect">
            <a:avLst/>
          </a:prstGeom>
        </p:spPr>
      </p:pic>
    </p:spTree>
    <p:extLst>
      <p:ext uri="{BB962C8B-B14F-4D97-AF65-F5344CB8AC3E}">
        <p14:creationId xmlns:p14="http://schemas.microsoft.com/office/powerpoint/2010/main" val="177574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2322E5-2AD7-BDC3-FE3C-252D1DA13159}"/>
            </a:ext>
          </a:extLst>
        </p:cNvPr>
        <p:cNvGrpSpPr/>
        <p:nvPr/>
      </p:nvGrpSpPr>
      <p:grpSpPr>
        <a:xfrm>
          <a:off x="0" y="0"/>
          <a:ext cx="0" cy="0"/>
          <a:chOff x="0" y="0"/>
          <a:chExt cx="0" cy="0"/>
        </a:xfrm>
      </p:grpSpPr>
      <p:sp useBgFill="1">
        <p:nvSpPr>
          <p:cNvPr id="6168" name="Rectangle 6167">
            <a:extLst>
              <a:ext uri="{FF2B5EF4-FFF2-40B4-BE49-F238E27FC236}">
                <a16:creationId xmlns:a16="http://schemas.microsoft.com/office/drawing/2014/main" id="{591B4D25-8E48-D30A-D17B-E071D6F5CC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EDF4B5-15CD-2AA2-A449-F1041F8C9C62}"/>
              </a:ext>
            </a:extLst>
          </p:cNvPr>
          <p:cNvSpPr>
            <a:spLocks noGrp="1"/>
          </p:cNvSpPr>
          <p:nvPr>
            <p:ph type="title"/>
          </p:nvPr>
        </p:nvSpPr>
        <p:spPr>
          <a:xfrm>
            <a:off x="512914" y="754650"/>
            <a:ext cx="5279408" cy="1128068"/>
          </a:xfrm>
        </p:spPr>
        <p:txBody>
          <a:bodyPr anchor="ctr">
            <a:normAutofit/>
          </a:bodyPr>
          <a:lstStyle/>
          <a:p>
            <a:r>
              <a:rPr lang="en-US" sz="4000" b="1" dirty="0"/>
              <a:t>Our Journey …..</a:t>
            </a:r>
          </a:p>
        </p:txBody>
      </p:sp>
      <p:grpSp>
        <p:nvGrpSpPr>
          <p:cNvPr id="6170" name="Group 6169">
            <a:extLst>
              <a:ext uri="{FF2B5EF4-FFF2-40B4-BE49-F238E27FC236}">
                <a16:creationId xmlns:a16="http://schemas.microsoft.com/office/drawing/2014/main" id="{5B2C9268-EAB9-2237-1F8F-E0F9865B47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6171" name="Rectangle 6170">
              <a:extLst>
                <a:ext uri="{FF2B5EF4-FFF2-40B4-BE49-F238E27FC236}">
                  <a16:creationId xmlns:a16="http://schemas.microsoft.com/office/drawing/2014/main" id="{2EC6D668-8234-4624-E596-6648AD33A9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2" name="Rectangle 6171">
              <a:extLst>
                <a:ext uri="{FF2B5EF4-FFF2-40B4-BE49-F238E27FC236}">
                  <a16:creationId xmlns:a16="http://schemas.microsoft.com/office/drawing/2014/main" id="{1C8666E4-88F1-CF08-47C1-DFB932EF2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74" name="Rectangle 6173">
            <a:extLst>
              <a:ext uri="{FF2B5EF4-FFF2-40B4-BE49-F238E27FC236}">
                <a16:creationId xmlns:a16="http://schemas.microsoft.com/office/drawing/2014/main" id="{42898CD6-1DFB-22AD-D03D-B1B0179DBC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6" name="Rectangle 6175">
            <a:extLst>
              <a:ext uri="{FF2B5EF4-FFF2-40B4-BE49-F238E27FC236}">
                <a16:creationId xmlns:a16="http://schemas.microsoft.com/office/drawing/2014/main" id="{30ACD28F-123A-F7F4-5E69-09F7AA7CE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5196A5-74E6-9D1A-9691-42D9F0AD4612}"/>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18" name="Picture 17" descr="Melcom Limited - Melcom">
            <a:extLst>
              <a:ext uri="{FF2B5EF4-FFF2-40B4-BE49-F238E27FC236}">
                <a16:creationId xmlns:a16="http://schemas.microsoft.com/office/drawing/2014/main" id="{3D15F7E4-6E8E-5BD3-3ED5-809B5DF9E7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643" y="119322"/>
            <a:ext cx="1623934" cy="46508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Melcom Limited - Melcom">
            <a:extLst>
              <a:ext uri="{FF2B5EF4-FFF2-40B4-BE49-F238E27FC236}">
                <a16:creationId xmlns:a16="http://schemas.microsoft.com/office/drawing/2014/main" id="{DB2F84DD-6821-7553-3893-B604D3A92433}"/>
              </a:ext>
            </a:extLst>
          </p:cNvPr>
          <p:cNvPicPr>
            <a:picLocks noChangeAspect="1"/>
          </p:cNvPicPr>
          <p:nvPr/>
        </p:nvPicPr>
        <p:blipFill>
          <a:blip r:embed="rId3"/>
          <a:stretch>
            <a:fillRect/>
          </a:stretch>
        </p:blipFill>
        <p:spPr>
          <a:xfrm>
            <a:off x="10796411" y="-11642"/>
            <a:ext cx="1295400" cy="361950"/>
          </a:xfrm>
          <a:prstGeom prst="rect">
            <a:avLst/>
          </a:prstGeom>
        </p:spPr>
      </p:pic>
      <p:graphicFrame>
        <p:nvGraphicFramePr>
          <p:cNvPr id="6184" name="TextBox 9">
            <a:extLst>
              <a:ext uri="{FF2B5EF4-FFF2-40B4-BE49-F238E27FC236}">
                <a16:creationId xmlns:a16="http://schemas.microsoft.com/office/drawing/2014/main" id="{D1747B63-2705-E916-8FAF-88259FA46BE9}"/>
              </a:ext>
            </a:extLst>
          </p:cNvPr>
          <p:cNvGraphicFramePr/>
          <p:nvPr>
            <p:extLst>
              <p:ext uri="{D42A27DB-BD31-4B8C-83A1-F6EECF244321}">
                <p14:modId xmlns:p14="http://schemas.microsoft.com/office/powerpoint/2010/main" val="3533498668"/>
              </p:ext>
            </p:extLst>
          </p:nvPr>
        </p:nvGraphicFramePr>
        <p:xfrm>
          <a:off x="398403" y="1493033"/>
          <a:ext cx="6711350" cy="44935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244" name="Rectangle 6243">
            <a:extLst>
              <a:ext uri="{FF2B5EF4-FFF2-40B4-BE49-F238E27FC236}">
                <a16:creationId xmlns:a16="http://schemas.microsoft.com/office/drawing/2014/main" id="{0316D5D0-5631-3292-A33C-1B6828FD48C3}"/>
              </a:ext>
            </a:extLst>
          </p:cNvPr>
          <p:cNvSpPr/>
          <p:nvPr/>
        </p:nvSpPr>
        <p:spPr>
          <a:xfrm>
            <a:off x="7547314" y="356798"/>
            <a:ext cx="3742714" cy="62261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45" name="Picture 6244" descr="Mempeasem President on X: &quot;Everything set for the New Melcom Shop at Accra  Mall. Visit there for an amazing discount from 5:30 pm this evening  #MelcomAtAccraMall https://t.co/E0sbHbvH8Q&quot; / X">
            <a:extLst>
              <a:ext uri="{FF2B5EF4-FFF2-40B4-BE49-F238E27FC236}">
                <a16:creationId xmlns:a16="http://schemas.microsoft.com/office/drawing/2014/main" id="{519243C6-6926-12AB-1F8A-9DF5D0707DD2}"/>
              </a:ext>
            </a:extLst>
          </p:cNvPr>
          <p:cNvPicPr>
            <a:picLocks noChangeAspect="1"/>
          </p:cNvPicPr>
          <p:nvPr/>
        </p:nvPicPr>
        <p:blipFill>
          <a:blip r:embed="rId9"/>
          <a:stretch>
            <a:fillRect/>
          </a:stretch>
        </p:blipFill>
        <p:spPr>
          <a:xfrm>
            <a:off x="8107932" y="4139780"/>
            <a:ext cx="2924175" cy="1571625"/>
          </a:xfrm>
          <a:prstGeom prst="rect">
            <a:avLst/>
          </a:prstGeom>
        </p:spPr>
      </p:pic>
      <p:pic>
        <p:nvPicPr>
          <p:cNvPr id="6246" name="Picture 6245" descr="fitness festival, redefining wellness ...">
            <a:extLst>
              <a:ext uri="{FF2B5EF4-FFF2-40B4-BE49-F238E27FC236}">
                <a16:creationId xmlns:a16="http://schemas.microsoft.com/office/drawing/2014/main" id="{22455673-8501-F75A-1F3F-6E58277A690B}"/>
              </a:ext>
            </a:extLst>
          </p:cNvPr>
          <p:cNvPicPr>
            <a:picLocks noChangeAspect="1"/>
          </p:cNvPicPr>
          <p:nvPr/>
        </p:nvPicPr>
        <p:blipFill>
          <a:blip r:embed="rId10"/>
          <a:stretch>
            <a:fillRect/>
          </a:stretch>
        </p:blipFill>
        <p:spPr>
          <a:xfrm>
            <a:off x="8107034" y="2456731"/>
            <a:ext cx="2920940" cy="1557248"/>
          </a:xfrm>
          <a:prstGeom prst="rect">
            <a:avLst/>
          </a:prstGeom>
        </p:spPr>
      </p:pic>
      <p:pic>
        <p:nvPicPr>
          <p:cNvPr id="6247" name="Picture 6246" descr="Z:\QSRs\RESTAURANT LOGOS\Wasabi Profile Logo.jpg">
            <a:extLst>
              <a:ext uri="{FF2B5EF4-FFF2-40B4-BE49-F238E27FC236}">
                <a16:creationId xmlns:a16="http://schemas.microsoft.com/office/drawing/2014/main" id="{C4B5F8BF-DED7-1277-189F-48AA8C47519E}"/>
              </a:ext>
            </a:extLst>
          </p:cNvPr>
          <p:cNvPicPr>
            <a:picLocks noChangeAspect="1"/>
          </p:cNvPicPr>
          <p:nvPr/>
        </p:nvPicPr>
        <p:blipFill>
          <a:blip r:embed="rId11"/>
          <a:srcRect t="25316" r="730" b="18987"/>
          <a:stretch/>
        </p:blipFill>
        <p:spPr>
          <a:xfrm>
            <a:off x="8422437" y="5705116"/>
            <a:ext cx="1989712" cy="874018"/>
          </a:xfrm>
          <a:prstGeom prst="rect">
            <a:avLst/>
          </a:prstGeom>
        </p:spPr>
      </p:pic>
      <p:pic>
        <p:nvPicPr>
          <p:cNvPr id="6248" name="Picture 6247" descr="Melcom Mall — City Life Accra">
            <a:extLst>
              <a:ext uri="{FF2B5EF4-FFF2-40B4-BE49-F238E27FC236}">
                <a16:creationId xmlns:a16="http://schemas.microsoft.com/office/drawing/2014/main" id="{6123C93A-5355-040C-1BFC-46D8F02F6EB5}"/>
              </a:ext>
            </a:extLst>
          </p:cNvPr>
          <p:cNvPicPr>
            <a:picLocks noChangeAspect="1"/>
          </p:cNvPicPr>
          <p:nvPr/>
        </p:nvPicPr>
        <p:blipFill>
          <a:blip r:embed="rId12"/>
          <a:stretch>
            <a:fillRect/>
          </a:stretch>
        </p:blipFill>
        <p:spPr>
          <a:xfrm>
            <a:off x="8103079" y="602228"/>
            <a:ext cx="2958859" cy="1728524"/>
          </a:xfrm>
          <a:prstGeom prst="rect">
            <a:avLst/>
          </a:prstGeom>
        </p:spPr>
      </p:pic>
      <p:sp>
        <p:nvSpPr>
          <p:cNvPr id="5" name="TextBox 4">
            <a:extLst>
              <a:ext uri="{FF2B5EF4-FFF2-40B4-BE49-F238E27FC236}">
                <a16:creationId xmlns:a16="http://schemas.microsoft.com/office/drawing/2014/main" id="{7B9EAA72-39E4-80B2-7802-BB95223287D4}"/>
              </a:ext>
            </a:extLst>
          </p:cNvPr>
          <p:cNvSpPr txBox="1"/>
          <p:nvPr/>
        </p:nvSpPr>
        <p:spPr>
          <a:xfrm>
            <a:off x="398403" y="6083172"/>
            <a:ext cx="6863390" cy="369332"/>
          </a:xfrm>
          <a:prstGeom prst="rect">
            <a:avLst/>
          </a:prstGeom>
          <a:noFill/>
        </p:spPr>
        <p:txBody>
          <a:bodyPr wrap="square">
            <a:spAutoFit/>
          </a:bodyPr>
          <a:lstStyle/>
          <a:p>
            <a:pPr lvl="0"/>
            <a:r>
              <a:rPr lang="en-US" b="1" dirty="0"/>
              <a:t>&amp; We continue to Evolve &amp; Re-Invent…..</a:t>
            </a:r>
            <a:endParaRPr lang="en-US" dirty="0"/>
          </a:p>
        </p:txBody>
      </p:sp>
    </p:spTree>
    <p:extLst>
      <p:ext uri="{BB962C8B-B14F-4D97-AF65-F5344CB8AC3E}">
        <p14:creationId xmlns:p14="http://schemas.microsoft.com/office/powerpoint/2010/main" val="2799020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anchor="b">
            <a:normAutofit/>
          </a:bodyPr>
          <a:lstStyle/>
          <a:p>
            <a:r>
              <a:rPr lang="en-US" sz="4800" b="1"/>
              <a:t>Corporate Social Responsibility</a:t>
            </a:r>
          </a:p>
        </p:txBody>
      </p:sp>
      <p:sp>
        <p:nvSpPr>
          <p:cNvPr id="25" name="Rectangle 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46680" y="2599509"/>
            <a:ext cx="5954256" cy="3639450"/>
          </a:xfrm>
        </p:spPr>
        <p:txBody>
          <a:bodyPr anchor="ctr">
            <a:normAutofit/>
          </a:bodyPr>
          <a:lstStyle/>
          <a:p>
            <a:pPr marL="342900" indent="-342900"/>
            <a:r>
              <a:rPr lang="en-US" sz="2000"/>
              <a:t>Through the </a:t>
            </a:r>
            <a:r>
              <a:rPr lang="en-US" sz="2000" err="1"/>
              <a:t>Melcom</a:t>
            </a:r>
            <a:r>
              <a:rPr lang="en-US" sz="2000"/>
              <a:t> Care Foundation:</a:t>
            </a:r>
            <a:endParaRPr lang="en-US"/>
          </a:p>
          <a:p>
            <a:pPr marL="342900" indent="-342900"/>
            <a:r>
              <a:rPr lang="en-US" sz="2000"/>
              <a:t>Donates to large number of health institutions</a:t>
            </a:r>
          </a:p>
          <a:p>
            <a:pPr marL="342900" indent="-342900"/>
            <a:r>
              <a:rPr lang="en-US" sz="2000"/>
              <a:t> Built classrooms and washrooms for schools</a:t>
            </a:r>
          </a:p>
          <a:p>
            <a:pPr marL="342900" indent="-342900"/>
            <a:r>
              <a:rPr lang="en-US" sz="2000"/>
              <a:t> Supported education through scholarships</a:t>
            </a:r>
          </a:p>
          <a:p>
            <a:pPr marL="342900" indent="-342900"/>
            <a:r>
              <a:rPr lang="en-US" sz="2000"/>
              <a:t> First responders during national emergencies</a:t>
            </a:r>
          </a:p>
          <a:p>
            <a:pPr marL="342900" indent="-342900"/>
            <a:r>
              <a:rPr lang="en-US" sz="2000"/>
              <a:t> Annual blood donation drives</a:t>
            </a:r>
          </a:p>
        </p:txBody>
      </p:sp>
      <p:pic>
        <p:nvPicPr>
          <p:cNvPr id="4" name="object 5"/>
          <p:cNvPicPr/>
          <p:nvPr/>
        </p:nvPicPr>
        <p:blipFill>
          <a:blip r:embed="rId2" cstate="print"/>
          <a:stretch>
            <a:fillRect/>
          </a:stretch>
        </p:blipFill>
        <p:spPr>
          <a:xfrm>
            <a:off x="5911532" y="3246943"/>
            <a:ext cx="5150277" cy="2188867"/>
          </a:xfrm>
          <a:prstGeom prst="rect">
            <a:avLst/>
          </a:prstGeom>
        </p:spPr>
      </p:pic>
      <p:sp>
        <p:nvSpPr>
          <p:cNvPr id="27" name="Rectangle 2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C8818D0-D46D-E25B-5CDA-F4B24FCEF3B3}"/>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5" name="Picture 4" descr="Melcom Limited - Melcom">
            <a:extLst>
              <a:ext uri="{FF2B5EF4-FFF2-40B4-BE49-F238E27FC236}">
                <a16:creationId xmlns:a16="http://schemas.microsoft.com/office/drawing/2014/main" id="{7E1BBA83-00AF-7737-D00E-87CC62E5FFB1}"/>
              </a:ext>
            </a:extLst>
          </p:cNvPr>
          <p:cNvPicPr>
            <a:picLocks noChangeAspect="1"/>
          </p:cNvPicPr>
          <p:nvPr/>
        </p:nvPicPr>
        <p:blipFill>
          <a:blip r:embed="rId3"/>
          <a:stretch>
            <a:fillRect/>
          </a:stretch>
        </p:blipFill>
        <p:spPr>
          <a:xfrm>
            <a:off x="10739168" y="27497"/>
            <a:ext cx="1295400" cy="3619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9D42F1-EAF6-6209-67CE-72F2F53C99BF}"/>
            </a:ext>
          </a:extLst>
        </p:cNvPr>
        <p:cNvGrpSpPr/>
        <p:nvPr/>
      </p:nvGrpSpPr>
      <p:grpSpPr>
        <a:xfrm>
          <a:off x="0" y="0"/>
          <a:ext cx="0" cy="0"/>
          <a:chOff x="0" y="0"/>
          <a:chExt cx="0" cy="0"/>
        </a:xfrm>
      </p:grpSpPr>
      <p:sp useBgFill="1">
        <p:nvSpPr>
          <p:cNvPr id="6168" name="Rectangle 6167">
            <a:extLst>
              <a:ext uri="{FF2B5EF4-FFF2-40B4-BE49-F238E27FC236}">
                <a16:creationId xmlns:a16="http://schemas.microsoft.com/office/drawing/2014/main" id="{35B8DE7E-2B79-1614-D6CE-9E93F6696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8F6A39-442F-733B-21CF-76AA1D3383B3}"/>
              </a:ext>
            </a:extLst>
          </p:cNvPr>
          <p:cNvSpPr>
            <a:spLocks noGrp="1"/>
          </p:cNvSpPr>
          <p:nvPr>
            <p:ph type="title"/>
          </p:nvPr>
        </p:nvSpPr>
        <p:spPr>
          <a:xfrm>
            <a:off x="434337" y="1011402"/>
            <a:ext cx="6337742" cy="1128068"/>
          </a:xfrm>
        </p:spPr>
        <p:txBody>
          <a:bodyPr anchor="ctr">
            <a:normAutofit/>
          </a:bodyPr>
          <a:lstStyle/>
          <a:p>
            <a:r>
              <a:rPr lang="en-US" sz="4800"/>
              <a:t>Giving back to Society…</a:t>
            </a:r>
          </a:p>
          <a:p>
            <a:endParaRPr lang="en-US" sz="4000" b="1"/>
          </a:p>
        </p:txBody>
      </p:sp>
      <p:grpSp>
        <p:nvGrpSpPr>
          <p:cNvPr id="6170" name="Group 6169">
            <a:extLst>
              <a:ext uri="{FF2B5EF4-FFF2-40B4-BE49-F238E27FC236}">
                <a16:creationId xmlns:a16="http://schemas.microsoft.com/office/drawing/2014/main" id="{6FC2C73E-643B-4BA3-5767-E12AB7B9A5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6171" name="Rectangle 6170">
              <a:extLst>
                <a:ext uri="{FF2B5EF4-FFF2-40B4-BE49-F238E27FC236}">
                  <a16:creationId xmlns:a16="http://schemas.microsoft.com/office/drawing/2014/main" id="{F4EC5A39-B45E-518C-3B41-EC382D14A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2" name="Rectangle 6171">
              <a:extLst>
                <a:ext uri="{FF2B5EF4-FFF2-40B4-BE49-F238E27FC236}">
                  <a16:creationId xmlns:a16="http://schemas.microsoft.com/office/drawing/2014/main" id="{77EF4650-C4A9-D3CD-99E5-1ACB14F2C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74" name="Rectangle 6173">
            <a:extLst>
              <a:ext uri="{FF2B5EF4-FFF2-40B4-BE49-F238E27FC236}">
                <a16:creationId xmlns:a16="http://schemas.microsoft.com/office/drawing/2014/main" id="{054BE2E2-AEE3-170F-B548-511DFF97A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6" name="Rectangle 6175">
            <a:extLst>
              <a:ext uri="{FF2B5EF4-FFF2-40B4-BE49-F238E27FC236}">
                <a16:creationId xmlns:a16="http://schemas.microsoft.com/office/drawing/2014/main" id="{EFAC5EC1-E042-4844-1703-3302CC9EC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8" name="Rectangle 6177">
            <a:extLst>
              <a:ext uri="{FF2B5EF4-FFF2-40B4-BE49-F238E27FC236}">
                <a16:creationId xmlns:a16="http://schemas.microsoft.com/office/drawing/2014/main" id="{B8EBC46A-9179-305B-F447-26E354C11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0" name="Rectangle 6179">
            <a:extLst>
              <a:ext uri="{FF2B5EF4-FFF2-40B4-BE49-F238E27FC236}">
                <a16:creationId xmlns:a16="http://schemas.microsoft.com/office/drawing/2014/main" id="{CE6108D7-BF79-DEAC-C79D-30BBB78A1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and person cutting a ribbon&#10;&#10;AI-generated content may be incorrect.">
            <a:extLst>
              <a:ext uri="{FF2B5EF4-FFF2-40B4-BE49-F238E27FC236}">
                <a16:creationId xmlns:a16="http://schemas.microsoft.com/office/drawing/2014/main" id="{4D5D4AB1-9E56-2FE4-90F2-97E6E6FB781C}"/>
              </a:ext>
            </a:extLst>
          </p:cNvPr>
          <p:cNvPicPr>
            <a:picLocks noChangeAspect="1"/>
          </p:cNvPicPr>
          <p:nvPr/>
        </p:nvPicPr>
        <p:blipFill>
          <a:blip r:embed="rId2"/>
          <a:stretch>
            <a:fillRect/>
          </a:stretch>
        </p:blipFill>
        <p:spPr>
          <a:xfrm>
            <a:off x="171097" y="2203098"/>
            <a:ext cx="3076575" cy="2181225"/>
          </a:xfrm>
          <a:prstGeom prst="rect">
            <a:avLst/>
          </a:prstGeom>
        </p:spPr>
      </p:pic>
      <p:pic>
        <p:nvPicPr>
          <p:cNvPr id="6" name="Picture 5" descr="A group of people wearing face masks&#10;&#10;AI-generated content may be incorrect.">
            <a:extLst>
              <a:ext uri="{FF2B5EF4-FFF2-40B4-BE49-F238E27FC236}">
                <a16:creationId xmlns:a16="http://schemas.microsoft.com/office/drawing/2014/main" id="{78849620-214F-3F3F-2E85-282DE8861374}"/>
              </a:ext>
            </a:extLst>
          </p:cNvPr>
          <p:cNvPicPr>
            <a:picLocks noChangeAspect="1"/>
          </p:cNvPicPr>
          <p:nvPr/>
        </p:nvPicPr>
        <p:blipFill>
          <a:blip r:embed="rId3"/>
          <a:srcRect l="-627" t="17037" b="17037"/>
          <a:stretch/>
        </p:blipFill>
        <p:spPr>
          <a:xfrm>
            <a:off x="3243363" y="2204862"/>
            <a:ext cx="3323251" cy="2179392"/>
          </a:xfrm>
          <a:prstGeom prst="rect">
            <a:avLst/>
          </a:prstGeom>
        </p:spPr>
      </p:pic>
      <p:pic>
        <p:nvPicPr>
          <p:cNvPr id="7" name="Picture 6">
            <a:extLst>
              <a:ext uri="{FF2B5EF4-FFF2-40B4-BE49-F238E27FC236}">
                <a16:creationId xmlns:a16="http://schemas.microsoft.com/office/drawing/2014/main" id="{31FC0EC3-46BE-B9D3-FB02-BFE67756E6D5}"/>
              </a:ext>
            </a:extLst>
          </p:cNvPr>
          <p:cNvPicPr>
            <a:picLocks noChangeAspect="1"/>
          </p:cNvPicPr>
          <p:nvPr/>
        </p:nvPicPr>
        <p:blipFill>
          <a:blip r:embed="rId4"/>
          <a:srcRect t="17602" r="-894" b="10569"/>
          <a:stretch/>
        </p:blipFill>
        <p:spPr>
          <a:xfrm>
            <a:off x="9149291" y="4922647"/>
            <a:ext cx="2396447" cy="1425849"/>
          </a:xfrm>
          <a:prstGeom prst="rect">
            <a:avLst/>
          </a:prstGeom>
        </p:spPr>
      </p:pic>
      <p:pic>
        <p:nvPicPr>
          <p:cNvPr id="8" name="Picture 7" descr="A yellow building with a sign on the front&#10;&#10;AI-generated content may be incorrect.">
            <a:extLst>
              <a:ext uri="{FF2B5EF4-FFF2-40B4-BE49-F238E27FC236}">
                <a16:creationId xmlns:a16="http://schemas.microsoft.com/office/drawing/2014/main" id="{A536FC50-E6AB-8779-9CDA-E6E937EF1BED}"/>
              </a:ext>
            </a:extLst>
          </p:cNvPr>
          <p:cNvPicPr>
            <a:picLocks noChangeAspect="1"/>
          </p:cNvPicPr>
          <p:nvPr/>
        </p:nvPicPr>
        <p:blipFill>
          <a:blip r:embed="rId5"/>
          <a:stretch>
            <a:fillRect/>
          </a:stretch>
        </p:blipFill>
        <p:spPr>
          <a:xfrm>
            <a:off x="9136944" y="3620390"/>
            <a:ext cx="2402065" cy="1230137"/>
          </a:xfrm>
          <a:prstGeom prst="rect">
            <a:avLst/>
          </a:prstGeom>
        </p:spPr>
      </p:pic>
      <p:pic>
        <p:nvPicPr>
          <p:cNvPr id="9" name="Picture 8" descr="A group of people shaking hands&#10;&#10;AI-generated content may be incorrect.">
            <a:extLst>
              <a:ext uri="{FF2B5EF4-FFF2-40B4-BE49-F238E27FC236}">
                <a16:creationId xmlns:a16="http://schemas.microsoft.com/office/drawing/2014/main" id="{9BFA66DF-7F84-0C7E-9B77-146B25249A49}"/>
              </a:ext>
            </a:extLst>
          </p:cNvPr>
          <p:cNvPicPr>
            <a:picLocks noChangeAspect="1"/>
          </p:cNvPicPr>
          <p:nvPr/>
        </p:nvPicPr>
        <p:blipFill>
          <a:blip r:embed="rId6"/>
          <a:srcRect l="-561" t="10345" r="213" b="14025"/>
          <a:stretch/>
        </p:blipFill>
        <p:spPr>
          <a:xfrm>
            <a:off x="175402" y="4397375"/>
            <a:ext cx="2978044" cy="1803500"/>
          </a:xfrm>
          <a:prstGeom prst="rect">
            <a:avLst/>
          </a:prstGeom>
        </p:spPr>
      </p:pic>
      <p:pic>
        <p:nvPicPr>
          <p:cNvPr id="10" name="Picture 9" descr="A group of men wearing safety vests and face masks&#10;&#10;AI-generated content may be incorrect.">
            <a:extLst>
              <a:ext uri="{FF2B5EF4-FFF2-40B4-BE49-F238E27FC236}">
                <a16:creationId xmlns:a16="http://schemas.microsoft.com/office/drawing/2014/main" id="{0ACB7DE9-C6DB-BAEF-2210-6DB84185F4CD}"/>
              </a:ext>
            </a:extLst>
          </p:cNvPr>
          <p:cNvPicPr>
            <a:picLocks noChangeAspect="1"/>
          </p:cNvPicPr>
          <p:nvPr/>
        </p:nvPicPr>
        <p:blipFill>
          <a:blip r:embed="rId7"/>
          <a:srcRect t="20280" b="21031"/>
          <a:stretch/>
        </p:blipFill>
        <p:spPr>
          <a:xfrm>
            <a:off x="3340806" y="4385029"/>
            <a:ext cx="3206396" cy="1819702"/>
          </a:xfrm>
          <a:prstGeom prst="rect">
            <a:avLst/>
          </a:prstGeom>
        </p:spPr>
      </p:pic>
      <p:pic>
        <p:nvPicPr>
          <p:cNvPr id="11" name="Picture 10" descr="A group of men standing outside of a building&#10;&#10;AI-generated content may be incorrect.">
            <a:extLst>
              <a:ext uri="{FF2B5EF4-FFF2-40B4-BE49-F238E27FC236}">
                <a16:creationId xmlns:a16="http://schemas.microsoft.com/office/drawing/2014/main" id="{A0D2566A-9DB5-24BA-C22E-72EE8B96A0CA}"/>
              </a:ext>
            </a:extLst>
          </p:cNvPr>
          <p:cNvPicPr>
            <a:picLocks noChangeAspect="1"/>
          </p:cNvPicPr>
          <p:nvPr/>
        </p:nvPicPr>
        <p:blipFill>
          <a:blip r:embed="rId8"/>
          <a:srcRect l="12385" t="2235" r="12205" b="844"/>
          <a:stretch/>
        </p:blipFill>
        <p:spPr>
          <a:xfrm>
            <a:off x="9283347" y="578686"/>
            <a:ext cx="2263596" cy="2294485"/>
          </a:xfrm>
          <a:prstGeom prst="rect">
            <a:avLst/>
          </a:prstGeom>
        </p:spPr>
      </p:pic>
      <p:pic>
        <p:nvPicPr>
          <p:cNvPr id="12" name="Picture 11" descr="Several people in different poses&#10;&#10;AI-generated content may be incorrect.">
            <a:extLst>
              <a:ext uri="{FF2B5EF4-FFF2-40B4-BE49-F238E27FC236}">
                <a16:creationId xmlns:a16="http://schemas.microsoft.com/office/drawing/2014/main" id="{8471B612-BA68-BD38-CF96-11C3EC8B95BA}"/>
              </a:ext>
            </a:extLst>
          </p:cNvPr>
          <p:cNvPicPr>
            <a:picLocks noChangeAspect="1"/>
          </p:cNvPicPr>
          <p:nvPr/>
        </p:nvPicPr>
        <p:blipFill>
          <a:blip r:embed="rId9"/>
          <a:srcRect l="11231" t="3905" r="10799" b="-305"/>
          <a:stretch/>
        </p:blipFill>
        <p:spPr>
          <a:xfrm rot="-5400000">
            <a:off x="6941848" y="666514"/>
            <a:ext cx="2293980" cy="2120056"/>
          </a:xfrm>
          <a:prstGeom prst="rect">
            <a:avLst/>
          </a:prstGeom>
        </p:spPr>
      </p:pic>
      <p:pic>
        <p:nvPicPr>
          <p:cNvPr id="15" name="Picture 14" descr="A person holding a blue blanket&#10;&#10;AI-generated content may be incorrect.">
            <a:extLst>
              <a:ext uri="{FF2B5EF4-FFF2-40B4-BE49-F238E27FC236}">
                <a16:creationId xmlns:a16="http://schemas.microsoft.com/office/drawing/2014/main" id="{A4A7A41A-66D8-4219-8C1E-81F69856BB59}"/>
              </a:ext>
            </a:extLst>
          </p:cNvPr>
          <p:cNvPicPr>
            <a:picLocks noChangeAspect="1"/>
          </p:cNvPicPr>
          <p:nvPr/>
        </p:nvPicPr>
        <p:blipFill>
          <a:blip r:embed="rId10"/>
          <a:srcRect t="16470" r="552" b="15294"/>
          <a:stretch/>
        </p:blipFill>
        <p:spPr>
          <a:xfrm>
            <a:off x="6842299" y="4146020"/>
            <a:ext cx="2317460" cy="1348652"/>
          </a:xfrm>
          <a:prstGeom prst="rect">
            <a:avLst/>
          </a:prstGeom>
        </p:spPr>
      </p:pic>
      <p:sp>
        <p:nvSpPr>
          <p:cNvPr id="17" name="Rectangle 16">
            <a:extLst>
              <a:ext uri="{FF2B5EF4-FFF2-40B4-BE49-F238E27FC236}">
                <a16:creationId xmlns:a16="http://schemas.microsoft.com/office/drawing/2014/main" id="{23BA5938-D95D-A0AB-F051-ACEB3A157740}"/>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3" name="Picture 2" descr="Melcom Limited - Melcom">
            <a:extLst>
              <a:ext uri="{FF2B5EF4-FFF2-40B4-BE49-F238E27FC236}">
                <a16:creationId xmlns:a16="http://schemas.microsoft.com/office/drawing/2014/main" id="{C057F82A-32F6-2D4E-196F-BECDDFEF61F6}"/>
              </a:ext>
            </a:extLst>
          </p:cNvPr>
          <p:cNvPicPr>
            <a:picLocks noChangeAspect="1"/>
          </p:cNvPicPr>
          <p:nvPr/>
        </p:nvPicPr>
        <p:blipFill>
          <a:blip r:embed="rId11"/>
          <a:stretch>
            <a:fillRect/>
          </a:stretch>
        </p:blipFill>
        <p:spPr>
          <a:xfrm>
            <a:off x="10796677" y="-1258"/>
            <a:ext cx="1295400" cy="361950"/>
          </a:xfrm>
          <a:prstGeom prst="rect">
            <a:avLst/>
          </a:prstGeom>
        </p:spPr>
      </p:pic>
    </p:spTree>
    <p:extLst>
      <p:ext uri="{BB962C8B-B14F-4D97-AF65-F5344CB8AC3E}">
        <p14:creationId xmlns:p14="http://schemas.microsoft.com/office/powerpoint/2010/main" val="325144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5279408" cy="1128068"/>
          </a:xfrm>
        </p:spPr>
        <p:txBody>
          <a:bodyPr anchor="ctr">
            <a:normAutofit/>
          </a:bodyPr>
          <a:lstStyle/>
          <a:p>
            <a:r>
              <a:rPr lang="en-US" sz="3700" b="1"/>
              <a:t>Sustainability Initiatives</a:t>
            </a:r>
          </a:p>
        </p:txBody>
      </p:sp>
      <p:grpSp>
        <p:nvGrpSpPr>
          <p:cNvPr id="36" name="Group 3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0" name="Rectangle 2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0719" y="2330505"/>
            <a:ext cx="5278066" cy="3979585"/>
          </a:xfrm>
        </p:spPr>
        <p:txBody>
          <a:bodyPr anchor="ctr">
            <a:normAutofit/>
          </a:bodyPr>
          <a:lstStyle/>
          <a:p>
            <a:pPr marL="0" indent="0">
              <a:buNone/>
            </a:pPr>
            <a:r>
              <a:rPr lang="en-US" sz="2000"/>
              <a:t>Melcom’s eco-programs include:</a:t>
            </a:r>
          </a:p>
          <a:p>
            <a:r>
              <a:rPr lang="en-US" sz="2000"/>
              <a:t> Solar energy in 10+ locations</a:t>
            </a:r>
          </a:p>
          <a:p>
            <a:r>
              <a:rPr lang="en-US" sz="2000"/>
              <a:t> Biodegradable shopping bags</a:t>
            </a:r>
          </a:p>
          <a:p>
            <a:r>
              <a:rPr lang="en-US" sz="2000"/>
              <a:t>Cardboard recycling (4M+ cartons)</a:t>
            </a:r>
          </a:p>
          <a:p>
            <a:r>
              <a:rPr lang="en-US" sz="2000"/>
              <a:t>Rainwater harvesting &amp; bio-fil digester systems</a:t>
            </a:r>
          </a:p>
          <a:p>
            <a:r>
              <a:rPr lang="en-US" sz="2000"/>
              <a:t>EDGE green building compliance</a:t>
            </a:r>
          </a:p>
        </p:txBody>
      </p:sp>
      <p:sp>
        <p:nvSpPr>
          <p:cNvPr id="35" name="Rectangle 3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ject 5"/>
          <p:cNvPicPr/>
          <p:nvPr/>
        </p:nvPicPr>
        <p:blipFill>
          <a:blip r:embed="rId2" cstate="print"/>
          <a:stretch>
            <a:fillRect/>
          </a:stretch>
        </p:blipFill>
        <p:spPr>
          <a:xfrm>
            <a:off x="7083423" y="906816"/>
            <a:ext cx="4397433" cy="1868908"/>
          </a:xfrm>
          <a:prstGeom prst="rect">
            <a:avLst/>
          </a:prstGeom>
        </p:spPr>
      </p:pic>
      <p:sp>
        <p:nvSpPr>
          <p:cNvPr id="39" name="Rectangle 3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3"/>
          <a:stretch>
            <a:fillRect/>
          </a:stretch>
        </p:blipFill>
        <p:spPr>
          <a:xfrm>
            <a:off x="8013955" y="3707894"/>
            <a:ext cx="2534504" cy="2518756"/>
          </a:xfrm>
          <a:prstGeom prst="rect">
            <a:avLst/>
          </a:prstGeom>
        </p:spPr>
      </p:pic>
      <p:sp>
        <p:nvSpPr>
          <p:cNvPr id="7" name="Rectangle 6">
            <a:extLst>
              <a:ext uri="{FF2B5EF4-FFF2-40B4-BE49-F238E27FC236}">
                <a16:creationId xmlns:a16="http://schemas.microsoft.com/office/drawing/2014/main" id="{804762C9-FC2D-D81F-6470-3C05A838E693}"/>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6" name="Picture 5" descr="Melcom Limited - Melcom">
            <a:extLst>
              <a:ext uri="{FF2B5EF4-FFF2-40B4-BE49-F238E27FC236}">
                <a16:creationId xmlns:a16="http://schemas.microsoft.com/office/drawing/2014/main" id="{F6BEFDAC-C002-6E85-7390-189A9BB6C861}"/>
              </a:ext>
            </a:extLst>
          </p:cNvPr>
          <p:cNvPicPr>
            <a:picLocks noChangeAspect="1"/>
          </p:cNvPicPr>
          <p:nvPr/>
        </p:nvPicPr>
        <p:blipFill>
          <a:blip r:embed="rId4"/>
          <a:stretch>
            <a:fillRect/>
          </a:stretch>
        </p:blipFill>
        <p:spPr>
          <a:xfrm>
            <a:off x="10795907" y="9525"/>
            <a:ext cx="1295400" cy="3619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B999D1-348C-33C7-8D40-A399DE5B41EF}"/>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813458F5-9E46-3B82-2958-E3A907A36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F4A264-2F4C-2987-39CE-020156F73B60}"/>
              </a:ext>
            </a:extLst>
          </p:cNvPr>
          <p:cNvSpPr>
            <a:spLocks noGrp="1"/>
          </p:cNvSpPr>
          <p:nvPr>
            <p:ph type="title"/>
          </p:nvPr>
        </p:nvSpPr>
        <p:spPr>
          <a:xfrm>
            <a:off x="589560" y="856180"/>
            <a:ext cx="5279408" cy="1128068"/>
          </a:xfrm>
        </p:spPr>
        <p:txBody>
          <a:bodyPr anchor="ctr">
            <a:normAutofit fontScale="90000"/>
          </a:bodyPr>
          <a:lstStyle/>
          <a:p>
            <a:r>
              <a:rPr lang="en-US" sz="4800" b="1"/>
              <a:t>Our Leadership Team</a:t>
            </a:r>
            <a:endParaRPr lang="en-US" sz="4800"/>
          </a:p>
          <a:p>
            <a:endParaRPr lang="en-US" sz="3700" b="1"/>
          </a:p>
        </p:txBody>
      </p:sp>
      <p:grpSp>
        <p:nvGrpSpPr>
          <p:cNvPr id="36" name="Group 35">
            <a:extLst>
              <a:ext uri="{FF2B5EF4-FFF2-40B4-BE49-F238E27FC236}">
                <a16:creationId xmlns:a16="http://schemas.microsoft.com/office/drawing/2014/main" id="{AC9156B2-A13E-9EDF-FC2A-08E14116C9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0" name="Rectangle 29">
              <a:extLst>
                <a:ext uri="{FF2B5EF4-FFF2-40B4-BE49-F238E27FC236}">
                  <a16:creationId xmlns:a16="http://schemas.microsoft.com/office/drawing/2014/main" id="{04EA13EB-9E33-6229-6D31-BC9A04C2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FE23F7F-2001-9501-1EB5-ED4F81B64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A4D6211D-B52E-1A28-E1DC-94BF343D5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9D83EC9-E9A7-0F04-10DD-7FE9A9B1A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C1EAF42-6C61-F91F-1260-4F0750CD35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A66F607-7C31-B5FB-C8A9-D7AFF9EDFA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841A22C-84D0-C8BF-9F97-38D56F2200E1}"/>
              </a:ext>
            </a:extLst>
          </p:cNvPr>
          <p:cNvSpPr txBox="1"/>
          <p:nvPr/>
        </p:nvSpPr>
        <p:spPr>
          <a:xfrm>
            <a:off x="7535440" y="456988"/>
            <a:ext cx="3188898" cy="399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b="1">
                <a:solidFill>
                  <a:srgbClr val="231F20"/>
                </a:solidFill>
                <a:latin typeface="Tahoma"/>
              </a:rPr>
              <a:t>Board of Directors</a:t>
            </a:r>
            <a:r>
              <a:rPr lang="en-US" sz="1900">
                <a:latin typeface="Tahoma"/>
                <a:ea typeface="Tahoma"/>
                <a:cs typeface="Tahoma"/>
              </a:rPr>
              <a:t>​</a:t>
            </a:r>
            <a:endParaRPr lang="en-US"/>
          </a:p>
        </p:txBody>
      </p:sp>
      <p:pic>
        <p:nvPicPr>
          <p:cNvPr id="9" name="object 4" descr="A person in a suit&#10;&#10;AI-generated content may be incorrect.">
            <a:extLst>
              <a:ext uri="{FF2B5EF4-FFF2-40B4-BE49-F238E27FC236}">
                <a16:creationId xmlns:a16="http://schemas.microsoft.com/office/drawing/2014/main" id="{835D67E2-E42B-B061-BC22-C777EB56E9F6}"/>
              </a:ext>
            </a:extLst>
          </p:cNvPr>
          <p:cNvPicPr/>
          <p:nvPr/>
        </p:nvPicPr>
        <p:blipFill>
          <a:blip r:embed="rId2" cstate="print"/>
          <a:stretch>
            <a:fillRect/>
          </a:stretch>
        </p:blipFill>
        <p:spPr>
          <a:xfrm>
            <a:off x="7457565" y="1161602"/>
            <a:ext cx="1021116" cy="920475"/>
          </a:xfrm>
          <a:prstGeom prst="rect">
            <a:avLst/>
          </a:prstGeom>
        </p:spPr>
      </p:pic>
      <p:pic>
        <p:nvPicPr>
          <p:cNvPr id="11" name="object 5" descr="A person in a blue suit&#10;&#10;AI-generated content may be incorrect.">
            <a:extLst>
              <a:ext uri="{FF2B5EF4-FFF2-40B4-BE49-F238E27FC236}">
                <a16:creationId xmlns:a16="http://schemas.microsoft.com/office/drawing/2014/main" id="{507D34DB-88C6-1FA9-31FE-C566990FB1C6}"/>
              </a:ext>
            </a:extLst>
          </p:cNvPr>
          <p:cNvPicPr/>
          <p:nvPr/>
        </p:nvPicPr>
        <p:blipFill>
          <a:blip r:embed="rId3" cstate="print"/>
          <a:stretch>
            <a:fillRect/>
          </a:stretch>
        </p:blipFill>
        <p:spPr>
          <a:xfrm>
            <a:off x="8617859" y="1147491"/>
            <a:ext cx="1021116" cy="920475"/>
          </a:xfrm>
          <a:prstGeom prst="rect">
            <a:avLst/>
          </a:prstGeom>
        </p:spPr>
      </p:pic>
      <p:pic>
        <p:nvPicPr>
          <p:cNvPr id="13" name="object 6" descr="A person smiling at camera&#10;&#10;AI-generated content may be incorrect.">
            <a:extLst>
              <a:ext uri="{FF2B5EF4-FFF2-40B4-BE49-F238E27FC236}">
                <a16:creationId xmlns:a16="http://schemas.microsoft.com/office/drawing/2014/main" id="{F2AB96B1-20C5-BE68-9972-23F1ACA826EF}"/>
              </a:ext>
            </a:extLst>
          </p:cNvPr>
          <p:cNvPicPr/>
          <p:nvPr/>
        </p:nvPicPr>
        <p:blipFill>
          <a:blip r:embed="rId4" cstate="print"/>
          <a:stretch>
            <a:fillRect/>
          </a:stretch>
        </p:blipFill>
        <p:spPr>
          <a:xfrm>
            <a:off x="9938318" y="1143420"/>
            <a:ext cx="1021108" cy="920475"/>
          </a:xfrm>
          <a:prstGeom prst="rect">
            <a:avLst/>
          </a:prstGeom>
        </p:spPr>
      </p:pic>
      <p:sp>
        <p:nvSpPr>
          <p:cNvPr id="15" name="object 8">
            <a:extLst>
              <a:ext uri="{FF2B5EF4-FFF2-40B4-BE49-F238E27FC236}">
                <a16:creationId xmlns:a16="http://schemas.microsoft.com/office/drawing/2014/main" id="{2D1015F0-EE25-A382-A28E-5A4262A42AC0}"/>
              </a:ext>
            </a:extLst>
          </p:cNvPr>
          <p:cNvSpPr txBox="1"/>
          <p:nvPr/>
        </p:nvSpPr>
        <p:spPr>
          <a:xfrm>
            <a:off x="9933352" y="2196038"/>
            <a:ext cx="1103772" cy="271415"/>
          </a:xfrm>
          <a:prstGeom prst="rect">
            <a:avLst/>
          </a:prstGeom>
        </p:spPr>
        <p:txBody>
          <a:bodyPr vert="horz" wrap="square" lIns="0" tIns="21584" rIns="0" bIns="0" rtlCol="0">
            <a:spAutoFit/>
          </a:bodyPr>
          <a:lstStyle/>
          <a:p>
            <a:pPr algn="ctr">
              <a:spcBef>
                <a:spcPts val="170"/>
              </a:spcBef>
            </a:pPr>
            <a:r>
              <a:rPr sz="898" b="1" spc="-71">
                <a:solidFill>
                  <a:srgbClr val="231F20"/>
                </a:solidFill>
                <a:latin typeface="Tahoma"/>
                <a:cs typeface="Tahoma"/>
              </a:rPr>
              <a:t>Sonya</a:t>
            </a:r>
            <a:r>
              <a:rPr sz="898" b="1" spc="-45">
                <a:solidFill>
                  <a:srgbClr val="231F20"/>
                </a:solidFill>
                <a:latin typeface="Tahoma"/>
                <a:cs typeface="Tahoma"/>
              </a:rPr>
              <a:t> </a:t>
            </a:r>
            <a:r>
              <a:rPr sz="898" b="1" spc="-6">
                <a:solidFill>
                  <a:srgbClr val="231F20"/>
                </a:solidFill>
                <a:latin typeface="Tahoma"/>
                <a:cs typeface="Tahoma"/>
              </a:rPr>
              <a:t>Sadhwani</a:t>
            </a:r>
            <a:endParaRPr sz="898">
              <a:latin typeface="Tahoma"/>
              <a:cs typeface="Tahoma"/>
            </a:endParaRPr>
          </a:p>
          <a:p>
            <a:pPr algn="ctr">
              <a:spcBef>
                <a:spcPts val="77"/>
              </a:spcBef>
            </a:pPr>
            <a:r>
              <a:rPr sz="641">
                <a:solidFill>
                  <a:srgbClr val="231F20"/>
                </a:solidFill>
                <a:latin typeface="Tahoma"/>
                <a:cs typeface="Tahoma"/>
              </a:rPr>
              <a:t>Group</a:t>
            </a:r>
            <a:r>
              <a:rPr sz="641" spc="167">
                <a:solidFill>
                  <a:srgbClr val="231F20"/>
                </a:solidFill>
                <a:latin typeface="Tahoma"/>
                <a:cs typeface="Tahoma"/>
              </a:rPr>
              <a:t> </a:t>
            </a:r>
            <a:r>
              <a:rPr sz="641">
                <a:solidFill>
                  <a:srgbClr val="231F20"/>
                </a:solidFill>
                <a:latin typeface="Tahoma"/>
                <a:cs typeface="Tahoma"/>
              </a:rPr>
              <a:t>Executive</a:t>
            </a:r>
            <a:r>
              <a:rPr sz="641" spc="-16">
                <a:solidFill>
                  <a:srgbClr val="231F20"/>
                </a:solidFill>
                <a:latin typeface="Tahoma"/>
                <a:cs typeface="Tahoma"/>
              </a:rPr>
              <a:t> </a:t>
            </a:r>
            <a:r>
              <a:rPr sz="641" spc="-6">
                <a:solidFill>
                  <a:srgbClr val="231F20"/>
                </a:solidFill>
                <a:latin typeface="Tahoma"/>
                <a:cs typeface="Tahoma"/>
              </a:rPr>
              <a:t>Director</a:t>
            </a:r>
            <a:endParaRPr sz="641">
              <a:latin typeface="Tahoma"/>
              <a:cs typeface="Tahoma"/>
            </a:endParaRPr>
          </a:p>
        </p:txBody>
      </p:sp>
      <p:sp>
        <p:nvSpPr>
          <p:cNvPr id="17" name="object 16">
            <a:extLst>
              <a:ext uri="{FF2B5EF4-FFF2-40B4-BE49-F238E27FC236}">
                <a16:creationId xmlns:a16="http://schemas.microsoft.com/office/drawing/2014/main" id="{1907B664-53BF-4A33-3338-8FFA927BBDAA}"/>
              </a:ext>
            </a:extLst>
          </p:cNvPr>
          <p:cNvSpPr/>
          <p:nvPr/>
        </p:nvSpPr>
        <p:spPr>
          <a:xfrm>
            <a:off x="7330561" y="2335920"/>
            <a:ext cx="1021385" cy="0"/>
          </a:xfrm>
          <a:custGeom>
            <a:avLst/>
            <a:gdLst/>
            <a:ahLst/>
            <a:cxnLst/>
            <a:rect l="l" t="t" r="r" b="b"/>
            <a:pathLst>
              <a:path w="1368425">
                <a:moveTo>
                  <a:pt x="0" y="0"/>
                </a:moveTo>
                <a:lnTo>
                  <a:pt x="1368005" y="0"/>
                </a:lnTo>
              </a:path>
            </a:pathLst>
          </a:custGeom>
          <a:ln w="6350">
            <a:solidFill>
              <a:srgbClr val="231F20"/>
            </a:solidFill>
          </a:ln>
        </p:spPr>
        <p:txBody>
          <a:bodyPr wrap="square" lIns="0" tIns="0" rIns="0" bIns="0" rtlCol="0"/>
          <a:lstStyle/>
          <a:p>
            <a:endParaRPr sz="1154"/>
          </a:p>
        </p:txBody>
      </p:sp>
      <p:sp>
        <p:nvSpPr>
          <p:cNvPr id="19" name="object 17">
            <a:extLst>
              <a:ext uri="{FF2B5EF4-FFF2-40B4-BE49-F238E27FC236}">
                <a16:creationId xmlns:a16="http://schemas.microsoft.com/office/drawing/2014/main" id="{38F5CAEC-D5DA-7C1A-D14D-CAE3F8D1AC2A}"/>
              </a:ext>
            </a:extLst>
          </p:cNvPr>
          <p:cNvSpPr txBox="1"/>
          <p:nvPr/>
        </p:nvSpPr>
        <p:spPr>
          <a:xfrm>
            <a:off x="7306117" y="2200110"/>
            <a:ext cx="1071884" cy="271415"/>
          </a:xfrm>
          <a:prstGeom prst="rect">
            <a:avLst/>
          </a:prstGeom>
        </p:spPr>
        <p:txBody>
          <a:bodyPr vert="horz" wrap="square" lIns="0" tIns="21584" rIns="0" bIns="0" rtlCol="0">
            <a:spAutoFit/>
          </a:bodyPr>
          <a:lstStyle/>
          <a:p>
            <a:pPr marL="28506">
              <a:spcBef>
                <a:spcPts val="170"/>
              </a:spcBef>
            </a:pPr>
            <a:r>
              <a:rPr sz="898" b="1" spc="-61">
                <a:solidFill>
                  <a:srgbClr val="231F20"/>
                </a:solidFill>
                <a:latin typeface="Tahoma"/>
                <a:cs typeface="Tahoma"/>
              </a:rPr>
              <a:t>Mahesh</a:t>
            </a:r>
            <a:r>
              <a:rPr sz="898" b="1" spc="-32">
                <a:solidFill>
                  <a:srgbClr val="231F20"/>
                </a:solidFill>
                <a:latin typeface="Tahoma"/>
                <a:cs typeface="Tahoma"/>
              </a:rPr>
              <a:t> </a:t>
            </a:r>
            <a:r>
              <a:rPr sz="898" b="1" spc="-22">
                <a:solidFill>
                  <a:srgbClr val="231F20"/>
                </a:solidFill>
                <a:latin typeface="Tahoma"/>
                <a:cs typeface="Tahoma"/>
              </a:rPr>
              <a:t>Melwani</a:t>
            </a:r>
            <a:endParaRPr sz="898">
              <a:latin typeface="Tahoma"/>
              <a:cs typeface="Tahoma"/>
            </a:endParaRPr>
          </a:p>
          <a:p>
            <a:pPr marL="8145">
              <a:spcBef>
                <a:spcPts val="77"/>
              </a:spcBef>
            </a:pPr>
            <a:r>
              <a:rPr sz="641">
                <a:solidFill>
                  <a:srgbClr val="231F20"/>
                </a:solidFill>
                <a:latin typeface="Tahoma"/>
                <a:cs typeface="Tahoma"/>
              </a:rPr>
              <a:t>Group</a:t>
            </a:r>
            <a:r>
              <a:rPr sz="641" spc="-26">
                <a:solidFill>
                  <a:srgbClr val="231F20"/>
                </a:solidFill>
                <a:latin typeface="Tahoma"/>
                <a:cs typeface="Tahoma"/>
              </a:rPr>
              <a:t> </a:t>
            </a:r>
            <a:r>
              <a:rPr sz="641">
                <a:solidFill>
                  <a:srgbClr val="231F20"/>
                </a:solidFill>
                <a:latin typeface="Tahoma"/>
                <a:cs typeface="Tahoma"/>
              </a:rPr>
              <a:t>Managing</a:t>
            </a:r>
            <a:r>
              <a:rPr sz="641" spc="-22">
                <a:solidFill>
                  <a:srgbClr val="231F20"/>
                </a:solidFill>
                <a:latin typeface="Tahoma"/>
                <a:cs typeface="Tahoma"/>
              </a:rPr>
              <a:t> </a:t>
            </a:r>
            <a:r>
              <a:rPr sz="641" spc="-6">
                <a:solidFill>
                  <a:srgbClr val="231F20"/>
                </a:solidFill>
                <a:latin typeface="Tahoma"/>
                <a:cs typeface="Tahoma"/>
              </a:rPr>
              <a:t>Director</a:t>
            </a:r>
            <a:endParaRPr sz="641">
              <a:latin typeface="Tahoma"/>
              <a:cs typeface="Tahoma"/>
            </a:endParaRPr>
          </a:p>
        </p:txBody>
      </p:sp>
      <p:sp>
        <p:nvSpPr>
          <p:cNvPr id="21" name="object 18">
            <a:extLst>
              <a:ext uri="{FF2B5EF4-FFF2-40B4-BE49-F238E27FC236}">
                <a16:creationId xmlns:a16="http://schemas.microsoft.com/office/drawing/2014/main" id="{5945D901-E16D-DA7A-1E08-0DF3C644192B}"/>
              </a:ext>
            </a:extLst>
          </p:cNvPr>
          <p:cNvSpPr txBox="1"/>
          <p:nvPr/>
        </p:nvSpPr>
        <p:spPr>
          <a:xfrm>
            <a:off x="8700235" y="2200110"/>
            <a:ext cx="1107030" cy="271415"/>
          </a:xfrm>
          <a:prstGeom prst="rect">
            <a:avLst/>
          </a:prstGeom>
        </p:spPr>
        <p:txBody>
          <a:bodyPr vert="horz" wrap="square" lIns="0" tIns="21584" rIns="0" bIns="0" rtlCol="0">
            <a:spAutoFit/>
          </a:bodyPr>
          <a:lstStyle/>
          <a:p>
            <a:pPr marL="13846">
              <a:spcBef>
                <a:spcPts val="170"/>
              </a:spcBef>
            </a:pPr>
            <a:r>
              <a:rPr sz="898" b="1" spc="-80">
                <a:solidFill>
                  <a:srgbClr val="231F20"/>
                </a:solidFill>
                <a:latin typeface="Tahoma"/>
                <a:cs typeface="Tahoma"/>
              </a:rPr>
              <a:t>Ramesh</a:t>
            </a:r>
            <a:r>
              <a:rPr sz="898" b="1" spc="-38">
                <a:solidFill>
                  <a:srgbClr val="231F20"/>
                </a:solidFill>
                <a:latin typeface="Tahoma"/>
                <a:cs typeface="Tahoma"/>
              </a:rPr>
              <a:t> </a:t>
            </a:r>
            <a:r>
              <a:rPr sz="898" b="1" spc="-64">
                <a:solidFill>
                  <a:srgbClr val="231F20"/>
                </a:solidFill>
                <a:latin typeface="Tahoma"/>
                <a:cs typeface="Tahoma"/>
              </a:rPr>
              <a:t>Sadhwani</a:t>
            </a:r>
            <a:endParaRPr sz="898">
              <a:latin typeface="Tahoma"/>
              <a:cs typeface="Tahoma"/>
            </a:endParaRPr>
          </a:p>
          <a:p>
            <a:pPr marL="8145">
              <a:spcBef>
                <a:spcPts val="77"/>
              </a:spcBef>
            </a:pPr>
            <a:r>
              <a:rPr sz="641">
                <a:solidFill>
                  <a:srgbClr val="231F20"/>
                </a:solidFill>
                <a:latin typeface="Tahoma"/>
                <a:cs typeface="Tahoma"/>
              </a:rPr>
              <a:t>Group</a:t>
            </a:r>
            <a:r>
              <a:rPr sz="641" spc="144">
                <a:solidFill>
                  <a:srgbClr val="231F20"/>
                </a:solidFill>
                <a:latin typeface="Tahoma"/>
                <a:cs typeface="Tahoma"/>
              </a:rPr>
              <a:t> </a:t>
            </a:r>
            <a:r>
              <a:rPr sz="641">
                <a:solidFill>
                  <a:srgbClr val="231F20"/>
                </a:solidFill>
                <a:latin typeface="Tahoma"/>
                <a:cs typeface="Tahoma"/>
              </a:rPr>
              <a:t>Managing</a:t>
            </a:r>
            <a:r>
              <a:rPr sz="641" spc="-29">
                <a:solidFill>
                  <a:srgbClr val="231F20"/>
                </a:solidFill>
                <a:latin typeface="Tahoma"/>
                <a:cs typeface="Tahoma"/>
              </a:rPr>
              <a:t> </a:t>
            </a:r>
            <a:r>
              <a:rPr sz="641" spc="-6">
                <a:solidFill>
                  <a:srgbClr val="231F20"/>
                </a:solidFill>
                <a:latin typeface="Tahoma"/>
                <a:cs typeface="Tahoma"/>
              </a:rPr>
              <a:t>Director</a:t>
            </a:r>
            <a:endParaRPr sz="641">
              <a:latin typeface="Tahoma"/>
              <a:cs typeface="Tahoma"/>
            </a:endParaRPr>
          </a:p>
        </p:txBody>
      </p:sp>
      <p:sp>
        <p:nvSpPr>
          <p:cNvPr id="23" name="object 19">
            <a:extLst>
              <a:ext uri="{FF2B5EF4-FFF2-40B4-BE49-F238E27FC236}">
                <a16:creationId xmlns:a16="http://schemas.microsoft.com/office/drawing/2014/main" id="{6DFCE8E7-EA23-64FE-7FAF-654862998312}"/>
              </a:ext>
            </a:extLst>
          </p:cNvPr>
          <p:cNvSpPr/>
          <p:nvPr/>
        </p:nvSpPr>
        <p:spPr>
          <a:xfrm flipV="1">
            <a:off x="7551733" y="897942"/>
            <a:ext cx="936572" cy="27955"/>
          </a:xfrm>
          <a:custGeom>
            <a:avLst/>
            <a:gdLst/>
            <a:ahLst/>
            <a:cxnLst/>
            <a:rect l="l" t="t" r="r" b="b"/>
            <a:pathLst>
              <a:path w="1056005">
                <a:moveTo>
                  <a:pt x="0" y="0"/>
                </a:moveTo>
                <a:lnTo>
                  <a:pt x="1056005" y="0"/>
                </a:lnTo>
              </a:path>
            </a:pathLst>
          </a:custGeom>
          <a:ln w="38100">
            <a:solidFill>
              <a:srgbClr val="1F1653"/>
            </a:solidFill>
          </a:ln>
        </p:spPr>
        <p:txBody>
          <a:bodyPr wrap="square" lIns="0" tIns="0" rIns="0" bIns="0" rtlCol="0"/>
          <a:lstStyle/>
          <a:p>
            <a:endParaRPr sz="1154"/>
          </a:p>
        </p:txBody>
      </p:sp>
      <p:pic>
        <p:nvPicPr>
          <p:cNvPr id="25" name="object 9" descr="A person in a suit&#10;&#10;AI-generated content may be incorrect.">
            <a:extLst>
              <a:ext uri="{FF2B5EF4-FFF2-40B4-BE49-F238E27FC236}">
                <a16:creationId xmlns:a16="http://schemas.microsoft.com/office/drawing/2014/main" id="{3513D88C-3E5E-5721-CABB-AFE60DDF036B}"/>
              </a:ext>
            </a:extLst>
          </p:cNvPr>
          <p:cNvPicPr/>
          <p:nvPr/>
        </p:nvPicPr>
        <p:blipFill>
          <a:blip r:embed="rId5" cstate="print"/>
          <a:stretch>
            <a:fillRect/>
          </a:stretch>
        </p:blipFill>
        <p:spPr>
          <a:xfrm>
            <a:off x="7302272" y="4411347"/>
            <a:ext cx="877342" cy="877335"/>
          </a:xfrm>
          <a:prstGeom prst="rect">
            <a:avLst/>
          </a:prstGeom>
        </p:spPr>
      </p:pic>
      <p:pic>
        <p:nvPicPr>
          <p:cNvPr id="27" name="object 10" descr="A person in a suit&#10;&#10;AI-generated content may be incorrect.">
            <a:extLst>
              <a:ext uri="{FF2B5EF4-FFF2-40B4-BE49-F238E27FC236}">
                <a16:creationId xmlns:a16="http://schemas.microsoft.com/office/drawing/2014/main" id="{AAF88432-FEC5-30D7-58FD-DAC16C726015}"/>
              </a:ext>
            </a:extLst>
          </p:cNvPr>
          <p:cNvPicPr/>
          <p:nvPr/>
        </p:nvPicPr>
        <p:blipFill>
          <a:blip r:embed="rId6" cstate="print"/>
          <a:stretch>
            <a:fillRect/>
          </a:stretch>
        </p:blipFill>
        <p:spPr>
          <a:xfrm>
            <a:off x="8374854" y="4411347"/>
            <a:ext cx="877335" cy="877335"/>
          </a:xfrm>
          <a:prstGeom prst="rect">
            <a:avLst/>
          </a:prstGeom>
        </p:spPr>
      </p:pic>
      <p:sp>
        <p:nvSpPr>
          <p:cNvPr id="29" name="object 13">
            <a:extLst>
              <a:ext uri="{FF2B5EF4-FFF2-40B4-BE49-F238E27FC236}">
                <a16:creationId xmlns:a16="http://schemas.microsoft.com/office/drawing/2014/main" id="{E54917A9-DC33-7DCA-DAC1-6DBCC939290C}"/>
              </a:ext>
            </a:extLst>
          </p:cNvPr>
          <p:cNvSpPr txBox="1"/>
          <p:nvPr/>
        </p:nvSpPr>
        <p:spPr>
          <a:xfrm>
            <a:off x="7349721" y="5407090"/>
            <a:ext cx="726117" cy="146404"/>
          </a:xfrm>
          <a:prstGeom prst="rect">
            <a:avLst/>
          </a:prstGeom>
        </p:spPr>
        <p:txBody>
          <a:bodyPr vert="horz" wrap="square" lIns="0" tIns="8145" rIns="0" bIns="0" rtlCol="0">
            <a:spAutoFit/>
          </a:bodyPr>
          <a:lstStyle/>
          <a:p>
            <a:pPr marL="8145">
              <a:spcBef>
                <a:spcPts val="64"/>
              </a:spcBef>
            </a:pPr>
            <a:r>
              <a:rPr sz="898" b="1" spc="-71" dirty="0">
                <a:solidFill>
                  <a:srgbClr val="231F20"/>
                </a:solidFill>
                <a:latin typeface="Tahoma"/>
                <a:cs typeface="Tahoma"/>
              </a:rPr>
              <a:t>Rishi</a:t>
            </a:r>
            <a:r>
              <a:rPr sz="898" b="1" spc="-16" dirty="0">
                <a:solidFill>
                  <a:srgbClr val="231F20"/>
                </a:solidFill>
                <a:latin typeface="Tahoma"/>
                <a:cs typeface="Tahoma"/>
              </a:rPr>
              <a:t> </a:t>
            </a:r>
            <a:r>
              <a:rPr sz="898" b="1" spc="-48" dirty="0">
                <a:solidFill>
                  <a:srgbClr val="231F20"/>
                </a:solidFill>
                <a:latin typeface="Tahoma"/>
                <a:cs typeface="Tahoma"/>
              </a:rPr>
              <a:t>Melwani</a:t>
            </a:r>
            <a:endParaRPr sz="898" dirty="0">
              <a:latin typeface="Tahoma"/>
              <a:cs typeface="Tahoma"/>
            </a:endParaRPr>
          </a:p>
        </p:txBody>
      </p:sp>
      <p:sp>
        <p:nvSpPr>
          <p:cNvPr id="32" name="object 14">
            <a:extLst>
              <a:ext uri="{FF2B5EF4-FFF2-40B4-BE49-F238E27FC236}">
                <a16:creationId xmlns:a16="http://schemas.microsoft.com/office/drawing/2014/main" id="{EB17BF2B-EA0C-018C-3763-10298CBA8AB5}"/>
              </a:ext>
            </a:extLst>
          </p:cNvPr>
          <p:cNvSpPr txBox="1"/>
          <p:nvPr/>
        </p:nvSpPr>
        <p:spPr>
          <a:xfrm>
            <a:off x="8384718" y="5414171"/>
            <a:ext cx="857657" cy="146404"/>
          </a:xfrm>
          <a:prstGeom prst="rect">
            <a:avLst/>
          </a:prstGeom>
        </p:spPr>
        <p:txBody>
          <a:bodyPr vert="horz" wrap="square" lIns="0" tIns="8145" rIns="0" bIns="0" rtlCol="0">
            <a:spAutoFit/>
          </a:bodyPr>
          <a:lstStyle/>
          <a:p>
            <a:pPr marL="8145">
              <a:spcBef>
                <a:spcPts val="64"/>
              </a:spcBef>
            </a:pPr>
            <a:r>
              <a:rPr sz="898" b="1" spc="-55">
                <a:solidFill>
                  <a:srgbClr val="231F20"/>
                </a:solidFill>
                <a:latin typeface="Tahoma"/>
                <a:cs typeface="Tahoma"/>
              </a:rPr>
              <a:t>Manoj</a:t>
            </a:r>
            <a:r>
              <a:rPr sz="898" b="1" spc="-45">
                <a:solidFill>
                  <a:srgbClr val="231F20"/>
                </a:solidFill>
                <a:latin typeface="Tahoma"/>
                <a:cs typeface="Tahoma"/>
              </a:rPr>
              <a:t> </a:t>
            </a:r>
            <a:r>
              <a:rPr sz="898" b="1" spc="-71">
                <a:solidFill>
                  <a:srgbClr val="231F20"/>
                </a:solidFill>
                <a:latin typeface="Tahoma"/>
                <a:cs typeface="Tahoma"/>
              </a:rPr>
              <a:t>Sadhwani</a:t>
            </a:r>
            <a:endParaRPr sz="898">
              <a:latin typeface="Tahoma"/>
              <a:cs typeface="Tahoma"/>
            </a:endParaRPr>
          </a:p>
        </p:txBody>
      </p:sp>
      <p:sp>
        <p:nvSpPr>
          <p:cNvPr id="41" name="object 21">
            <a:extLst>
              <a:ext uri="{FF2B5EF4-FFF2-40B4-BE49-F238E27FC236}">
                <a16:creationId xmlns:a16="http://schemas.microsoft.com/office/drawing/2014/main" id="{CA4646E0-729D-81AE-8DF2-86C0ACB7917D}"/>
              </a:ext>
            </a:extLst>
          </p:cNvPr>
          <p:cNvSpPr/>
          <p:nvPr/>
        </p:nvSpPr>
        <p:spPr>
          <a:xfrm>
            <a:off x="7400967" y="4277197"/>
            <a:ext cx="677248" cy="0"/>
          </a:xfrm>
          <a:custGeom>
            <a:avLst/>
            <a:gdLst/>
            <a:ahLst/>
            <a:cxnLst/>
            <a:rect l="l" t="t" r="r" b="b"/>
            <a:pathLst>
              <a:path w="1056005">
                <a:moveTo>
                  <a:pt x="0" y="0"/>
                </a:moveTo>
                <a:lnTo>
                  <a:pt x="1056005" y="0"/>
                </a:lnTo>
              </a:path>
            </a:pathLst>
          </a:custGeom>
          <a:ln w="38100">
            <a:solidFill>
              <a:srgbClr val="1F1653"/>
            </a:solidFill>
          </a:ln>
        </p:spPr>
        <p:txBody>
          <a:bodyPr wrap="square" lIns="0" tIns="0" rIns="0" bIns="0" rtlCol="0"/>
          <a:lstStyle/>
          <a:p>
            <a:endParaRPr sz="1154"/>
          </a:p>
        </p:txBody>
      </p:sp>
      <p:sp>
        <p:nvSpPr>
          <p:cNvPr id="43" name="object 22">
            <a:extLst>
              <a:ext uri="{FF2B5EF4-FFF2-40B4-BE49-F238E27FC236}">
                <a16:creationId xmlns:a16="http://schemas.microsoft.com/office/drawing/2014/main" id="{32E46F74-1BA5-6F98-3007-66ED702FB9D8}"/>
              </a:ext>
            </a:extLst>
          </p:cNvPr>
          <p:cNvSpPr txBox="1"/>
          <p:nvPr/>
        </p:nvSpPr>
        <p:spPr>
          <a:xfrm>
            <a:off x="7396163" y="3841049"/>
            <a:ext cx="1766220" cy="304331"/>
          </a:xfrm>
          <a:prstGeom prst="rect">
            <a:avLst/>
          </a:prstGeom>
        </p:spPr>
        <p:txBody>
          <a:bodyPr vert="horz" wrap="square" lIns="0" tIns="8145" rIns="0" bIns="0" rtlCol="0">
            <a:spAutoFit/>
          </a:bodyPr>
          <a:lstStyle/>
          <a:p>
            <a:pPr marL="8145">
              <a:spcBef>
                <a:spcPts val="64"/>
              </a:spcBef>
            </a:pPr>
            <a:r>
              <a:rPr sz="1924" b="1" spc="-119">
                <a:solidFill>
                  <a:srgbClr val="231F20"/>
                </a:solidFill>
                <a:latin typeface="Tahoma"/>
                <a:cs typeface="Tahoma"/>
              </a:rPr>
              <a:t>Group</a:t>
            </a:r>
            <a:r>
              <a:rPr sz="1924" b="1" spc="-73">
                <a:solidFill>
                  <a:srgbClr val="231F20"/>
                </a:solidFill>
                <a:latin typeface="Tahoma"/>
                <a:cs typeface="Tahoma"/>
              </a:rPr>
              <a:t> </a:t>
            </a:r>
            <a:r>
              <a:rPr sz="1924" b="1" spc="-93">
                <a:solidFill>
                  <a:srgbClr val="231F20"/>
                </a:solidFill>
                <a:latin typeface="Tahoma"/>
                <a:cs typeface="Tahoma"/>
              </a:rPr>
              <a:t>Directors</a:t>
            </a:r>
            <a:endParaRPr sz="1924">
              <a:latin typeface="Tahoma"/>
              <a:cs typeface="Tahoma"/>
            </a:endParaRPr>
          </a:p>
        </p:txBody>
      </p:sp>
      <p:pic>
        <p:nvPicPr>
          <p:cNvPr id="50" name="Content Placeholder 49" descr="Download Free Leadership Generic Blue icon Icons in PNG &amp; SVG">
            <a:extLst>
              <a:ext uri="{FF2B5EF4-FFF2-40B4-BE49-F238E27FC236}">
                <a16:creationId xmlns:a16="http://schemas.microsoft.com/office/drawing/2014/main" id="{449DF9C2-8B23-4A64-AFD9-69D5BBCD1ADA}"/>
              </a:ext>
            </a:extLst>
          </p:cNvPr>
          <p:cNvPicPr>
            <a:picLocks noGrp="1" noChangeAspect="1"/>
          </p:cNvPicPr>
          <p:nvPr>
            <p:ph idx="1"/>
          </p:nvPr>
        </p:nvPicPr>
        <p:blipFill>
          <a:blip r:embed="rId7"/>
          <a:stretch>
            <a:fillRect/>
          </a:stretch>
        </p:blipFill>
        <p:spPr>
          <a:xfrm>
            <a:off x="1030482" y="2343210"/>
            <a:ext cx="4049414" cy="3646848"/>
          </a:xfrm>
        </p:spPr>
      </p:pic>
      <p:sp>
        <p:nvSpPr>
          <p:cNvPr id="52" name="Rectangle 51">
            <a:extLst>
              <a:ext uri="{FF2B5EF4-FFF2-40B4-BE49-F238E27FC236}">
                <a16:creationId xmlns:a16="http://schemas.microsoft.com/office/drawing/2014/main" id="{DCB92E0C-A510-74AF-BFE4-FA449F94BE05}"/>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3" name="Picture 2" descr="Melcom Limited - Melcom">
            <a:extLst>
              <a:ext uri="{FF2B5EF4-FFF2-40B4-BE49-F238E27FC236}">
                <a16:creationId xmlns:a16="http://schemas.microsoft.com/office/drawing/2014/main" id="{A152F085-E061-C600-193C-610EBB50BFDC}"/>
              </a:ext>
            </a:extLst>
          </p:cNvPr>
          <p:cNvPicPr>
            <a:picLocks noChangeAspect="1"/>
          </p:cNvPicPr>
          <p:nvPr/>
        </p:nvPicPr>
        <p:blipFill>
          <a:blip r:embed="rId8"/>
          <a:stretch>
            <a:fillRect/>
          </a:stretch>
        </p:blipFill>
        <p:spPr>
          <a:xfrm>
            <a:off x="10796411" y="-11642"/>
            <a:ext cx="1295400" cy="361950"/>
          </a:xfrm>
          <a:prstGeom prst="rect">
            <a:avLst/>
          </a:prstGeom>
        </p:spPr>
      </p:pic>
    </p:spTree>
    <p:extLst>
      <p:ext uri="{BB962C8B-B14F-4D97-AF65-F5344CB8AC3E}">
        <p14:creationId xmlns:p14="http://schemas.microsoft.com/office/powerpoint/2010/main" val="1393849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99407-95D9-4BAD-871E-1E78A5D3E6F3}"/>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E55864F5-20E3-439C-0734-814F9F75E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FB4735-C94A-E083-5864-0A81AD26118C}"/>
              </a:ext>
            </a:extLst>
          </p:cNvPr>
          <p:cNvSpPr>
            <a:spLocks noGrp="1"/>
          </p:cNvSpPr>
          <p:nvPr>
            <p:ph type="title"/>
          </p:nvPr>
        </p:nvSpPr>
        <p:spPr>
          <a:xfrm>
            <a:off x="589560" y="856180"/>
            <a:ext cx="5279408" cy="1128068"/>
          </a:xfrm>
        </p:spPr>
        <p:txBody>
          <a:bodyPr anchor="ctr">
            <a:normAutofit fontScale="90000"/>
          </a:bodyPr>
          <a:lstStyle/>
          <a:p>
            <a:r>
              <a:rPr lang="en-US" sz="4800" b="1" dirty="0"/>
              <a:t>Our Leadership Team</a:t>
            </a:r>
            <a:endParaRPr lang="en-US" sz="4800" dirty="0"/>
          </a:p>
          <a:p>
            <a:endParaRPr lang="en-US" sz="3700" b="1" dirty="0"/>
          </a:p>
        </p:txBody>
      </p:sp>
      <p:grpSp>
        <p:nvGrpSpPr>
          <p:cNvPr id="36" name="Group 35">
            <a:extLst>
              <a:ext uri="{FF2B5EF4-FFF2-40B4-BE49-F238E27FC236}">
                <a16:creationId xmlns:a16="http://schemas.microsoft.com/office/drawing/2014/main" id="{2F7B62BE-17F4-F43A-B5AA-D37BF83D9D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0" name="Rectangle 29">
              <a:extLst>
                <a:ext uri="{FF2B5EF4-FFF2-40B4-BE49-F238E27FC236}">
                  <a16:creationId xmlns:a16="http://schemas.microsoft.com/office/drawing/2014/main" id="{52207570-85AB-B318-5AEF-003D6915C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02632B1-EDB4-6F38-ADC3-681D30760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6C1856ED-8027-EF22-685E-196E5591E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0F6EA97-78CF-3F9B-7D39-AB87EA5603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2F3ADC8-59F0-1A61-A951-894A88C4D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EA71852-8DA1-3F88-0701-06C930507D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Content Placeholder 49" descr="Download Free Leadership Generic Blue icon Icons in PNG &amp; SVG">
            <a:extLst>
              <a:ext uri="{FF2B5EF4-FFF2-40B4-BE49-F238E27FC236}">
                <a16:creationId xmlns:a16="http://schemas.microsoft.com/office/drawing/2014/main" id="{C4B7A695-7398-5493-95C2-0FB2B364440E}"/>
              </a:ext>
            </a:extLst>
          </p:cNvPr>
          <p:cNvPicPr>
            <a:picLocks noGrp="1" noChangeAspect="1"/>
          </p:cNvPicPr>
          <p:nvPr>
            <p:ph idx="1"/>
          </p:nvPr>
        </p:nvPicPr>
        <p:blipFill>
          <a:blip r:embed="rId2"/>
          <a:stretch>
            <a:fillRect/>
          </a:stretch>
        </p:blipFill>
        <p:spPr>
          <a:xfrm>
            <a:off x="1030482" y="2773532"/>
            <a:ext cx="3571590" cy="3216526"/>
          </a:xfrm>
        </p:spPr>
      </p:pic>
      <p:sp>
        <p:nvSpPr>
          <p:cNvPr id="52" name="Rectangle 51">
            <a:extLst>
              <a:ext uri="{FF2B5EF4-FFF2-40B4-BE49-F238E27FC236}">
                <a16:creationId xmlns:a16="http://schemas.microsoft.com/office/drawing/2014/main" id="{675018B5-152F-B959-0B19-9392F64B69E6}"/>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3" name="Picture 2" descr="Melcom Limited - Melcom">
            <a:extLst>
              <a:ext uri="{FF2B5EF4-FFF2-40B4-BE49-F238E27FC236}">
                <a16:creationId xmlns:a16="http://schemas.microsoft.com/office/drawing/2014/main" id="{D8755B96-23C7-7187-EDFF-F2427C9FA81E}"/>
              </a:ext>
            </a:extLst>
          </p:cNvPr>
          <p:cNvPicPr>
            <a:picLocks noChangeAspect="1"/>
          </p:cNvPicPr>
          <p:nvPr/>
        </p:nvPicPr>
        <p:blipFill>
          <a:blip r:embed="rId3"/>
          <a:stretch>
            <a:fillRect/>
          </a:stretch>
        </p:blipFill>
        <p:spPr>
          <a:xfrm>
            <a:off x="10796411" y="-11642"/>
            <a:ext cx="1295400" cy="361950"/>
          </a:xfrm>
          <a:prstGeom prst="rect">
            <a:avLst/>
          </a:prstGeom>
        </p:spPr>
      </p:pic>
      <p:sp>
        <p:nvSpPr>
          <p:cNvPr id="10" name="Rectangle 9">
            <a:extLst>
              <a:ext uri="{FF2B5EF4-FFF2-40B4-BE49-F238E27FC236}">
                <a16:creationId xmlns:a16="http://schemas.microsoft.com/office/drawing/2014/main" id="{BE9C5A3C-8C13-A6A6-CBE2-1348C92BE0B5}"/>
              </a:ext>
            </a:extLst>
          </p:cNvPr>
          <p:cNvSpPr/>
          <p:nvPr/>
        </p:nvSpPr>
        <p:spPr>
          <a:xfrm>
            <a:off x="6720109" y="357447"/>
            <a:ext cx="4975066" cy="60716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9CB14A2-D970-28A0-F251-52B93B1D7C66}"/>
              </a:ext>
            </a:extLst>
          </p:cNvPr>
          <p:cNvPicPr>
            <a:picLocks/>
          </p:cNvPicPr>
          <p:nvPr/>
        </p:nvPicPr>
        <p:blipFill>
          <a:blip r:embed="rId4">
            <a:extLst>
              <a:ext uri="{28A0092B-C50C-407E-A947-70E740481C1C}">
                <a14:useLocalDpi xmlns:a14="http://schemas.microsoft.com/office/drawing/2010/main" val="0"/>
              </a:ext>
            </a:extLst>
          </a:blip>
          <a:srcRect l="6609" t="20963" r="70861" b="61067"/>
          <a:stretch/>
        </p:blipFill>
        <p:spPr>
          <a:xfrm>
            <a:off x="8009790" y="731800"/>
            <a:ext cx="1155200" cy="1287684"/>
          </a:xfrm>
          <a:prstGeom prst="rect">
            <a:avLst/>
          </a:prstGeom>
        </p:spPr>
      </p:pic>
      <p:pic>
        <p:nvPicPr>
          <p:cNvPr id="14" name="Picture 13">
            <a:extLst>
              <a:ext uri="{FF2B5EF4-FFF2-40B4-BE49-F238E27FC236}">
                <a16:creationId xmlns:a16="http://schemas.microsoft.com/office/drawing/2014/main" id="{CAA98B36-5218-03D3-4D88-21C47F74A283}"/>
              </a:ext>
            </a:extLst>
          </p:cNvPr>
          <p:cNvPicPr>
            <a:picLocks/>
          </p:cNvPicPr>
          <p:nvPr/>
        </p:nvPicPr>
        <p:blipFill>
          <a:blip r:embed="rId4">
            <a:extLst>
              <a:ext uri="{28A0092B-C50C-407E-A947-70E740481C1C}">
                <a14:useLocalDpi xmlns:a14="http://schemas.microsoft.com/office/drawing/2010/main" val="0"/>
              </a:ext>
            </a:extLst>
          </a:blip>
          <a:srcRect l="73772" t="24040" r="6453" b="62582"/>
          <a:stretch/>
        </p:blipFill>
        <p:spPr>
          <a:xfrm>
            <a:off x="9334592" y="900834"/>
            <a:ext cx="1023873" cy="998117"/>
          </a:xfrm>
          <a:prstGeom prst="rect">
            <a:avLst/>
          </a:prstGeom>
        </p:spPr>
      </p:pic>
      <p:pic>
        <p:nvPicPr>
          <p:cNvPr id="16" name="Picture 15">
            <a:extLst>
              <a:ext uri="{FF2B5EF4-FFF2-40B4-BE49-F238E27FC236}">
                <a16:creationId xmlns:a16="http://schemas.microsoft.com/office/drawing/2014/main" id="{337D3C68-F043-90FE-9EC1-3A1845795080}"/>
              </a:ext>
            </a:extLst>
          </p:cNvPr>
          <p:cNvPicPr>
            <a:picLocks/>
          </p:cNvPicPr>
          <p:nvPr/>
        </p:nvPicPr>
        <p:blipFill>
          <a:blip r:embed="rId4">
            <a:extLst>
              <a:ext uri="{28A0092B-C50C-407E-A947-70E740481C1C}">
                <a14:useLocalDpi xmlns:a14="http://schemas.microsoft.com/office/drawing/2010/main" val="0"/>
              </a:ext>
            </a:extLst>
          </a:blip>
          <a:srcRect l="19268" t="46076" r="16951" b="38735"/>
          <a:stretch/>
        </p:blipFill>
        <p:spPr>
          <a:xfrm>
            <a:off x="7371840" y="2575390"/>
            <a:ext cx="3789678" cy="1256958"/>
          </a:xfrm>
          <a:prstGeom prst="rect">
            <a:avLst/>
          </a:prstGeom>
        </p:spPr>
      </p:pic>
      <p:pic>
        <p:nvPicPr>
          <p:cNvPr id="18" name="Picture 17">
            <a:extLst>
              <a:ext uri="{FF2B5EF4-FFF2-40B4-BE49-F238E27FC236}">
                <a16:creationId xmlns:a16="http://schemas.microsoft.com/office/drawing/2014/main" id="{C69A48A8-EB50-D010-4526-689263475376}"/>
              </a:ext>
            </a:extLst>
          </p:cNvPr>
          <p:cNvPicPr>
            <a:picLocks/>
          </p:cNvPicPr>
          <p:nvPr/>
        </p:nvPicPr>
        <p:blipFill>
          <a:blip r:embed="rId4">
            <a:extLst>
              <a:ext uri="{28A0092B-C50C-407E-A947-70E740481C1C}">
                <a14:useLocalDpi xmlns:a14="http://schemas.microsoft.com/office/drawing/2010/main" val="0"/>
              </a:ext>
            </a:extLst>
          </a:blip>
          <a:srcRect l="22056" t="69917" r="16179" b="16142"/>
          <a:stretch/>
        </p:blipFill>
        <p:spPr>
          <a:xfrm>
            <a:off x="7326647" y="4255614"/>
            <a:ext cx="3789678" cy="1116446"/>
          </a:xfrm>
          <a:prstGeom prst="rect">
            <a:avLst/>
          </a:prstGeom>
        </p:spPr>
      </p:pic>
      <p:sp>
        <p:nvSpPr>
          <p:cNvPr id="20" name="TextBox 19">
            <a:extLst>
              <a:ext uri="{FF2B5EF4-FFF2-40B4-BE49-F238E27FC236}">
                <a16:creationId xmlns:a16="http://schemas.microsoft.com/office/drawing/2014/main" id="{8791315E-5EF1-647F-13F8-3D742115C132}"/>
              </a:ext>
            </a:extLst>
          </p:cNvPr>
          <p:cNvSpPr txBox="1"/>
          <p:nvPr/>
        </p:nvSpPr>
        <p:spPr>
          <a:xfrm>
            <a:off x="7810757" y="3845048"/>
            <a:ext cx="456856" cy="138499"/>
          </a:xfrm>
          <a:prstGeom prst="rect">
            <a:avLst/>
          </a:prstGeom>
          <a:noFill/>
        </p:spPr>
        <p:txBody>
          <a:bodyPr vert="horz" wrap="none" lIns="0" tIns="0" rIns="0" bIns="0" rtlCol="0">
            <a:spAutoFit/>
          </a:bodyPr>
          <a:lstStyle/>
          <a:p>
            <a:r>
              <a:rPr lang="en-US" sz="900" dirty="0">
                <a:solidFill>
                  <a:srgbClr val="000000"/>
                </a:solidFill>
                <a:latin typeface="+mj-lt"/>
              </a:rPr>
              <a:t>Sushil Jha</a:t>
            </a:r>
          </a:p>
        </p:txBody>
      </p:sp>
      <p:sp>
        <p:nvSpPr>
          <p:cNvPr id="22" name="TextBox 21">
            <a:extLst>
              <a:ext uri="{FF2B5EF4-FFF2-40B4-BE49-F238E27FC236}">
                <a16:creationId xmlns:a16="http://schemas.microsoft.com/office/drawing/2014/main" id="{1391438A-3492-BCCB-46D0-599B4E170CD8}"/>
              </a:ext>
            </a:extLst>
          </p:cNvPr>
          <p:cNvSpPr txBox="1"/>
          <p:nvPr/>
        </p:nvSpPr>
        <p:spPr>
          <a:xfrm>
            <a:off x="8917717" y="3857694"/>
            <a:ext cx="607539" cy="138499"/>
          </a:xfrm>
          <a:prstGeom prst="rect">
            <a:avLst/>
          </a:prstGeom>
          <a:noFill/>
        </p:spPr>
        <p:txBody>
          <a:bodyPr vert="horz" wrap="none" lIns="0" tIns="0" rIns="0" bIns="0" rtlCol="0">
            <a:spAutoFit/>
          </a:bodyPr>
          <a:lstStyle/>
          <a:p>
            <a:r>
              <a:rPr lang="en-US" sz="900" dirty="0">
                <a:solidFill>
                  <a:srgbClr val="000000"/>
                </a:solidFill>
                <a:latin typeface="+mj-lt"/>
              </a:rPr>
              <a:t>Manish Malik</a:t>
            </a:r>
          </a:p>
        </p:txBody>
      </p:sp>
      <p:sp>
        <p:nvSpPr>
          <p:cNvPr id="24" name="TextBox 23">
            <a:extLst>
              <a:ext uri="{FF2B5EF4-FFF2-40B4-BE49-F238E27FC236}">
                <a16:creationId xmlns:a16="http://schemas.microsoft.com/office/drawing/2014/main" id="{CE1B5F7D-5FFB-1245-6265-B98AB08F25D6}"/>
              </a:ext>
            </a:extLst>
          </p:cNvPr>
          <p:cNvSpPr txBox="1"/>
          <p:nvPr/>
        </p:nvSpPr>
        <p:spPr>
          <a:xfrm>
            <a:off x="10265632" y="3818974"/>
            <a:ext cx="575479" cy="138499"/>
          </a:xfrm>
          <a:prstGeom prst="rect">
            <a:avLst/>
          </a:prstGeom>
          <a:noFill/>
        </p:spPr>
        <p:txBody>
          <a:bodyPr vert="horz" wrap="none" lIns="0" tIns="0" rIns="0" bIns="0" rtlCol="0">
            <a:spAutoFit/>
          </a:bodyPr>
          <a:lstStyle/>
          <a:p>
            <a:r>
              <a:rPr lang="en-US" sz="900" dirty="0">
                <a:solidFill>
                  <a:srgbClr val="000000"/>
                </a:solidFill>
                <a:latin typeface="+mj-lt"/>
              </a:rPr>
              <a:t>Francis Sam</a:t>
            </a:r>
          </a:p>
        </p:txBody>
      </p:sp>
      <p:sp>
        <p:nvSpPr>
          <p:cNvPr id="26" name="TextBox 25">
            <a:extLst>
              <a:ext uri="{FF2B5EF4-FFF2-40B4-BE49-F238E27FC236}">
                <a16:creationId xmlns:a16="http://schemas.microsoft.com/office/drawing/2014/main" id="{FE518882-FAFF-5A56-C84F-A1E294AB4237}"/>
              </a:ext>
            </a:extLst>
          </p:cNvPr>
          <p:cNvSpPr txBox="1"/>
          <p:nvPr/>
        </p:nvSpPr>
        <p:spPr>
          <a:xfrm>
            <a:off x="7704418" y="4009565"/>
            <a:ext cx="629981" cy="138499"/>
          </a:xfrm>
          <a:prstGeom prst="rect">
            <a:avLst/>
          </a:prstGeom>
          <a:noFill/>
        </p:spPr>
        <p:txBody>
          <a:bodyPr vert="horz" wrap="none" lIns="0" tIns="0" rIns="0" bIns="0" rtlCol="0">
            <a:spAutoFit/>
          </a:bodyPr>
          <a:lstStyle/>
          <a:p>
            <a:r>
              <a:rPr lang="en-US" sz="900" dirty="0">
                <a:solidFill>
                  <a:srgbClr val="000000"/>
                </a:solidFill>
                <a:latin typeface="+mj-lt"/>
              </a:rPr>
              <a:t>Head of Audit</a:t>
            </a:r>
          </a:p>
        </p:txBody>
      </p:sp>
      <p:sp>
        <p:nvSpPr>
          <p:cNvPr id="28" name="TextBox 27">
            <a:extLst>
              <a:ext uri="{FF2B5EF4-FFF2-40B4-BE49-F238E27FC236}">
                <a16:creationId xmlns:a16="http://schemas.microsoft.com/office/drawing/2014/main" id="{AA916BC4-3418-A1B6-88F8-598D45878BD5}"/>
              </a:ext>
            </a:extLst>
          </p:cNvPr>
          <p:cNvSpPr txBox="1"/>
          <p:nvPr/>
        </p:nvSpPr>
        <p:spPr>
          <a:xfrm>
            <a:off x="8757867" y="4021667"/>
            <a:ext cx="1029128" cy="138499"/>
          </a:xfrm>
          <a:prstGeom prst="rect">
            <a:avLst/>
          </a:prstGeom>
          <a:noFill/>
        </p:spPr>
        <p:txBody>
          <a:bodyPr vert="horz" wrap="none" lIns="0" tIns="0" rIns="0" bIns="0" rtlCol="0">
            <a:spAutoFit/>
          </a:bodyPr>
          <a:lstStyle/>
          <a:p>
            <a:r>
              <a:rPr lang="en-US" sz="900" dirty="0">
                <a:solidFill>
                  <a:srgbClr val="000000"/>
                </a:solidFill>
                <a:latin typeface="+mj-lt"/>
              </a:rPr>
              <a:t>Chief Financial Officer</a:t>
            </a:r>
          </a:p>
        </p:txBody>
      </p:sp>
      <p:sp>
        <p:nvSpPr>
          <p:cNvPr id="31" name="TextBox 30">
            <a:extLst>
              <a:ext uri="{FF2B5EF4-FFF2-40B4-BE49-F238E27FC236}">
                <a16:creationId xmlns:a16="http://schemas.microsoft.com/office/drawing/2014/main" id="{338F78B5-E812-B274-3022-3BE5D5163124}"/>
              </a:ext>
            </a:extLst>
          </p:cNvPr>
          <p:cNvSpPr txBox="1"/>
          <p:nvPr/>
        </p:nvSpPr>
        <p:spPr>
          <a:xfrm>
            <a:off x="10150909" y="4034247"/>
            <a:ext cx="795089" cy="138499"/>
          </a:xfrm>
          <a:prstGeom prst="rect">
            <a:avLst/>
          </a:prstGeom>
          <a:noFill/>
        </p:spPr>
        <p:txBody>
          <a:bodyPr vert="horz" wrap="none" lIns="0" tIns="0" rIns="0" bIns="0" rtlCol="0">
            <a:spAutoFit/>
          </a:bodyPr>
          <a:lstStyle/>
          <a:p>
            <a:r>
              <a:rPr lang="en-US" sz="900" dirty="0">
                <a:solidFill>
                  <a:srgbClr val="000000"/>
                </a:solidFill>
                <a:latin typeface="+mj-lt"/>
              </a:rPr>
              <a:t>General Manager</a:t>
            </a:r>
          </a:p>
        </p:txBody>
      </p:sp>
      <p:sp>
        <p:nvSpPr>
          <p:cNvPr id="40" name="TextBox 39">
            <a:extLst>
              <a:ext uri="{FF2B5EF4-FFF2-40B4-BE49-F238E27FC236}">
                <a16:creationId xmlns:a16="http://schemas.microsoft.com/office/drawing/2014/main" id="{EF2F2A17-3E59-17F5-3FCD-A1E686D082D2}"/>
              </a:ext>
            </a:extLst>
          </p:cNvPr>
          <p:cNvSpPr txBox="1"/>
          <p:nvPr/>
        </p:nvSpPr>
        <p:spPr>
          <a:xfrm>
            <a:off x="7601690" y="5389852"/>
            <a:ext cx="652423" cy="391004"/>
          </a:xfrm>
          <a:prstGeom prst="rect">
            <a:avLst/>
          </a:prstGeom>
          <a:noFill/>
        </p:spPr>
        <p:txBody>
          <a:bodyPr vert="horz" wrap="none" lIns="0" tIns="0" rIns="0" bIns="0" rtlCol="0">
            <a:spAutoFit/>
          </a:bodyPr>
          <a:lstStyle/>
          <a:p>
            <a:pPr>
              <a:lnSpc>
                <a:spcPts val="1600"/>
              </a:lnSpc>
            </a:pPr>
            <a:r>
              <a:rPr lang="en-US" sz="900" dirty="0">
                <a:solidFill>
                  <a:srgbClr val="000000"/>
                </a:solidFill>
                <a:latin typeface="+mj-lt"/>
              </a:rPr>
              <a:t>Rupesh Singh </a:t>
            </a:r>
          </a:p>
          <a:p>
            <a:pPr>
              <a:lnSpc>
                <a:spcPts val="1600"/>
              </a:lnSpc>
            </a:pPr>
            <a:endParaRPr lang="en-US" sz="900" dirty="0">
              <a:latin typeface="+mj-lt"/>
            </a:endParaRPr>
          </a:p>
        </p:txBody>
      </p:sp>
      <p:sp>
        <p:nvSpPr>
          <p:cNvPr id="42" name="TextBox 41">
            <a:extLst>
              <a:ext uri="{FF2B5EF4-FFF2-40B4-BE49-F238E27FC236}">
                <a16:creationId xmlns:a16="http://schemas.microsoft.com/office/drawing/2014/main" id="{139D184C-5118-04EB-3A9A-2E9B9D0DA902}"/>
              </a:ext>
            </a:extLst>
          </p:cNvPr>
          <p:cNvSpPr txBox="1"/>
          <p:nvPr/>
        </p:nvSpPr>
        <p:spPr>
          <a:xfrm>
            <a:off x="7194281" y="5648598"/>
            <a:ext cx="1389804" cy="278794"/>
          </a:xfrm>
          <a:prstGeom prst="rect">
            <a:avLst/>
          </a:prstGeom>
          <a:noFill/>
        </p:spPr>
        <p:txBody>
          <a:bodyPr vert="horz" wrap="none" lIns="0" tIns="0" rIns="0" bIns="0" rtlCol="0">
            <a:spAutoFit/>
          </a:bodyPr>
          <a:lstStyle/>
          <a:p>
            <a:pPr>
              <a:lnSpc>
                <a:spcPts val="1100"/>
              </a:lnSpc>
            </a:pPr>
            <a:r>
              <a:rPr lang="en-US" sz="900" dirty="0">
                <a:solidFill>
                  <a:srgbClr val="000000"/>
                </a:solidFill>
                <a:latin typeface="+mj-lt"/>
              </a:rPr>
              <a:t>Group Chief Officer - Projects </a:t>
            </a:r>
          </a:p>
          <a:p>
            <a:pPr>
              <a:lnSpc>
                <a:spcPts val="1100"/>
              </a:lnSpc>
            </a:pPr>
            <a:endParaRPr lang="en-US" sz="900" dirty="0">
              <a:latin typeface="+mj-lt"/>
            </a:endParaRPr>
          </a:p>
        </p:txBody>
      </p:sp>
      <p:sp>
        <p:nvSpPr>
          <p:cNvPr id="44" name="TextBox 43">
            <a:extLst>
              <a:ext uri="{FF2B5EF4-FFF2-40B4-BE49-F238E27FC236}">
                <a16:creationId xmlns:a16="http://schemas.microsoft.com/office/drawing/2014/main" id="{AE682D1B-5633-1815-6F5D-DC807176B327}"/>
              </a:ext>
            </a:extLst>
          </p:cNvPr>
          <p:cNvSpPr txBox="1"/>
          <p:nvPr/>
        </p:nvSpPr>
        <p:spPr>
          <a:xfrm>
            <a:off x="8860213" y="5372060"/>
            <a:ext cx="2103140" cy="391004"/>
          </a:xfrm>
          <a:prstGeom prst="rect">
            <a:avLst/>
          </a:prstGeom>
          <a:noFill/>
        </p:spPr>
        <p:txBody>
          <a:bodyPr vert="horz" wrap="none" lIns="0" tIns="0" rIns="0" bIns="0" rtlCol="0">
            <a:spAutoFit/>
          </a:bodyPr>
          <a:lstStyle/>
          <a:p>
            <a:pPr marL="0" marR="0" lvl="0" indent="0" defTabSz="914400" eaLnBrk="1" fontAlgn="auto" latinLnBrk="0" hangingPunct="1">
              <a:lnSpc>
                <a:spcPts val="1600"/>
              </a:lnSpc>
              <a:spcBef>
                <a:spcPts val="0"/>
              </a:spcBef>
              <a:spcAft>
                <a:spcPts val="0"/>
              </a:spcAft>
              <a:buClrTx/>
              <a:buSzTx/>
              <a:buNone/>
              <a:tabLst>
                <a:tab pos="1625600" algn="l"/>
              </a:tabLst>
              <a:defRPr/>
            </a:pPr>
            <a:r>
              <a:rPr lang="en-US" sz="900" dirty="0">
                <a:solidFill>
                  <a:srgbClr val="000000"/>
                </a:solidFill>
                <a:latin typeface="+mj-lt"/>
              </a:rPr>
              <a:t>Narinder Singh                                Zahed Siddiqui </a:t>
            </a:r>
          </a:p>
          <a:p>
            <a:pPr marL="0" marR="0" lvl="0" indent="0" defTabSz="914400" eaLnBrk="1" fontAlgn="auto" latinLnBrk="0" hangingPunct="1">
              <a:lnSpc>
                <a:spcPts val="1600"/>
              </a:lnSpc>
              <a:spcBef>
                <a:spcPts val="0"/>
              </a:spcBef>
              <a:spcAft>
                <a:spcPts val="0"/>
              </a:spcAft>
              <a:buClrTx/>
              <a:buSzTx/>
              <a:buNone/>
              <a:tabLst>
                <a:tab pos="1625600" algn="l"/>
              </a:tabLst>
              <a:defRPr/>
            </a:pPr>
            <a:endParaRPr lang="en-US" sz="900" dirty="0">
              <a:solidFill>
                <a:srgbClr val="000000"/>
              </a:solidFill>
              <a:latin typeface="+mj-lt"/>
            </a:endParaRPr>
          </a:p>
        </p:txBody>
      </p:sp>
      <p:sp>
        <p:nvSpPr>
          <p:cNvPr id="45" name="TextBox 44">
            <a:extLst>
              <a:ext uri="{FF2B5EF4-FFF2-40B4-BE49-F238E27FC236}">
                <a16:creationId xmlns:a16="http://schemas.microsoft.com/office/drawing/2014/main" id="{43ED95FF-7BFA-F1A5-94B0-8EC7C5554F9B}"/>
              </a:ext>
            </a:extLst>
          </p:cNvPr>
          <p:cNvSpPr txBox="1"/>
          <p:nvPr/>
        </p:nvSpPr>
        <p:spPr>
          <a:xfrm>
            <a:off x="8691388" y="5633895"/>
            <a:ext cx="2681824" cy="525657"/>
          </a:xfrm>
          <a:prstGeom prst="rect">
            <a:avLst/>
          </a:prstGeom>
          <a:noFill/>
        </p:spPr>
        <p:txBody>
          <a:bodyPr vert="horz" wrap="none" lIns="0" tIns="0" rIns="0" bIns="0" rtlCol="0">
            <a:spAutoFit/>
          </a:bodyPr>
          <a:lstStyle/>
          <a:p>
            <a:pPr marL="0" marR="0" lvl="0" indent="178308" defTabSz="914400" eaLnBrk="1" fontAlgn="auto" latinLnBrk="0" hangingPunct="1">
              <a:lnSpc>
                <a:spcPts val="1400"/>
              </a:lnSpc>
              <a:spcBef>
                <a:spcPts val="0"/>
              </a:spcBef>
              <a:spcAft>
                <a:spcPts val="0"/>
              </a:spcAft>
              <a:buClrTx/>
              <a:buSzTx/>
              <a:buNone/>
              <a:tabLst>
                <a:tab pos="1498600" algn="l"/>
              </a:tabLst>
              <a:defRPr/>
            </a:pPr>
            <a:r>
              <a:rPr lang="en-US" sz="900" dirty="0">
                <a:solidFill>
                  <a:srgbClr val="000000"/>
                </a:solidFill>
                <a:latin typeface="+mj-lt"/>
              </a:rPr>
              <a:t>Chief Business 	Chief Information Officer </a:t>
            </a:r>
            <a:br>
              <a:rPr lang="en-US" sz="900" dirty="0">
                <a:solidFill>
                  <a:srgbClr val="000000"/>
                </a:solidFill>
                <a:latin typeface="+mj-lt"/>
              </a:rPr>
            </a:br>
            <a:r>
              <a:rPr lang="en-US" sz="900" dirty="0">
                <a:solidFill>
                  <a:srgbClr val="000000"/>
                </a:solidFill>
                <a:latin typeface="+mj-lt"/>
              </a:rPr>
              <a:t>     Development Officer </a:t>
            </a:r>
          </a:p>
          <a:p>
            <a:pPr marL="0" marR="0" lvl="0" indent="178308" defTabSz="914400" eaLnBrk="1" fontAlgn="auto" latinLnBrk="0" hangingPunct="1">
              <a:lnSpc>
                <a:spcPts val="1400"/>
              </a:lnSpc>
              <a:spcBef>
                <a:spcPts val="0"/>
              </a:spcBef>
              <a:spcAft>
                <a:spcPts val="0"/>
              </a:spcAft>
              <a:buClrTx/>
              <a:buSzTx/>
              <a:buNone/>
              <a:tabLst>
                <a:tab pos="1498600" algn="l"/>
              </a:tabLst>
              <a:defRPr/>
            </a:pPr>
            <a:endParaRPr lang="en-US" sz="900" dirty="0">
              <a:solidFill>
                <a:srgbClr val="000000"/>
              </a:solidFill>
              <a:latin typeface="+mj-lt"/>
            </a:endParaRPr>
          </a:p>
        </p:txBody>
      </p:sp>
      <p:sp>
        <p:nvSpPr>
          <p:cNvPr id="46" name="TextBox 45">
            <a:extLst>
              <a:ext uri="{FF2B5EF4-FFF2-40B4-BE49-F238E27FC236}">
                <a16:creationId xmlns:a16="http://schemas.microsoft.com/office/drawing/2014/main" id="{1F751404-E4FB-5E44-CA5F-49F019942619}"/>
              </a:ext>
            </a:extLst>
          </p:cNvPr>
          <p:cNvSpPr txBox="1"/>
          <p:nvPr/>
        </p:nvSpPr>
        <p:spPr>
          <a:xfrm>
            <a:off x="8165919" y="1958006"/>
            <a:ext cx="535403" cy="138499"/>
          </a:xfrm>
          <a:prstGeom prst="rect">
            <a:avLst/>
          </a:prstGeom>
          <a:noFill/>
        </p:spPr>
        <p:txBody>
          <a:bodyPr vert="horz" wrap="none" lIns="0" tIns="0" rIns="0" bIns="0" rtlCol="0">
            <a:spAutoFit/>
          </a:bodyPr>
          <a:lstStyle/>
          <a:p>
            <a:r>
              <a:rPr lang="en-US" sz="900" b="1">
                <a:solidFill>
                  <a:srgbClr val="000000"/>
                </a:solidFill>
                <a:latin typeface="+mj-lt"/>
              </a:rPr>
              <a:t>Ashok Nair</a:t>
            </a:r>
          </a:p>
        </p:txBody>
      </p:sp>
      <p:sp>
        <p:nvSpPr>
          <p:cNvPr id="47" name="TextBox 46">
            <a:extLst>
              <a:ext uri="{FF2B5EF4-FFF2-40B4-BE49-F238E27FC236}">
                <a16:creationId xmlns:a16="http://schemas.microsoft.com/office/drawing/2014/main" id="{C6FA82B9-C730-F54E-9123-3047206216C8}"/>
              </a:ext>
            </a:extLst>
          </p:cNvPr>
          <p:cNvSpPr txBox="1"/>
          <p:nvPr/>
        </p:nvSpPr>
        <p:spPr>
          <a:xfrm>
            <a:off x="7946161" y="2135223"/>
            <a:ext cx="1065997" cy="138499"/>
          </a:xfrm>
          <a:prstGeom prst="rect">
            <a:avLst/>
          </a:prstGeom>
          <a:noFill/>
        </p:spPr>
        <p:txBody>
          <a:bodyPr vert="horz" wrap="none" lIns="0" tIns="0" rIns="0" bIns="0" rtlCol="0">
            <a:spAutoFit/>
          </a:bodyPr>
          <a:lstStyle/>
          <a:p>
            <a:r>
              <a:rPr lang="en-US" sz="900" dirty="0">
                <a:solidFill>
                  <a:srgbClr val="000000"/>
                </a:solidFill>
                <a:latin typeface="+mj-lt"/>
              </a:rPr>
              <a:t>Chief Operating Officer</a:t>
            </a:r>
          </a:p>
        </p:txBody>
      </p:sp>
      <p:sp>
        <p:nvSpPr>
          <p:cNvPr id="48" name="TextBox 47">
            <a:extLst>
              <a:ext uri="{FF2B5EF4-FFF2-40B4-BE49-F238E27FC236}">
                <a16:creationId xmlns:a16="http://schemas.microsoft.com/office/drawing/2014/main" id="{3A450AED-F89A-CEB9-1DD7-EA9EB0A87D3A}"/>
              </a:ext>
            </a:extLst>
          </p:cNvPr>
          <p:cNvSpPr txBox="1"/>
          <p:nvPr/>
        </p:nvSpPr>
        <p:spPr>
          <a:xfrm>
            <a:off x="9488134" y="1980420"/>
            <a:ext cx="673261" cy="138499"/>
          </a:xfrm>
          <a:prstGeom prst="rect">
            <a:avLst/>
          </a:prstGeom>
          <a:noFill/>
        </p:spPr>
        <p:txBody>
          <a:bodyPr vert="horz" wrap="none" lIns="0" tIns="0" rIns="0" bIns="0" rtlCol="0">
            <a:spAutoFit/>
          </a:bodyPr>
          <a:lstStyle/>
          <a:p>
            <a:r>
              <a:rPr lang="en-US" sz="900" b="1">
                <a:solidFill>
                  <a:srgbClr val="000000"/>
                </a:solidFill>
                <a:latin typeface="+mj-lt"/>
              </a:rPr>
              <a:t>Raja Udhwani</a:t>
            </a:r>
          </a:p>
        </p:txBody>
      </p:sp>
      <p:sp>
        <p:nvSpPr>
          <p:cNvPr id="49" name="TextBox 48">
            <a:extLst>
              <a:ext uri="{FF2B5EF4-FFF2-40B4-BE49-F238E27FC236}">
                <a16:creationId xmlns:a16="http://schemas.microsoft.com/office/drawing/2014/main" id="{12A6A13E-6173-F1DE-F3E2-FDF76AF42AF3}"/>
              </a:ext>
            </a:extLst>
          </p:cNvPr>
          <p:cNvSpPr txBox="1"/>
          <p:nvPr/>
        </p:nvSpPr>
        <p:spPr>
          <a:xfrm>
            <a:off x="9335089" y="2157219"/>
            <a:ext cx="1218282" cy="138499"/>
          </a:xfrm>
          <a:prstGeom prst="rect">
            <a:avLst/>
          </a:prstGeom>
          <a:noFill/>
        </p:spPr>
        <p:txBody>
          <a:bodyPr vert="horz" wrap="none" lIns="0" tIns="0" rIns="0" bIns="0" rtlCol="0">
            <a:spAutoFit/>
          </a:bodyPr>
          <a:lstStyle/>
          <a:p>
            <a:r>
              <a:rPr lang="en-US" sz="900" dirty="0">
                <a:solidFill>
                  <a:srgbClr val="000000"/>
                </a:solidFill>
                <a:latin typeface="+mj-lt"/>
              </a:rPr>
              <a:t>Chief Procurement Officer</a:t>
            </a:r>
          </a:p>
        </p:txBody>
      </p:sp>
    </p:spTree>
    <p:extLst>
      <p:ext uri="{BB962C8B-B14F-4D97-AF65-F5344CB8AC3E}">
        <p14:creationId xmlns:p14="http://schemas.microsoft.com/office/powerpoint/2010/main" val="1024202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r>
              <a:t>Looking Ahead</a:t>
            </a: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object 5"/>
          <p:cNvPicPr/>
          <p:nvPr/>
        </p:nvPicPr>
        <p:blipFill>
          <a:blip r:embed="rId2" cstate="print"/>
          <a:stretch>
            <a:fillRect/>
          </a:stretch>
        </p:blipFill>
        <p:spPr>
          <a:xfrm>
            <a:off x="703182" y="2328935"/>
            <a:ext cx="4777381" cy="203038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p:cNvSpPr>
            <a:spLocks noGrp="1"/>
          </p:cNvSpPr>
          <p:nvPr>
            <p:ph idx="1"/>
          </p:nvPr>
        </p:nvSpPr>
        <p:spPr>
          <a:xfrm>
            <a:off x="5894962" y="1984443"/>
            <a:ext cx="5458838" cy="4192520"/>
          </a:xfrm>
        </p:spPr>
        <p:txBody>
          <a:bodyPr>
            <a:normAutofit/>
          </a:bodyPr>
          <a:lstStyle/>
          <a:p>
            <a:r>
              <a:rPr lang="en-US" sz="2600" dirty="0"/>
              <a:t>Melcom aims to expand its </a:t>
            </a:r>
          </a:p>
          <a:p>
            <a:pPr>
              <a:buFont typeface="Arial" panose="020B0604020202020204" pitchFamily="34" charset="0"/>
              <a:buChar char="•"/>
            </a:pPr>
            <a:r>
              <a:rPr lang="en-US" sz="2600" dirty="0"/>
              <a:t>   Retail footprint</a:t>
            </a:r>
          </a:p>
          <a:p>
            <a:r>
              <a:rPr lang="en-US" sz="2600" dirty="0"/>
              <a:t>   Bring in more global brands, </a:t>
            </a:r>
          </a:p>
          <a:p>
            <a:r>
              <a:rPr lang="en-US" sz="2600" dirty="0"/>
              <a:t>   Invest in digital innovation and deepen its social impact  </a:t>
            </a:r>
          </a:p>
          <a:p>
            <a:pPr marL="0" indent="0">
              <a:buNone/>
            </a:pPr>
            <a:r>
              <a:rPr lang="en-US" sz="2600" b="1" dirty="0"/>
              <a:t> </a:t>
            </a:r>
          </a:p>
          <a:p>
            <a:pPr marL="0" indent="0">
              <a:buNone/>
            </a:pPr>
            <a:r>
              <a:rPr lang="en-US" sz="2600" b="1" dirty="0"/>
              <a:t>“All while remaining Ghana’s most trusted and beloved retail brand."</a:t>
            </a:r>
          </a:p>
        </p:txBody>
      </p:sp>
      <p:sp>
        <p:nvSpPr>
          <p:cNvPr id="6" name="Rectangle 5">
            <a:extLst>
              <a:ext uri="{FF2B5EF4-FFF2-40B4-BE49-F238E27FC236}">
                <a16:creationId xmlns:a16="http://schemas.microsoft.com/office/drawing/2014/main" id="{1B1BD8DE-50FE-0E9A-FE33-5DB3E75A127D}"/>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5" name="Picture 4" descr="Melcom Limited - Melcom">
            <a:extLst>
              <a:ext uri="{FF2B5EF4-FFF2-40B4-BE49-F238E27FC236}">
                <a16:creationId xmlns:a16="http://schemas.microsoft.com/office/drawing/2014/main" id="{5F8A4FF8-E77F-3C27-5420-24D36F7A0AE7}"/>
              </a:ext>
            </a:extLst>
          </p:cNvPr>
          <p:cNvPicPr>
            <a:picLocks noChangeAspect="1"/>
          </p:cNvPicPr>
          <p:nvPr/>
        </p:nvPicPr>
        <p:blipFill>
          <a:blip r:embed="rId3"/>
          <a:stretch>
            <a:fillRect/>
          </a:stretch>
        </p:blipFill>
        <p:spPr>
          <a:xfrm>
            <a:off x="10796677" y="113761"/>
            <a:ext cx="1295400" cy="3619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18B814-F600-2869-E93B-8F1E885FF069}"/>
            </a:ext>
          </a:extLst>
        </p:cNvPr>
        <p:cNvGrpSpPr/>
        <p:nvPr/>
      </p:nvGrpSpPr>
      <p:grpSpPr>
        <a:xfrm>
          <a:off x="0" y="0"/>
          <a:ext cx="0" cy="0"/>
          <a:chOff x="0" y="0"/>
          <a:chExt cx="0" cy="0"/>
        </a:xfrm>
      </p:grpSpPr>
      <p:sp useBgFill="1">
        <p:nvSpPr>
          <p:cNvPr id="94" name="Rectangle 93">
            <a:extLst>
              <a:ext uri="{FF2B5EF4-FFF2-40B4-BE49-F238E27FC236}">
                <a16:creationId xmlns:a16="http://schemas.microsoft.com/office/drawing/2014/main" id="{C497725C-6431-496A-B11C-691354780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16C505-6EC0-872F-135F-149F70405554}"/>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sz="5400" kern="1200">
                <a:solidFill>
                  <a:schemeClr val="tx1"/>
                </a:solidFill>
                <a:latin typeface="+mj-lt"/>
                <a:ea typeface="+mj-ea"/>
                <a:cs typeface="+mj-cs"/>
              </a:rPr>
              <a:t>Brands that we Collaborate with….</a:t>
            </a:r>
          </a:p>
        </p:txBody>
      </p:sp>
      <p:grpSp>
        <p:nvGrpSpPr>
          <p:cNvPr id="96" name="Group 95">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97" name="Rectangle 96">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1" name="Rectangle 100">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logos on a black background&#10;&#10;AI-generated content may be incorrect.">
            <a:extLst>
              <a:ext uri="{FF2B5EF4-FFF2-40B4-BE49-F238E27FC236}">
                <a16:creationId xmlns:a16="http://schemas.microsoft.com/office/drawing/2014/main" id="{F79A8124-1A5C-816D-D17F-52D8580C18FC}"/>
              </a:ext>
            </a:extLst>
          </p:cNvPr>
          <p:cNvPicPr>
            <a:picLocks noChangeAspect="1"/>
          </p:cNvPicPr>
          <p:nvPr/>
        </p:nvPicPr>
        <p:blipFill>
          <a:blip r:embed="rId2"/>
          <a:srcRect l="2971" r="7635" b="1"/>
          <a:stretch/>
        </p:blipFill>
        <p:spPr>
          <a:xfrm>
            <a:off x="7114162" y="471748"/>
            <a:ext cx="4324849" cy="2552007"/>
          </a:xfrm>
          <a:prstGeom prst="rect">
            <a:avLst/>
          </a:prstGeom>
        </p:spPr>
      </p:pic>
      <p:sp>
        <p:nvSpPr>
          <p:cNvPr id="105" name="Rectangle 10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group of logos on a black background&#10;&#10;AI-generated content may be incorrect.">
            <a:extLst>
              <a:ext uri="{FF2B5EF4-FFF2-40B4-BE49-F238E27FC236}">
                <a16:creationId xmlns:a16="http://schemas.microsoft.com/office/drawing/2014/main" id="{CD011C0A-7EAB-74C6-06A7-BCE8163E1A02}"/>
              </a:ext>
            </a:extLst>
          </p:cNvPr>
          <p:cNvPicPr>
            <a:picLocks noChangeAspect="1"/>
          </p:cNvPicPr>
          <p:nvPr/>
        </p:nvPicPr>
        <p:blipFill>
          <a:blip r:embed="rId3"/>
          <a:srcRect r="-1" b="6706"/>
          <a:stretch/>
        </p:blipFill>
        <p:spPr>
          <a:xfrm>
            <a:off x="7114162" y="3676230"/>
            <a:ext cx="4324849" cy="2552007"/>
          </a:xfrm>
          <a:prstGeom prst="rect">
            <a:avLst/>
          </a:prstGeom>
        </p:spPr>
      </p:pic>
      <p:sp>
        <p:nvSpPr>
          <p:cNvPr id="12" name="Rectangle 11">
            <a:extLst>
              <a:ext uri="{FF2B5EF4-FFF2-40B4-BE49-F238E27FC236}">
                <a16:creationId xmlns:a16="http://schemas.microsoft.com/office/drawing/2014/main" id="{9A97A9A1-751F-9A5D-DBF7-1CD3270E913D}"/>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4" name="Picture 3" descr="Melcom Limited - Melcom">
            <a:extLst>
              <a:ext uri="{FF2B5EF4-FFF2-40B4-BE49-F238E27FC236}">
                <a16:creationId xmlns:a16="http://schemas.microsoft.com/office/drawing/2014/main" id="{8F91A378-F9D4-FBC0-6D00-594630CB14F2}"/>
              </a:ext>
            </a:extLst>
          </p:cNvPr>
          <p:cNvPicPr>
            <a:picLocks noChangeAspect="1"/>
          </p:cNvPicPr>
          <p:nvPr/>
        </p:nvPicPr>
        <p:blipFill>
          <a:blip r:embed="rId4"/>
          <a:stretch>
            <a:fillRect/>
          </a:stretch>
        </p:blipFill>
        <p:spPr>
          <a:xfrm>
            <a:off x="10796411" y="-11642"/>
            <a:ext cx="1295400" cy="361950"/>
          </a:xfrm>
          <a:prstGeom prst="rect">
            <a:avLst/>
          </a:prstGeom>
        </p:spPr>
      </p:pic>
    </p:spTree>
    <p:extLst>
      <p:ext uri="{BB962C8B-B14F-4D97-AF65-F5344CB8AC3E}">
        <p14:creationId xmlns:p14="http://schemas.microsoft.com/office/powerpoint/2010/main" val="1326336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ject 5"/>
          <p:cNvPicPr/>
          <p:nvPr/>
        </p:nvPicPr>
        <p:blipFill>
          <a:blip r:embed="rId2" cstate="print"/>
          <a:stretch>
            <a:fillRect/>
          </a:stretch>
        </p:blipFill>
        <p:spPr>
          <a:xfrm>
            <a:off x="576244" y="2116611"/>
            <a:ext cx="5628018" cy="2391907"/>
          </a:xfrm>
          <a:prstGeom prst="rect">
            <a:avLst/>
          </a:prstGeom>
        </p:spPr>
      </p:pic>
      <p:sp>
        <p:nvSpPr>
          <p:cNvPr id="15" name="Rectangle 1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239012" y="2031101"/>
            <a:ext cx="4282984" cy="3511943"/>
          </a:xfrm>
        </p:spPr>
        <p:txBody>
          <a:bodyPr anchor="ctr">
            <a:normAutofit/>
          </a:bodyPr>
          <a:lstStyle/>
          <a:p>
            <a:pPr marL="0" indent="0">
              <a:buNone/>
            </a:pPr>
            <a:r>
              <a:rPr lang="en-US" sz="6000"/>
              <a:t>Thank You…</a:t>
            </a:r>
          </a:p>
        </p:txBody>
      </p:sp>
      <p:sp>
        <p:nvSpPr>
          <p:cNvPr id="17" name="Rectangle 1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B84E741-FC2D-CB32-DC69-DFE58B22423D}"/>
              </a:ext>
            </a:extLst>
          </p:cNvPr>
          <p:cNvSpPr/>
          <p:nvPr/>
        </p:nvSpPr>
        <p:spPr>
          <a:xfrm flipH="1">
            <a:off x="0" y="6696384"/>
            <a:ext cx="12192000" cy="19037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ptos Display"/>
            </a:endParaRPr>
          </a:p>
        </p:txBody>
      </p:sp>
      <p:pic>
        <p:nvPicPr>
          <p:cNvPr id="6" name="Picture 5" descr="Melcom Limited - Melcom">
            <a:extLst>
              <a:ext uri="{FF2B5EF4-FFF2-40B4-BE49-F238E27FC236}">
                <a16:creationId xmlns:a16="http://schemas.microsoft.com/office/drawing/2014/main" id="{FA197146-3163-6627-1340-1E0525C984F1}"/>
              </a:ext>
            </a:extLst>
          </p:cNvPr>
          <p:cNvPicPr>
            <a:picLocks noChangeAspect="1"/>
          </p:cNvPicPr>
          <p:nvPr/>
        </p:nvPicPr>
        <p:blipFill>
          <a:blip r:embed="rId3"/>
          <a:stretch>
            <a:fillRect/>
          </a:stretch>
        </p:blipFill>
        <p:spPr>
          <a:xfrm>
            <a:off x="10796411" y="-11642"/>
            <a:ext cx="1295400" cy="361950"/>
          </a:xfrm>
          <a:prstGeom prst="rect">
            <a:avLst/>
          </a:prstGeom>
        </p:spPr>
      </p:pic>
    </p:spTree>
    <p:extLst>
      <p:ext uri="{BB962C8B-B14F-4D97-AF65-F5344CB8AC3E}">
        <p14:creationId xmlns:p14="http://schemas.microsoft.com/office/powerpoint/2010/main" val="1223518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68</TotalTime>
  <Words>1412</Words>
  <Application>Microsoft Office PowerPoint</Application>
  <PresentationFormat>Widescreen</PresentationFormat>
  <Paragraphs>175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Tahoma</vt:lpstr>
      <vt:lpstr>office theme</vt:lpstr>
      <vt:lpstr>The Melcom Way</vt:lpstr>
      <vt:lpstr>PowerPoint Presentation</vt:lpstr>
      <vt:lpstr>Who We 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Our Journey…2022</vt:lpstr>
      <vt:lpstr>Our Journey …..</vt:lpstr>
      <vt:lpstr>Corporate Social Responsibility</vt:lpstr>
      <vt:lpstr>Giving back to Society… </vt:lpstr>
      <vt:lpstr>Sustainability Initiatives</vt:lpstr>
      <vt:lpstr>Our Leadership Team </vt:lpstr>
      <vt:lpstr>Our Leadership Team </vt:lpstr>
      <vt:lpstr>Looking Ahead</vt:lpstr>
      <vt:lpstr>Brands that we Collaborate with….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Ajay Singh</dc:creator>
  <cp:lastModifiedBy>Ajay Singh</cp:lastModifiedBy>
  <cp:revision>209</cp:revision>
  <dcterms:created xsi:type="dcterms:W3CDTF">2025-04-19T17:16:14Z</dcterms:created>
  <dcterms:modified xsi:type="dcterms:W3CDTF">2025-05-13T10:16:39Z</dcterms:modified>
</cp:coreProperties>
</file>